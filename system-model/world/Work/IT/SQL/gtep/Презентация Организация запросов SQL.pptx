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  <p:sldMasterId id="2147483822" r:id="rId2"/>
    <p:sldMasterId id="2147483866" r:id="rId3"/>
  </p:sldMasterIdLst>
  <p:notesMasterIdLst>
    <p:notesMasterId r:id="rId56"/>
  </p:notesMasterIdLst>
  <p:sldIdLst>
    <p:sldId id="297" r:id="rId4"/>
    <p:sldId id="304" r:id="rId5"/>
    <p:sldId id="301" r:id="rId6"/>
    <p:sldId id="276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280" r:id="rId33"/>
    <p:sldId id="277" r:id="rId34"/>
    <p:sldId id="279" r:id="rId35"/>
    <p:sldId id="275" r:id="rId36"/>
    <p:sldId id="278" r:id="rId37"/>
    <p:sldId id="292" r:id="rId38"/>
    <p:sldId id="293" r:id="rId39"/>
    <p:sldId id="294" r:id="rId40"/>
    <p:sldId id="295" r:id="rId41"/>
    <p:sldId id="296" r:id="rId42"/>
    <p:sldId id="281" r:id="rId43"/>
    <p:sldId id="290" r:id="rId44"/>
    <p:sldId id="29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9" r:id="rId54"/>
    <p:sldId id="298" r:id="rId55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6" autoAdjust="0"/>
    <p:restoredTop sz="94711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61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6.xml"/><Relationship Id="rId13" Type="http://schemas.openxmlformats.org/officeDocument/2006/relationships/slide" Target="slides/slide46.xml"/><Relationship Id="rId18" Type="http://schemas.openxmlformats.org/officeDocument/2006/relationships/slide" Target="slides/slide51.xml"/><Relationship Id="rId3" Type="http://schemas.openxmlformats.org/officeDocument/2006/relationships/slide" Target="slides/slide31.xml"/><Relationship Id="rId7" Type="http://schemas.openxmlformats.org/officeDocument/2006/relationships/slide" Target="slides/slide35.xml"/><Relationship Id="rId12" Type="http://schemas.openxmlformats.org/officeDocument/2006/relationships/slide" Target="slides/slide45.xml"/><Relationship Id="rId17" Type="http://schemas.openxmlformats.org/officeDocument/2006/relationships/slide" Target="slides/slide50.xml"/><Relationship Id="rId2" Type="http://schemas.openxmlformats.org/officeDocument/2006/relationships/slide" Target="slides/slide30.xml"/><Relationship Id="rId16" Type="http://schemas.openxmlformats.org/officeDocument/2006/relationships/slide" Target="slides/slide49.xml"/><Relationship Id="rId1" Type="http://schemas.openxmlformats.org/officeDocument/2006/relationships/slide" Target="slides/slide4.xml"/><Relationship Id="rId6" Type="http://schemas.openxmlformats.org/officeDocument/2006/relationships/slide" Target="slides/slide34.xml"/><Relationship Id="rId11" Type="http://schemas.openxmlformats.org/officeDocument/2006/relationships/slide" Target="slides/slide39.xml"/><Relationship Id="rId5" Type="http://schemas.openxmlformats.org/officeDocument/2006/relationships/slide" Target="slides/slide33.xml"/><Relationship Id="rId15" Type="http://schemas.openxmlformats.org/officeDocument/2006/relationships/slide" Target="slides/slide48.xml"/><Relationship Id="rId10" Type="http://schemas.openxmlformats.org/officeDocument/2006/relationships/slide" Target="slides/slide38.xml"/><Relationship Id="rId4" Type="http://schemas.openxmlformats.org/officeDocument/2006/relationships/slide" Target="slides/slide32.xml"/><Relationship Id="rId9" Type="http://schemas.openxmlformats.org/officeDocument/2006/relationships/slide" Target="slides/slide37.xml"/><Relationship Id="rId14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C5D115-F0BF-4FC2-8604-A3FD5B2F862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</dgm:pt>
    <dgm:pt modelId="{04620F64-3BDA-4C3E-85D7-49C7D9543510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SQL</a:t>
          </a:r>
          <a:endParaRPr kumimoji="0" lang="ru-RU" altLang="ru-RU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endParaRPr>
        </a:p>
      </dgm:t>
    </dgm:pt>
    <dgm:pt modelId="{2D578C78-9558-4575-85C4-43074ACBD4FA}" type="parTrans" cxnId="{08C26A37-D8F4-4C98-82AF-E7FE8F4A371D}">
      <dgm:prSet/>
      <dgm:spPr/>
      <dgm:t>
        <a:bodyPr/>
        <a:lstStyle/>
        <a:p>
          <a:endParaRPr lang="ru-RU"/>
        </a:p>
      </dgm:t>
    </dgm:pt>
    <dgm:pt modelId="{1FADC108-F262-4D5B-993F-DE8B4989F91B}" type="sibTrans" cxnId="{08C26A37-D8F4-4C98-82AF-E7FE8F4A371D}">
      <dgm:prSet/>
      <dgm:spPr/>
      <dgm:t>
        <a:bodyPr/>
        <a:lstStyle/>
        <a:p>
          <a:endParaRPr lang="ru-RU"/>
        </a:p>
      </dgm:t>
    </dgm:pt>
    <dgm:pt modelId="{8B3204B4-7A58-4FEC-A93F-2F53DDEDE547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язык определения</a:t>
          </a:r>
          <a:endParaRPr kumimoji="0" lang="en-US" altLang="ru-RU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 схемы</a:t>
          </a: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 (SQL-DDL) </a:t>
          </a:r>
        </a:p>
      </dgm:t>
    </dgm:pt>
    <dgm:pt modelId="{C8CB15DE-E338-445B-BBA2-F893E5CBE7A2}" type="parTrans" cxnId="{BB576507-553B-49D8-B8BD-DD3B712AD81E}">
      <dgm:prSet/>
      <dgm:spPr/>
      <dgm:t>
        <a:bodyPr/>
        <a:lstStyle/>
        <a:p>
          <a:endParaRPr lang="ru-RU"/>
        </a:p>
      </dgm:t>
    </dgm:pt>
    <dgm:pt modelId="{4373771E-A970-4B2F-A67E-3B3E46AE4901}" type="sibTrans" cxnId="{BB576507-553B-49D8-B8BD-DD3B712AD81E}">
      <dgm:prSet/>
      <dgm:spPr/>
      <dgm:t>
        <a:bodyPr/>
        <a:lstStyle/>
        <a:p>
          <a:endParaRPr lang="ru-RU"/>
        </a:p>
      </dgm:t>
    </dgm:pt>
    <dgm:pt modelId="{D7C300F0-CFF1-4ADC-B272-BD2CDB5FFFAB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язык манипулирования </a:t>
          </a:r>
          <a:endParaRPr kumimoji="0" lang="en-US" altLang="ru-RU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данных </a:t>
          </a: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(SQL-DML) </a:t>
          </a:r>
        </a:p>
      </dgm:t>
    </dgm:pt>
    <dgm:pt modelId="{D2EC4CFF-EA6C-4679-BBF4-7F919AD47FCA}" type="parTrans" cxnId="{D9ABA7C8-9A0E-400A-8682-84EE8476148D}">
      <dgm:prSet/>
      <dgm:spPr/>
      <dgm:t>
        <a:bodyPr/>
        <a:lstStyle/>
        <a:p>
          <a:endParaRPr lang="ru-RU"/>
        </a:p>
      </dgm:t>
    </dgm:pt>
    <dgm:pt modelId="{EC5D3F69-7713-403A-94A1-AA86999F713B}" type="sibTrans" cxnId="{D9ABA7C8-9A0E-400A-8682-84EE8476148D}">
      <dgm:prSet/>
      <dgm:spPr/>
      <dgm:t>
        <a:bodyPr/>
        <a:lstStyle/>
        <a:p>
          <a:endParaRPr lang="ru-RU"/>
        </a:p>
      </dgm:t>
    </dgm:pt>
    <dgm:pt modelId="{43BB4A14-0320-4CE5-B041-1C3B352FD6BB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язык управления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данными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(DCL ‑ </a:t>
          </a:r>
          <a:r>
            <a: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Data Control</a:t>
          </a:r>
          <a:endParaRPr kumimoji="0" lang="ru-RU" altLang="ru-RU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 Language</a:t>
          </a: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) </a:t>
          </a:r>
        </a:p>
      </dgm:t>
    </dgm:pt>
    <dgm:pt modelId="{79821AAF-4EFE-4A9B-875A-C2F24023DD21}" type="parTrans" cxnId="{135F5B5B-E79C-4F33-93B4-89D49721A158}">
      <dgm:prSet/>
      <dgm:spPr/>
      <dgm:t>
        <a:bodyPr/>
        <a:lstStyle/>
        <a:p>
          <a:endParaRPr lang="ru-RU"/>
        </a:p>
      </dgm:t>
    </dgm:pt>
    <dgm:pt modelId="{12F66FBA-1375-4AFD-B440-FFDC37EEDBA1}" type="sibTrans" cxnId="{135F5B5B-E79C-4F33-93B4-89D49721A158}">
      <dgm:prSet/>
      <dgm:spPr/>
      <dgm:t>
        <a:bodyPr/>
        <a:lstStyle/>
        <a:p>
          <a:endParaRPr lang="ru-RU"/>
        </a:p>
      </dgm:t>
    </dgm:pt>
    <dgm:pt modelId="{581D6297-F395-4DAD-82EC-A1545E75692C}" type="pres">
      <dgm:prSet presAssocID="{4FC5D115-F0BF-4FC2-8604-A3FD5B2F862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9083094-57A5-42D4-A220-83D5CF9FFC26}" type="pres">
      <dgm:prSet presAssocID="{04620F64-3BDA-4C3E-85D7-49C7D9543510}" presName="hierRoot1" presStyleCnt="0">
        <dgm:presLayoutVars>
          <dgm:hierBranch/>
        </dgm:presLayoutVars>
      </dgm:prSet>
      <dgm:spPr/>
    </dgm:pt>
    <dgm:pt modelId="{34C7136F-4462-4157-A3BF-CBC62F5F1F31}" type="pres">
      <dgm:prSet presAssocID="{04620F64-3BDA-4C3E-85D7-49C7D9543510}" presName="rootComposite1" presStyleCnt="0"/>
      <dgm:spPr/>
    </dgm:pt>
    <dgm:pt modelId="{490C9B28-9BC2-42D1-8534-5CA20ABCEDB5}" type="pres">
      <dgm:prSet presAssocID="{04620F64-3BDA-4C3E-85D7-49C7D954351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961BA67-8B3A-4ADC-AE15-0402CD501F54}" type="pres">
      <dgm:prSet presAssocID="{04620F64-3BDA-4C3E-85D7-49C7D9543510}" presName="rootConnector1" presStyleLbl="node1" presStyleIdx="0" presStyleCnt="0"/>
      <dgm:spPr/>
      <dgm:t>
        <a:bodyPr/>
        <a:lstStyle/>
        <a:p>
          <a:endParaRPr lang="ru-RU"/>
        </a:p>
      </dgm:t>
    </dgm:pt>
    <dgm:pt modelId="{C522B2D0-33D3-4046-AAFC-E7C36D256769}" type="pres">
      <dgm:prSet presAssocID="{04620F64-3BDA-4C3E-85D7-49C7D9543510}" presName="hierChild2" presStyleCnt="0"/>
      <dgm:spPr/>
    </dgm:pt>
    <dgm:pt modelId="{578DB31C-FD35-4287-BB2E-57F18D4F79B5}" type="pres">
      <dgm:prSet presAssocID="{C8CB15DE-E338-445B-BBA2-F893E5CBE7A2}" presName="Name35" presStyleLbl="parChTrans1D2" presStyleIdx="0" presStyleCnt="3"/>
      <dgm:spPr/>
      <dgm:t>
        <a:bodyPr/>
        <a:lstStyle/>
        <a:p>
          <a:endParaRPr lang="ru-RU"/>
        </a:p>
      </dgm:t>
    </dgm:pt>
    <dgm:pt modelId="{E50357CC-145A-405A-A540-5A2A4A728C9F}" type="pres">
      <dgm:prSet presAssocID="{8B3204B4-7A58-4FEC-A93F-2F53DDEDE547}" presName="hierRoot2" presStyleCnt="0">
        <dgm:presLayoutVars>
          <dgm:hierBranch/>
        </dgm:presLayoutVars>
      </dgm:prSet>
      <dgm:spPr/>
    </dgm:pt>
    <dgm:pt modelId="{E98A2A31-CB32-4F97-933E-A8FF723C7006}" type="pres">
      <dgm:prSet presAssocID="{8B3204B4-7A58-4FEC-A93F-2F53DDEDE547}" presName="rootComposite" presStyleCnt="0"/>
      <dgm:spPr/>
    </dgm:pt>
    <dgm:pt modelId="{040FD5EE-C5F9-48F1-AC98-AD785A1BE2E0}" type="pres">
      <dgm:prSet presAssocID="{8B3204B4-7A58-4FEC-A93F-2F53DDEDE547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71515AD-40F4-4FDB-995E-D952B68A8B03}" type="pres">
      <dgm:prSet presAssocID="{8B3204B4-7A58-4FEC-A93F-2F53DDEDE547}" presName="rootConnector" presStyleLbl="node2" presStyleIdx="0" presStyleCnt="3"/>
      <dgm:spPr/>
      <dgm:t>
        <a:bodyPr/>
        <a:lstStyle/>
        <a:p>
          <a:endParaRPr lang="ru-RU"/>
        </a:p>
      </dgm:t>
    </dgm:pt>
    <dgm:pt modelId="{A1D59D9D-86BF-4387-989F-5C86BB9B69AF}" type="pres">
      <dgm:prSet presAssocID="{8B3204B4-7A58-4FEC-A93F-2F53DDEDE547}" presName="hierChild4" presStyleCnt="0"/>
      <dgm:spPr/>
    </dgm:pt>
    <dgm:pt modelId="{B3A88338-160B-4B87-8D81-CBC0F9DAC3B0}" type="pres">
      <dgm:prSet presAssocID="{8B3204B4-7A58-4FEC-A93F-2F53DDEDE547}" presName="hierChild5" presStyleCnt="0"/>
      <dgm:spPr/>
    </dgm:pt>
    <dgm:pt modelId="{0D4AF6C9-3BA8-4328-B7A3-FFCDB27DAB96}" type="pres">
      <dgm:prSet presAssocID="{D2EC4CFF-EA6C-4679-BBF4-7F919AD47FCA}" presName="Name35" presStyleLbl="parChTrans1D2" presStyleIdx="1" presStyleCnt="3"/>
      <dgm:spPr/>
      <dgm:t>
        <a:bodyPr/>
        <a:lstStyle/>
        <a:p>
          <a:endParaRPr lang="ru-RU"/>
        </a:p>
      </dgm:t>
    </dgm:pt>
    <dgm:pt modelId="{DE497F00-1FAE-4DD2-A953-637F15724EDB}" type="pres">
      <dgm:prSet presAssocID="{D7C300F0-CFF1-4ADC-B272-BD2CDB5FFFAB}" presName="hierRoot2" presStyleCnt="0">
        <dgm:presLayoutVars>
          <dgm:hierBranch/>
        </dgm:presLayoutVars>
      </dgm:prSet>
      <dgm:spPr/>
    </dgm:pt>
    <dgm:pt modelId="{BDCE558A-0536-4CBA-B12E-2D4FB360485D}" type="pres">
      <dgm:prSet presAssocID="{D7C300F0-CFF1-4ADC-B272-BD2CDB5FFFAB}" presName="rootComposite" presStyleCnt="0"/>
      <dgm:spPr/>
    </dgm:pt>
    <dgm:pt modelId="{AEF0840B-E3A8-4428-B018-FB5D4F113801}" type="pres">
      <dgm:prSet presAssocID="{D7C300F0-CFF1-4ADC-B272-BD2CDB5FFFAB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A67186D-3D92-4771-9624-94133012421E}" type="pres">
      <dgm:prSet presAssocID="{D7C300F0-CFF1-4ADC-B272-BD2CDB5FFFAB}" presName="rootConnector" presStyleLbl="node2" presStyleIdx="1" presStyleCnt="3"/>
      <dgm:spPr/>
      <dgm:t>
        <a:bodyPr/>
        <a:lstStyle/>
        <a:p>
          <a:endParaRPr lang="ru-RU"/>
        </a:p>
      </dgm:t>
    </dgm:pt>
    <dgm:pt modelId="{2C56ED51-E9E6-4EDE-8B47-C214BF80796C}" type="pres">
      <dgm:prSet presAssocID="{D7C300F0-CFF1-4ADC-B272-BD2CDB5FFFAB}" presName="hierChild4" presStyleCnt="0"/>
      <dgm:spPr/>
    </dgm:pt>
    <dgm:pt modelId="{181586F3-8382-4C22-87F2-396D2323B76E}" type="pres">
      <dgm:prSet presAssocID="{D7C300F0-CFF1-4ADC-B272-BD2CDB5FFFAB}" presName="hierChild5" presStyleCnt="0"/>
      <dgm:spPr/>
    </dgm:pt>
    <dgm:pt modelId="{FE415B42-AB62-417B-BA6B-521EFCFD674B}" type="pres">
      <dgm:prSet presAssocID="{79821AAF-4EFE-4A9B-875A-C2F24023DD21}" presName="Name35" presStyleLbl="parChTrans1D2" presStyleIdx="2" presStyleCnt="3"/>
      <dgm:spPr/>
      <dgm:t>
        <a:bodyPr/>
        <a:lstStyle/>
        <a:p>
          <a:endParaRPr lang="ru-RU"/>
        </a:p>
      </dgm:t>
    </dgm:pt>
    <dgm:pt modelId="{97F18F56-35FB-4FF5-9128-4ED742C72259}" type="pres">
      <dgm:prSet presAssocID="{43BB4A14-0320-4CE5-B041-1C3B352FD6BB}" presName="hierRoot2" presStyleCnt="0">
        <dgm:presLayoutVars>
          <dgm:hierBranch/>
        </dgm:presLayoutVars>
      </dgm:prSet>
      <dgm:spPr/>
    </dgm:pt>
    <dgm:pt modelId="{13BA039D-3342-42FD-885E-487D0FD29C37}" type="pres">
      <dgm:prSet presAssocID="{43BB4A14-0320-4CE5-B041-1C3B352FD6BB}" presName="rootComposite" presStyleCnt="0"/>
      <dgm:spPr/>
    </dgm:pt>
    <dgm:pt modelId="{30AEF949-ADBD-4253-82F3-467A338D947D}" type="pres">
      <dgm:prSet presAssocID="{43BB4A14-0320-4CE5-B041-1C3B352FD6BB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9812BF2-D707-4095-B7BB-C0C26F147E1D}" type="pres">
      <dgm:prSet presAssocID="{43BB4A14-0320-4CE5-B041-1C3B352FD6BB}" presName="rootConnector" presStyleLbl="node2" presStyleIdx="2" presStyleCnt="3"/>
      <dgm:spPr/>
      <dgm:t>
        <a:bodyPr/>
        <a:lstStyle/>
        <a:p>
          <a:endParaRPr lang="ru-RU"/>
        </a:p>
      </dgm:t>
    </dgm:pt>
    <dgm:pt modelId="{8711D90F-6735-4CB7-BC02-6053A172CF05}" type="pres">
      <dgm:prSet presAssocID="{43BB4A14-0320-4CE5-B041-1C3B352FD6BB}" presName="hierChild4" presStyleCnt="0"/>
      <dgm:spPr/>
    </dgm:pt>
    <dgm:pt modelId="{D147A57D-D81D-423A-AFA7-AD5EEBE1F05D}" type="pres">
      <dgm:prSet presAssocID="{43BB4A14-0320-4CE5-B041-1C3B352FD6BB}" presName="hierChild5" presStyleCnt="0"/>
      <dgm:spPr/>
    </dgm:pt>
    <dgm:pt modelId="{EF504867-0E8B-4744-A90A-574CB7CA5DE7}" type="pres">
      <dgm:prSet presAssocID="{04620F64-3BDA-4C3E-85D7-49C7D9543510}" presName="hierChild3" presStyleCnt="0"/>
      <dgm:spPr/>
    </dgm:pt>
  </dgm:ptLst>
  <dgm:cxnLst>
    <dgm:cxn modelId="{08C26A37-D8F4-4C98-82AF-E7FE8F4A371D}" srcId="{4FC5D115-F0BF-4FC2-8604-A3FD5B2F8628}" destId="{04620F64-3BDA-4C3E-85D7-49C7D9543510}" srcOrd="0" destOrd="0" parTransId="{2D578C78-9558-4575-85C4-43074ACBD4FA}" sibTransId="{1FADC108-F262-4D5B-993F-DE8B4989F91B}"/>
    <dgm:cxn modelId="{93C3F433-CDEF-4EA0-86C5-C1F0B4951015}" type="presOf" srcId="{4FC5D115-F0BF-4FC2-8604-A3FD5B2F8628}" destId="{581D6297-F395-4DAD-82EC-A1545E75692C}" srcOrd="0" destOrd="0" presId="urn:microsoft.com/office/officeart/2005/8/layout/orgChart1"/>
    <dgm:cxn modelId="{8480B8CE-F816-4E69-BF15-1C901D438F1F}" type="presOf" srcId="{D7C300F0-CFF1-4ADC-B272-BD2CDB5FFFAB}" destId="{AEF0840B-E3A8-4428-B018-FB5D4F113801}" srcOrd="0" destOrd="0" presId="urn:microsoft.com/office/officeart/2005/8/layout/orgChart1"/>
    <dgm:cxn modelId="{E0B7337D-BD56-4451-9DB6-34D3516CC643}" type="presOf" srcId="{D2EC4CFF-EA6C-4679-BBF4-7F919AD47FCA}" destId="{0D4AF6C9-3BA8-4328-B7A3-FFCDB27DAB96}" srcOrd="0" destOrd="0" presId="urn:microsoft.com/office/officeart/2005/8/layout/orgChart1"/>
    <dgm:cxn modelId="{DF0D2B13-3CA5-4A56-BF97-5C08924B5F32}" type="presOf" srcId="{04620F64-3BDA-4C3E-85D7-49C7D9543510}" destId="{0961BA67-8B3A-4ADC-AE15-0402CD501F54}" srcOrd="1" destOrd="0" presId="urn:microsoft.com/office/officeart/2005/8/layout/orgChart1"/>
    <dgm:cxn modelId="{99F22ED4-4BA6-4161-8370-A1CD6DACFFF5}" type="presOf" srcId="{8B3204B4-7A58-4FEC-A93F-2F53DDEDE547}" destId="{A71515AD-40F4-4FDB-995E-D952B68A8B03}" srcOrd="1" destOrd="0" presId="urn:microsoft.com/office/officeart/2005/8/layout/orgChart1"/>
    <dgm:cxn modelId="{9A19B23C-24A9-4F28-A323-32D241E1752B}" type="presOf" srcId="{79821AAF-4EFE-4A9B-875A-C2F24023DD21}" destId="{FE415B42-AB62-417B-BA6B-521EFCFD674B}" srcOrd="0" destOrd="0" presId="urn:microsoft.com/office/officeart/2005/8/layout/orgChart1"/>
    <dgm:cxn modelId="{EB8D54D8-F4EC-42A5-8CE9-77ED2B587274}" type="presOf" srcId="{43BB4A14-0320-4CE5-B041-1C3B352FD6BB}" destId="{30AEF949-ADBD-4253-82F3-467A338D947D}" srcOrd="0" destOrd="0" presId="urn:microsoft.com/office/officeart/2005/8/layout/orgChart1"/>
    <dgm:cxn modelId="{D9ABA7C8-9A0E-400A-8682-84EE8476148D}" srcId="{04620F64-3BDA-4C3E-85D7-49C7D9543510}" destId="{D7C300F0-CFF1-4ADC-B272-BD2CDB5FFFAB}" srcOrd="1" destOrd="0" parTransId="{D2EC4CFF-EA6C-4679-BBF4-7F919AD47FCA}" sibTransId="{EC5D3F69-7713-403A-94A1-AA86999F713B}"/>
    <dgm:cxn modelId="{F2C4FB7F-57C7-4389-920B-BD9B66846141}" type="presOf" srcId="{43BB4A14-0320-4CE5-B041-1C3B352FD6BB}" destId="{09812BF2-D707-4095-B7BB-C0C26F147E1D}" srcOrd="1" destOrd="0" presId="urn:microsoft.com/office/officeart/2005/8/layout/orgChart1"/>
    <dgm:cxn modelId="{D0422292-9244-4B5B-82F5-C84B30537862}" type="presOf" srcId="{8B3204B4-7A58-4FEC-A93F-2F53DDEDE547}" destId="{040FD5EE-C5F9-48F1-AC98-AD785A1BE2E0}" srcOrd="0" destOrd="0" presId="urn:microsoft.com/office/officeart/2005/8/layout/orgChart1"/>
    <dgm:cxn modelId="{ABC892F0-6134-4843-A5F0-149D7E4F768A}" type="presOf" srcId="{04620F64-3BDA-4C3E-85D7-49C7D9543510}" destId="{490C9B28-9BC2-42D1-8534-5CA20ABCEDB5}" srcOrd="0" destOrd="0" presId="urn:microsoft.com/office/officeart/2005/8/layout/orgChart1"/>
    <dgm:cxn modelId="{135F5B5B-E79C-4F33-93B4-89D49721A158}" srcId="{04620F64-3BDA-4C3E-85D7-49C7D9543510}" destId="{43BB4A14-0320-4CE5-B041-1C3B352FD6BB}" srcOrd="2" destOrd="0" parTransId="{79821AAF-4EFE-4A9B-875A-C2F24023DD21}" sibTransId="{12F66FBA-1375-4AFD-B440-FFDC37EEDBA1}"/>
    <dgm:cxn modelId="{68DCAB3E-E102-40C3-AC4C-700A5ECA78EC}" type="presOf" srcId="{D7C300F0-CFF1-4ADC-B272-BD2CDB5FFFAB}" destId="{3A67186D-3D92-4771-9624-94133012421E}" srcOrd="1" destOrd="0" presId="urn:microsoft.com/office/officeart/2005/8/layout/orgChart1"/>
    <dgm:cxn modelId="{BB576507-553B-49D8-B8BD-DD3B712AD81E}" srcId="{04620F64-3BDA-4C3E-85D7-49C7D9543510}" destId="{8B3204B4-7A58-4FEC-A93F-2F53DDEDE547}" srcOrd="0" destOrd="0" parTransId="{C8CB15DE-E338-445B-BBA2-F893E5CBE7A2}" sibTransId="{4373771E-A970-4B2F-A67E-3B3E46AE4901}"/>
    <dgm:cxn modelId="{D151D43F-2803-4E06-94C2-9796FCEA26C3}" type="presOf" srcId="{C8CB15DE-E338-445B-BBA2-F893E5CBE7A2}" destId="{578DB31C-FD35-4287-BB2E-57F18D4F79B5}" srcOrd="0" destOrd="0" presId="urn:microsoft.com/office/officeart/2005/8/layout/orgChart1"/>
    <dgm:cxn modelId="{4DF38701-0951-4B50-B62F-87E7065054D1}" type="presParOf" srcId="{581D6297-F395-4DAD-82EC-A1545E75692C}" destId="{59083094-57A5-42D4-A220-83D5CF9FFC26}" srcOrd="0" destOrd="0" presId="urn:microsoft.com/office/officeart/2005/8/layout/orgChart1"/>
    <dgm:cxn modelId="{EEAEE912-E298-475F-A5F0-37646B79E70C}" type="presParOf" srcId="{59083094-57A5-42D4-A220-83D5CF9FFC26}" destId="{34C7136F-4462-4157-A3BF-CBC62F5F1F31}" srcOrd="0" destOrd="0" presId="urn:microsoft.com/office/officeart/2005/8/layout/orgChart1"/>
    <dgm:cxn modelId="{5CB9D45A-C693-4007-BF45-85A0E680DC10}" type="presParOf" srcId="{34C7136F-4462-4157-A3BF-CBC62F5F1F31}" destId="{490C9B28-9BC2-42D1-8534-5CA20ABCEDB5}" srcOrd="0" destOrd="0" presId="urn:microsoft.com/office/officeart/2005/8/layout/orgChart1"/>
    <dgm:cxn modelId="{A910DB8F-ACC8-4895-B5C4-09BB51743D9C}" type="presParOf" srcId="{34C7136F-4462-4157-A3BF-CBC62F5F1F31}" destId="{0961BA67-8B3A-4ADC-AE15-0402CD501F54}" srcOrd="1" destOrd="0" presId="urn:microsoft.com/office/officeart/2005/8/layout/orgChart1"/>
    <dgm:cxn modelId="{8BAC3D9B-7E49-4292-8C69-2456BE35FAF1}" type="presParOf" srcId="{59083094-57A5-42D4-A220-83D5CF9FFC26}" destId="{C522B2D0-33D3-4046-AAFC-E7C36D256769}" srcOrd="1" destOrd="0" presId="urn:microsoft.com/office/officeart/2005/8/layout/orgChart1"/>
    <dgm:cxn modelId="{74A2C64C-FDC9-41E5-95CC-3241FA30DC3E}" type="presParOf" srcId="{C522B2D0-33D3-4046-AAFC-E7C36D256769}" destId="{578DB31C-FD35-4287-BB2E-57F18D4F79B5}" srcOrd="0" destOrd="0" presId="urn:microsoft.com/office/officeart/2005/8/layout/orgChart1"/>
    <dgm:cxn modelId="{AAA66E97-B23A-4337-AE7E-4A77175965F5}" type="presParOf" srcId="{C522B2D0-33D3-4046-AAFC-E7C36D256769}" destId="{E50357CC-145A-405A-A540-5A2A4A728C9F}" srcOrd="1" destOrd="0" presId="urn:microsoft.com/office/officeart/2005/8/layout/orgChart1"/>
    <dgm:cxn modelId="{CF447241-B12D-4CF0-B940-FBBC44673CAA}" type="presParOf" srcId="{E50357CC-145A-405A-A540-5A2A4A728C9F}" destId="{E98A2A31-CB32-4F97-933E-A8FF723C7006}" srcOrd="0" destOrd="0" presId="urn:microsoft.com/office/officeart/2005/8/layout/orgChart1"/>
    <dgm:cxn modelId="{610A8195-535E-4933-82B2-16D1327803F0}" type="presParOf" srcId="{E98A2A31-CB32-4F97-933E-A8FF723C7006}" destId="{040FD5EE-C5F9-48F1-AC98-AD785A1BE2E0}" srcOrd="0" destOrd="0" presId="urn:microsoft.com/office/officeart/2005/8/layout/orgChart1"/>
    <dgm:cxn modelId="{C68FB98C-5797-41F4-92DE-2C9F69A9BF64}" type="presParOf" srcId="{E98A2A31-CB32-4F97-933E-A8FF723C7006}" destId="{A71515AD-40F4-4FDB-995E-D952B68A8B03}" srcOrd="1" destOrd="0" presId="urn:microsoft.com/office/officeart/2005/8/layout/orgChart1"/>
    <dgm:cxn modelId="{60E5A65C-328F-4493-BB9B-3636BB845E16}" type="presParOf" srcId="{E50357CC-145A-405A-A540-5A2A4A728C9F}" destId="{A1D59D9D-86BF-4387-989F-5C86BB9B69AF}" srcOrd="1" destOrd="0" presId="urn:microsoft.com/office/officeart/2005/8/layout/orgChart1"/>
    <dgm:cxn modelId="{173C5995-5046-4AE2-82B6-FD2BD4F2E09C}" type="presParOf" srcId="{E50357CC-145A-405A-A540-5A2A4A728C9F}" destId="{B3A88338-160B-4B87-8D81-CBC0F9DAC3B0}" srcOrd="2" destOrd="0" presId="urn:microsoft.com/office/officeart/2005/8/layout/orgChart1"/>
    <dgm:cxn modelId="{8017D5F9-3A0B-4627-81EB-D1EAC8FC70FB}" type="presParOf" srcId="{C522B2D0-33D3-4046-AAFC-E7C36D256769}" destId="{0D4AF6C9-3BA8-4328-B7A3-FFCDB27DAB96}" srcOrd="2" destOrd="0" presId="urn:microsoft.com/office/officeart/2005/8/layout/orgChart1"/>
    <dgm:cxn modelId="{AA8AD6E8-E3AC-4376-8C3E-D76E36D3DE88}" type="presParOf" srcId="{C522B2D0-33D3-4046-AAFC-E7C36D256769}" destId="{DE497F00-1FAE-4DD2-A953-637F15724EDB}" srcOrd="3" destOrd="0" presId="urn:microsoft.com/office/officeart/2005/8/layout/orgChart1"/>
    <dgm:cxn modelId="{0EA97B0C-F7F0-4A48-A84D-026A2742ABF7}" type="presParOf" srcId="{DE497F00-1FAE-4DD2-A953-637F15724EDB}" destId="{BDCE558A-0536-4CBA-B12E-2D4FB360485D}" srcOrd="0" destOrd="0" presId="urn:microsoft.com/office/officeart/2005/8/layout/orgChart1"/>
    <dgm:cxn modelId="{51E66EC5-7876-4A3D-9571-D245C8E5898A}" type="presParOf" srcId="{BDCE558A-0536-4CBA-B12E-2D4FB360485D}" destId="{AEF0840B-E3A8-4428-B018-FB5D4F113801}" srcOrd="0" destOrd="0" presId="urn:microsoft.com/office/officeart/2005/8/layout/orgChart1"/>
    <dgm:cxn modelId="{DD518925-041C-462A-BD3E-79500EC7B6D5}" type="presParOf" srcId="{BDCE558A-0536-4CBA-B12E-2D4FB360485D}" destId="{3A67186D-3D92-4771-9624-94133012421E}" srcOrd="1" destOrd="0" presId="urn:microsoft.com/office/officeart/2005/8/layout/orgChart1"/>
    <dgm:cxn modelId="{2132199D-F5EF-47B6-B993-DAA41061574E}" type="presParOf" srcId="{DE497F00-1FAE-4DD2-A953-637F15724EDB}" destId="{2C56ED51-E9E6-4EDE-8B47-C214BF80796C}" srcOrd="1" destOrd="0" presId="urn:microsoft.com/office/officeart/2005/8/layout/orgChart1"/>
    <dgm:cxn modelId="{F328C702-15BB-4672-A80D-B7D096D807F7}" type="presParOf" srcId="{DE497F00-1FAE-4DD2-A953-637F15724EDB}" destId="{181586F3-8382-4C22-87F2-396D2323B76E}" srcOrd="2" destOrd="0" presId="urn:microsoft.com/office/officeart/2005/8/layout/orgChart1"/>
    <dgm:cxn modelId="{300A8C39-4511-4773-9B49-8BB3C67DAC21}" type="presParOf" srcId="{C522B2D0-33D3-4046-AAFC-E7C36D256769}" destId="{FE415B42-AB62-417B-BA6B-521EFCFD674B}" srcOrd="4" destOrd="0" presId="urn:microsoft.com/office/officeart/2005/8/layout/orgChart1"/>
    <dgm:cxn modelId="{0192480F-C98D-438D-9ADE-C502F7048748}" type="presParOf" srcId="{C522B2D0-33D3-4046-AAFC-E7C36D256769}" destId="{97F18F56-35FB-4FF5-9128-4ED742C72259}" srcOrd="5" destOrd="0" presId="urn:microsoft.com/office/officeart/2005/8/layout/orgChart1"/>
    <dgm:cxn modelId="{0425B8F6-BDF9-4499-AA9D-D163BA6EC922}" type="presParOf" srcId="{97F18F56-35FB-4FF5-9128-4ED742C72259}" destId="{13BA039D-3342-42FD-885E-487D0FD29C37}" srcOrd="0" destOrd="0" presId="urn:microsoft.com/office/officeart/2005/8/layout/orgChart1"/>
    <dgm:cxn modelId="{E4B3885F-2CE8-4F0D-9277-701BEF5EF599}" type="presParOf" srcId="{13BA039D-3342-42FD-885E-487D0FD29C37}" destId="{30AEF949-ADBD-4253-82F3-467A338D947D}" srcOrd="0" destOrd="0" presId="urn:microsoft.com/office/officeart/2005/8/layout/orgChart1"/>
    <dgm:cxn modelId="{5A0C429C-FA3B-4733-B6FE-1F800DF0E1F2}" type="presParOf" srcId="{13BA039D-3342-42FD-885E-487D0FD29C37}" destId="{09812BF2-D707-4095-B7BB-C0C26F147E1D}" srcOrd="1" destOrd="0" presId="urn:microsoft.com/office/officeart/2005/8/layout/orgChart1"/>
    <dgm:cxn modelId="{35F42D31-83AD-4AF7-AAB7-F2324A56A743}" type="presParOf" srcId="{97F18F56-35FB-4FF5-9128-4ED742C72259}" destId="{8711D90F-6735-4CB7-BC02-6053A172CF05}" srcOrd="1" destOrd="0" presId="urn:microsoft.com/office/officeart/2005/8/layout/orgChart1"/>
    <dgm:cxn modelId="{DACD5524-298E-4328-B1AF-9C25D8E4CC87}" type="presParOf" srcId="{97F18F56-35FB-4FF5-9128-4ED742C72259}" destId="{D147A57D-D81D-423A-AFA7-AD5EEBE1F05D}" srcOrd="2" destOrd="0" presId="urn:microsoft.com/office/officeart/2005/8/layout/orgChart1"/>
    <dgm:cxn modelId="{549E37B8-F216-4442-8368-AD3C5FA862E3}" type="presParOf" srcId="{59083094-57A5-42D4-A220-83D5CF9FFC26}" destId="{EF504867-0E8B-4744-A90A-574CB7CA5DE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AE0EE5-93A4-40DE-A641-168DED4EF7F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B0E24ED4-031D-4748-98F5-0AA0517DF40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SQL</a:t>
          </a:r>
          <a:endParaRPr kumimoji="0" lang="ru-RU" altLang="ru-RU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endParaRPr>
        </a:p>
      </dgm:t>
    </dgm:pt>
    <dgm:pt modelId="{5343823B-7DF1-476E-9C74-D87CAEC5F2B5}" type="parTrans" cxnId="{A3E69AA3-8141-4CFF-B078-DD85DC5EC702}">
      <dgm:prSet/>
      <dgm:spPr/>
      <dgm:t>
        <a:bodyPr/>
        <a:lstStyle/>
        <a:p>
          <a:endParaRPr lang="ru-RU"/>
        </a:p>
      </dgm:t>
    </dgm:pt>
    <dgm:pt modelId="{E7C9C0DD-845E-49B9-8092-03DC15E453E6}" type="sibTrans" cxnId="{A3E69AA3-8141-4CFF-B078-DD85DC5EC702}">
      <dgm:prSet/>
      <dgm:spPr/>
      <dgm:t>
        <a:bodyPr/>
        <a:lstStyle/>
        <a:p>
          <a:endParaRPr lang="ru-RU"/>
        </a:p>
      </dgm:t>
    </dgm:pt>
    <dgm:pt modelId="{E0FBF6F8-535F-48A3-9BD2-E016A26621D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Интерактивный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endParaRPr>
        </a:p>
      </dgm:t>
    </dgm:pt>
    <dgm:pt modelId="{1C56E72E-552B-480C-B4EC-513327F9CED0}" type="parTrans" cxnId="{16282670-0476-49F4-9255-254CD4178D22}">
      <dgm:prSet/>
      <dgm:spPr/>
      <dgm:t>
        <a:bodyPr/>
        <a:lstStyle/>
        <a:p>
          <a:endParaRPr lang="ru-RU"/>
        </a:p>
      </dgm:t>
    </dgm:pt>
    <dgm:pt modelId="{A7468D00-30BC-4A02-B280-55FB51FACEA7}" type="sibTrans" cxnId="{16282670-0476-49F4-9255-254CD4178D22}">
      <dgm:prSet/>
      <dgm:spPr/>
      <dgm:t>
        <a:bodyPr/>
        <a:lstStyle/>
        <a:p>
          <a:endParaRPr lang="ru-RU"/>
        </a:p>
      </dgm:t>
    </dgm:pt>
    <dgm:pt modelId="{4AE62BEF-F0A2-4B3A-8AC1-4ECAC1D5543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Статический</a:t>
          </a:r>
        </a:p>
      </dgm:t>
    </dgm:pt>
    <dgm:pt modelId="{359BF514-2DDA-46F2-8C07-31DB5AB593AD}" type="parTrans" cxnId="{B30ED2B7-CF94-419A-8C49-4C1566114DE7}">
      <dgm:prSet/>
      <dgm:spPr/>
      <dgm:t>
        <a:bodyPr/>
        <a:lstStyle/>
        <a:p>
          <a:endParaRPr lang="ru-RU"/>
        </a:p>
      </dgm:t>
    </dgm:pt>
    <dgm:pt modelId="{F97BDB52-0D8B-4D6A-9469-26CFEA5F3F86}" type="sibTrans" cxnId="{B30ED2B7-CF94-419A-8C49-4C1566114DE7}">
      <dgm:prSet/>
      <dgm:spPr/>
      <dgm:t>
        <a:bodyPr/>
        <a:lstStyle/>
        <a:p>
          <a:endParaRPr lang="ru-RU"/>
        </a:p>
      </dgm:t>
    </dgm:pt>
    <dgm:pt modelId="{49DB1532-1872-4CEC-9117-18F74CFAF21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встроенный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endParaRPr>
        </a:p>
      </dgm:t>
    </dgm:pt>
    <dgm:pt modelId="{1E86AB73-C382-4CFC-93D0-0AC40CC52A15}" type="parTrans" cxnId="{5A4288B1-1163-497A-9095-971ED2FB4549}">
      <dgm:prSet/>
      <dgm:spPr/>
      <dgm:t>
        <a:bodyPr/>
        <a:lstStyle/>
        <a:p>
          <a:endParaRPr lang="ru-RU"/>
        </a:p>
      </dgm:t>
    </dgm:pt>
    <dgm:pt modelId="{B45C52B3-287D-4666-9557-6119336A12C4}" type="sibTrans" cxnId="{5A4288B1-1163-497A-9095-971ED2FB4549}">
      <dgm:prSet/>
      <dgm:spPr/>
      <dgm:t>
        <a:bodyPr/>
        <a:lstStyle/>
        <a:p>
          <a:endParaRPr lang="ru-RU"/>
        </a:p>
      </dgm:t>
    </dgm:pt>
    <dgm:pt modelId="{65927ABC-1BA9-4C2F-8BB2-A73FAB34022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модульный</a:t>
          </a:r>
        </a:p>
      </dgm:t>
    </dgm:pt>
    <dgm:pt modelId="{4074CB1C-5141-47F7-AB9B-1DC3F21C4AAB}" type="parTrans" cxnId="{28CB8B5E-906E-4389-A91A-DCEA41811345}">
      <dgm:prSet/>
      <dgm:spPr/>
      <dgm:t>
        <a:bodyPr/>
        <a:lstStyle/>
        <a:p>
          <a:endParaRPr lang="ru-RU"/>
        </a:p>
      </dgm:t>
    </dgm:pt>
    <dgm:pt modelId="{FD6E34C1-8BD2-447C-8847-D9E39B7AAD00}" type="sibTrans" cxnId="{28CB8B5E-906E-4389-A91A-DCEA41811345}">
      <dgm:prSet/>
      <dgm:spPr/>
      <dgm:t>
        <a:bodyPr/>
        <a:lstStyle/>
        <a:p>
          <a:endParaRPr lang="ru-RU"/>
        </a:p>
      </dgm:t>
    </dgm:pt>
    <dgm:pt modelId="{95E7CA83-69C9-4015-A41B-EB6D9A30321C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Динамический</a:t>
          </a:r>
        </a:p>
      </dgm:t>
    </dgm:pt>
    <dgm:pt modelId="{CDD17F9F-13D0-41BE-8AEF-EBFE806826C4}" type="parTrans" cxnId="{36BB26D6-7CF9-42F4-BC37-36567EEF8572}">
      <dgm:prSet/>
      <dgm:spPr/>
      <dgm:t>
        <a:bodyPr/>
        <a:lstStyle/>
        <a:p>
          <a:endParaRPr lang="ru-RU"/>
        </a:p>
      </dgm:t>
    </dgm:pt>
    <dgm:pt modelId="{619E5241-580C-4592-9BC4-7D3589813C4A}" type="sibTrans" cxnId="{36BB26D6-7CF9-42F4-BC37-36567EEF8572}">
      <dgm:prSet/>
      <dgm:spPr/>
      <dgm:t>
        <a:bodyPr/>
        <a:lstStyle/>
        <a:p>
          <a:endParaRPr lang="ru-RU"/>
        </a:p>
      </dgm:t>
    </dgm:pt>
    <dgm:pt modelId="{B4174B5D-D1D2-4DB0-97F6-0E9F5A268F4A}" type="pres">
      <dgm:prSet presAssocID="{0BAE0EE5-93A4-40DE-A641-168DED4EF7F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E486DB8-0D6D-4D3D-99C4-0D2A64ACE20E}" type="pres">
      <dgm:prSet presAssocID="{B0E24ED4-031D-4748-98F5-0AA0517DF407}" presName="hierRoot1" presStyleCnt="0">
        <dgm:presLayoutVars>
          <dgm:hierBranch/>
        </dgm:presLayoutVars>
      </dgm:prSet>
      <dgm:spPr/>
    </dgm:pt>
    <dgm:pt modelId="{F99C3897-6A28-4696-8449-E9FA3CEA058B}" type="pres">
      <dgm:prSet presAssocID="{B0E24ED4-031D-4748-98F5-0AA0517DF407}" presName="rootComposite1" presStyleCnt="0"/>
      <dgm:spPr/>
    </dgm:pt>
    <dgm:pt modelId="{0C92CDBD-0320-4250-9539-CFA58C056FDD}" type="pres">
      <dgm:prSet presAssocID="{B0E24ED4-031D-4748-98F5-0AA0517DF40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A922646-BCFF-4B53-AFF3-E7B3A793AC08}" type="pres">
      <dgm:prSet presAssocID="{B0E24ED4-031D-4748-98F5-0AA0517DF407}" presName="rootConnector1" presStyleLbl="node1" presStyleIdx="0" presStyleCnt="0"/>
      <dgm:spPr/>
      <dgm:t>
        <a:bodyPr/>
        <a:lstStyle/>
        <a:p>
          <a:endParaRPr lang="ru-RU"/>
        </a:p>
      </dgm:t>
    </dgm:pt>
    <dgm:pt modelId="{9B461CF9-513A-4436-8ACF-3258D3AED254}" type="pres">
      <dgm:prSet presAssocID="{B0E24ED4-031D-4748-98F5-0AA0517DF407}" presName="hierChild2" presStyleCnt="0"/>
      <dgm:spPr/>
    </dgm:pt>
    <dgm:pt modelId="{154A3621-C6ED-4B10-9AB5-598C24BE2A16}" type="pres">
      <dgm:prSet presAssocID="{1C56E72E-552B-480C-B4EC-513327F9CED0}" presName="Name35" presStyleLbl="parChTrans1D2" presStyleIdx="0" presStyleCnt="3"/>
      <dgm:spPr/>
      <dgm:t>
        <a:bodyPr/>
        <a:lstStyle/>
        <a:p>
          <a:endParaRPr lang="ru-RU"/>
        </a:p>
      </dgm:t>
    </dgm:pt>
    <dgm:pt modelId="{75259166-78B8-415C-81AB-63DAF4959117}" type="pres">
      <dgm:prSet presAssocID="{E0FBF6F8-535F-48A3-9BD2-E016A26621D2}" presName="hierRoot2" presStyleCnt="0">
        <dgm:presLayoutVars>
          <dgm:hierBranch/>
        </dgm:presLayoutVars>
      </dgm:prSet>
      <dgm:spPr/>
    </dgm:pt>
    <dgm:pt modelId="{B4E29517-77F7-4E40-87DB-C0E3C77D0EF5}" type="pres">
      <dgm:prSet presAssocID="{E0FBF6F8-535F-48A3-9BD2-E016A26621D2}" presName="rootComposite" presStyleCnt="0"/>
      <dgm:spPr/>
    </dgm:pt>
    <dgm:pt modelId="{D28BBA25-7FA1-4585-A46D-449FD376D515}" type="pres">
      <dgm:prSet presAssocID="{E0FBF6F8-535F-48A3-9BD2-E016A26621D2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D769B30-47E8-47E4-8E0F-2FFE816F2E88}" type="pres">
      <dgm:prSet presAssocID="{E0FBF6F8-535F-48A3-9BD2-E016A26621D2}" presName="rootConnector" presStyleLbl="node2" presStyleIdx="0" presStyleCnt="3"/>
      <dgm:spPr/>
      <dgm:t>
        <a:bodyPr/>
        <a:lstStyle/>
        <a:p>
          <a:endParaRPr lang="ru-RU"/>
        </a:p>
      </dgm:t>
    </dgm:pt>
    <dgm:pt modelId="{2E5AEC2D-BF8B-45DB-91C5-379E4837C818}" type="pres">
      <dgm:prSet presAssocID="{E0FBF6F8-535F-48A3-9BD2-E016A26621D2}" presName="hierChild4" presStyleCnt="0"/>
      <dgm:spPr/>
    </dgm:pt>
    <dgm:pt modelId="{A319C6E8-2F58-4AB6-91F2-B331637E93B3}" type="pres">
      <dgm:prSet presAssocID="{E0FBF6F8-535F-48A3-9BD2-E016A26621D2}" presName="hierChild5" presStyleCnt="0"/>
      <dgm:spPr/>
    </dgm:pt>
    <dgm:pt modelId="{570F6406-0F72-4AD0-942F-F3288778DCBE}" type="pres">
      <dgm:prSet presAssocID="{359BF514-2DDA-46F2-8C07-31DB5AB593AD}" presName="Name35" presStyleLbl="parChTrans1D2" presStyleIdx="1" presStyleCnt="3"/>
      <dgm:spPr/>
      <dgm:t>
        <a:bodyPr/>
        <a:lstStyle/>
        <a:p>
          <a:endParaRPr lang="ru-RU"/>
        </a:p>
      </dgm:t>
    </dgm:pt>
    <dgm:pt modelId="{9B6689EF-BA40-4991-9332-81D09C5F2A46}" type="pres">
      <dgm:prSet presAssocID="{4AE62BEF-F0A2-4B3A-8AC1-4ECAC1D5543B}" presName="hierRoot2" presStyleCnt="0">
        <dgm:presLayoutVars>
          <dgm:hierBranch/>
        </dgm:presLayoutVars>
      </dgm:prSet>
      <dgm:spPr/>
    </dgm:pt>
    <dgm:pt modelId="{27C9BAE9-C36C-43F9-9982-AA362C7B3C37}" type="pres">
      <dgm:prSet presAssocID="{4AE62BEF-F0A2-4B3A-8AC1-4ECAC1D5543B}" presName="rootComposite" presStyleCnt="0"/>
      <dgm:spPr/>
    </dgm:pt>
    <dgm:pt modelId="{AB10B769-2B93-4435-BD0F-AA7F51EE2E95}" type="pres">
      <dgm:prSet presAssocID="{4AE62BEF-F0A2-4B3A-8AC1-4ECAC1D5543B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04032D3-DF12-43FF-ABEE-0E5029949D60}" type="pres">
      <dgm:prSet presAssocID="{4AE62BEF-F0A2-4B3A-8AC1-4ECAC1D5543B}" presName="rootConnector" presStyleLbl="node2" presStyleIdx="1" presStyleCnt="3"/>
      <dgm:spPr/>
      <dgm:t>
        <a:bodyPr/>
        <a:lstStyle/>
        <a:p>
          <a:endParaRPr lang="ru-RU"/>
        </a:p>
      </dgm:t>
    </dgm:pt>
    <dgm:pt modelId="{EBD3D0D8-3F95-4081-B706-BAB0D211C1FA}" type="pres">
      <dgm:prSet presAssocID="{4AE62BEF-F0A2-4B3A-8AC1-4ECAC1D5543B}" presName="hierChild4" presStyleCnt="0"/>
      <dgm:spPr/>
    </dgm:pt>
    <dgm:pt modelId="{EFA3C35F-1DD3-4B5F-AA5D-D4C142A1CF8D}" type="pres">
      <dgm:prSet presAssocID="{1E86AB73-C382-4CFC-93D0-0AC40CC52A15}" presName="Name35" presStyleLbl="parChTrans1D3" presStyleIdx="0" presStyleCnt="2"/>
      <dgm:spPr/>
      <dgm:t>
        <a:bodyPr/>
        <a:lstStyle/>
        <a:p>
          <a:endParaRPr lang="ru-RU"/>
        </a:p>
      </dgm:t>
    </dgm:pt>
    <dgm:pt modelId="{549E4D3C-B8AA-41A1-AF0A-B2EAFC302106}" type="pres">
      <dgm:prSet presAssocID="{49DB1532-1872-4CEC-9117-18F74CFAF213}" presName="hierRoot2" presStyleCnt="0">
        <dgm:presLayoutVars>
          <dgm:hierBranch val="r"/>
        </dgm:presLayoutVars>
      </dgm:prSet>
      <dgm:spPr/>
    </dgm:pt>
    <dgm:pt modelId="{B53DE35F-E3B0-4187-8726-C62FD99BF0D5}" type="pres">
      <dgm:prSet presAssocID="{49DB1532-1872-4CEC-9117-18F74CFAF213}" presName="rootComposite" presStyleCnt="0"/>
      <dgm:spPr/>
    </dgm:pt>
    <dgm:pt modelId="{8D51D1E5-D5CD-4A23-844C-ED29D918051A}" type="pres">
      <dgm:prSet presAssocID="{49DB1532-1872-4CEC-9117-18F74CFAF213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AC57C4D-FFF5-41BE-9393-5C5F57745BC7}" type="pres">
      <dgm:prSet presAssocID="{49DB1532-1872-4CEC-9117-18F74CFAF213}" presName="rootConnector" presStyleLbl="node3" presStyleIdx="0" presStyleCnt="2"/>
      <dgm:spPr/>
      <dgm:t>
        <a:bodyPr/>
        <a:lstStyle/>
        <a:p>
          <a:endParaRPr lang="ru-RU"/>
        </a:p>
      </dgm:t>
    </dgm:pt>
    <dgm:pt modelId="{8976D729-73ED-4D06-85ED-D8A1A1350BDA}" type="pres">
      <dgm:prSet presAssocID="{49DB1532-1872-4CEC-9117-18F74CFAF213}" presName="hierChild4" presStyleCnt="0"/>
      <dgm:spPr/>
    </dgm:pt>
    <dgm:pt modelId="{0F3D5CE0-841A-459C-8B6D-871F7DA12000}" type="pres">
      <dgm:prSet presAssocID="{49DB1532-1872-4CEC-9117-18F74CFAF213}" presName="hierChild5" presStyleCnt="0"/>
      <dgm:spPr/>
    </dgm:pt>
    <dgm:pt modelId="{2B0F9633-9019-4C29-A031-98A8A7BAA0BD}" type="pres">
      <dgm:prSet presAssocID="{4074CB1C-5141-47F7-AB9B-1DC3F21C4AAB}" presName="Name35" presStyleLbl="parChTrans1D3" presStyleIdx="1" presStyleCnt="2"/>
      <dgm:spPr/>
      <dgm:t>
        <a:bodyPr/>
        <a:lstStyle/>
        <a:p>
          <a:endParaRPr lang="ru-RU"/>
        </a:p>
      </dgm:t>
    </dgm:pt>
    <dgm:pt modelId="{9D276FD6-D9E2-45CE-A593-2851DFDD7898}" type="pres">
      <dgm:prSet presAssocID="{65927ABC-1BA9-4C2F-8BB2-A73FAB34022E}" presName="hierRoot2" presStyleCnt="0">
        <dgm:presLayoutVars>
          <dgm:hierBranch val="r"/>
        </dgm:presLayoutVars>
      </dgm:prSet>
      <dgm:spPr/>
    </dgm:pt>
    <dgm:pt modelId="{E09FF07D-86FB-48ED-B44A-463A211CC0EA}" type="pres">
      <dgm:prSet presAssocID="{65927ABC-1BA9-4C2F-8BB2-A73FAB34022E}" presName="rootComposite" presStyleCnt="0"/>
      <dgm:spPr/>
    </dgm:pt>
    <dgm:pt modelId="{F1AB000A-DD85-4E7F-A655-F3AB33D9D417}" type="pres">
      <dgm:prSet presAssocID="{65927ABC-1BA9-4C2F-8BB2-A73FAB34022E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69F6EFF-FDE9-4DB0-B1BA-9FAA0949E77D}" type="pres">
      <dgm:prSet presAssocID="{65927ABC-1BA9-4C2F-8BB2-A73FAB34022E}" presName="rootConnector" presStyleLbl="node3" presStyleIdx="1" presStyleCnt="2"/>
      <dgm:spPr/>
      <dgm:t>
        <a:bodyPr/>
        <a:lstStyle/>
        <a:p>
          <a:endParaRPr lang="ru-RU"/>
        </a:p>
      </dgm:t>
    </dgm:pt>
    <dgm:pt modelId="{4DD11070-FAA3-40FD-B3D1-094E6746BF3F}" type="pres">
      <dgm:prSet presAssocID="{65927ABC-1BA9-4C2F-8BB2-A73FAB34022E}" presName="hierChild4" presStyleCnt="0"/>
      <dgm:spPr/>
    </dgm:pt>
    <dgm:pt modelId="{1983EC77-18C1-4E10-BB66-E79B4DDA357D}" type="pres">
      <dgm:prSet presAssocID="{65927ABC-1BA9-4C2F-8BB2-A73FAB34022E}" presName="hierChild5" presStyleCnt="0"/>
      <dgm:spPr/>
    </dgm:pt>
    <dgm:pt modelId="{D86149CF-58D8-4D29-9E7E-BBF1F06DCAE6}" type="pres">
      <dgm:prSet presAssocID="{4AE62BEF-F0A2-4B3A-8AC1-4ECAC1D5543B}" presName="hierChild5" presStyleCnt="0"/>
      <dgm:spPr/>
    </dgm:pt>
    <dgm:pt modelId="{94032F7C-30DB-4F9C-9C1D-8E713DE0373D}" type="pres">
      <dgm:prSet presAssocID="{CDD17F9F-13D0-41BE-8AEF-EBFE806826C4}" presName="Name35" presStyleLbl="parChTrans1D2" presStyleIdx="2" presStyleCnt="3"/>
      <dgm:spPr/>
      <dgm:t>
        <a:bodyPr/>
        <a:lstStyle/>
        <a:p>
          <a:endParaRPr lang="ru-RU"/>
        </a:p>
      </dgm:t>
    </dgm:pt>
    <dgm:pt modelId="{59DE452E-8FA7-42FB-9061-6C6BF7F269EF}" type="pres">
      <dgm:prSet presAssocID="{95E7CA83-69C9-4015-A41B-EB6D9A30321C}" presName="hierRoot2" presStyleCnt="0">
        <dgm:presLayoutVars>
          <dgm:hierBranch/>
        </dgm:presLayoutVars>
      </dgm:prSet>
      <dgm:spPr/>
    </dgm:pt>
    <dgm:pt modelId="{945D6E90-E062-4012-88F0-2900794F166D}" type="pres">
      <dgm:prSet presAssocID="{95E7CA83-69C9-4015-A41B-EB6D9A30321C}" presName="rootComposite" presStyleCnt="0"/>
      <dgm:spPr/>
    </dgm:pt>
    <dgm:pt modelId="{4A3E0E28-1AC1-45D0-BD4B-600767F60C1E}" type="pres">
      <dgm:prSet presAssocID="{95E7CA83-69C9-4015-A41B-EB6D9A30321C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9988208-EA47-4742-9AE7-344B03BC3388}" type="pres">
      <dgm:prSet presAssocID="{95E7CA83-69C9-4015-A41B-EB6D9A30321C}" presName="rootConnector" presStyleLbl="node2" presStyleIdx="2" presStyleCnt="3"/>
      <dgm:spPr/>
      <dgm:t>
        <a:bodyPr/>
        <a:lstStyle/>
        <a:p>
          <a:endParaRPr lang="ru-RU"/>
        </a:p>
      </dgm:t>
    </dgm:pt>
    <dgm:pt modelId="{30EDC862-66D0-4586-9BC9-752D80E8D345}" type="pres">
      <dgm:prSet presAssocID="{95E7CA83-69C9-4015-A41B-EB6D9A30321C}" presName="hierChild4" presStyleCnt="0"/>
      <dgm:spPr/>
    </dgm:pt>
    <dgm:pt modelId="{100B5B6C-AC96-48B6-8272-75DCB945503B}" type="pres">
      <dgm:prSet presAssocID="{95E7CA83-69C9-4015-A41B-EB6D9A30321C}" presName="hierChild5" presStyleCnt="0"/>
      <dgm:spPr/>
    </dgm:pt>
    <dgm:pt modelId="{359342F7-FAC6-44A0-ABA4-BF966DBC0A11}" type="pres">
      <dgm:prSet presAssocID="{B0E24ED4-031D-4748-98F5-0AA0517DF407}" presName="hierChild3" presStyleCnt="0"/>
      <dgm:spPr/>
    </dgm:pt>
  </dgm:ptLst>
  <dgm:cxnLst>
    <dgm:cxn modelId="{626CF6AC-041D-45D9-A012-35B17F1B31AA}" type="presOf" srcId="{4AE62BEF-F0A2-4B3A-8AC1-4ECAC1D5543B}" destId="{D04032D3-DF12-43FF-ABEE-0E5029949D60}" srcOrd="1" destOrd="0" presId="urn:microsoft.com/office/officeart/2005/8/layout/orgChart1"/>
    <dgm:cxn modelId="{36BB26D6-7CF9-42F4-BC37-36567EEF8572}" srcId="{B0E24ED4-031D-4748-98F5-0AA0517DF407}" destId="{95E7CA83-69C9-4015-A41B-EB6D9A30321C}" srcOrd="2" destOrd="0" parTransId="{CDD17F9F-13D0-41BE-8AEF-EBFE806826C4}" sibTransId="{619E5241-580C-4592-9BC4-7D3589813C4A}"/>
    <dgm:cxn modelId="{FAB5D2D6-F3B8-4482-81A7-48A98F327BE2}" type="presOf" srcId="{49DB1532-1872-4CEC-9117-18F74CFAF213}" destId="{8D51D1E5-D5CD-4A23-844C-ED29D918051A}" srcOrd="0" destOrd="0" presId="urn:microsoft.com/office/officeart/2005/8/layout/orgChart1"/>
    <dgm:cxn modelId="{81F8C84E-BB8A-46AB-99C1-6B3AA63664BE}" type="presOf" srcId="{49DB1532-1872-4CEC-9117-18F74CFAF213}" destId="{7AC57C4D-FFF5-41BE-9393-5C5F57745BC7}" srcOrd="1" destOrd="0" presId="urn:microsoft.com/office/officeart/2005/8/layout/orgChart1"/>
    <dgm:cxn modelId="{CDC6300D-A2C1-4E67-8A62-46E89CE2001C}" type="presOf" srcId="{65927ABC-1BA9-4C2F-8BB2-A73FAB34022E}" destId="{F1AB000A-DD85-4E7F-A655-F3AB33D9D417}" srcOrd="0" destOrd="0" presId="urn:microsoft.com/office/officeart/2005/8/layout/orgChart1"/>
    <dgm:cxn modelId="{64336507-8044-45F7-8FF9-3665861022B3}" type="presOf" srcId="{CDD17F9F-13D0-41BE-8AEF-EBFE806826C4}" destId="{94032F7C-30DB-4F9C-9C1D-8E713DE0373D}" srcOrd="0" destOrd="0" presId="urn:microsoft.com/office/officeart/2005/8/layout/orgChart1"/>
    <dgm:cxn modelId="{C5DF55A3-CA13-4DC2-BD77-075D151DA65D}" type="presOf" srcId="{1E86AB73-C382-4CFC-93D0-0AC40CC52A15}" destId="{EFA3C35F-1DD3-4B5F-AA5D-D4C142A1CF8D}" srcOrd="0" destOrd="0" presId="urn:microsoft.com/office/officeart/2005/8/layout/orgChart1"/>
    <dgm:cxn modelId="{5A4288B1-1163-497A-9095-971ED2FB4549}" srcId="{4AE62BEF-F0A2-4B3A-8AC1-4ECAC1D5543B}" destId="{49DB1532-1872-4CEC-9117-18F74CFAF213}" srcOrd="0" destOrd="0" parTransId="{1E86AB73-C382-4CFC-93D0-0AC40CC52A15}" sibTransId="{B45C52B3-287D-4666-9557-6119336A12C4}"/>
    <dgm:cxn modelId="{14852802-E609-40EA-BAD3-21EAA685435E}" type="presOf" srcId="{359BF514-2DDA-46F2-8C07-31DB5AB593AD}" destId="{570F6406-0F72-4AD0-942F-F3288778DCBE}" srcOrd="0" destOrd="0" presId="urn:microsoft.com/office/officeart/2005/8/layout/orgChart1"/>
    <dgm:cxn modelId="{2AB48538-D8FC-4512-90C3-17BCCB7C3435}" type="presOf" srcId="{95E7CA83-69C9-4015-A41B-EB6D9A30321C}" destId="{4A3E0E28-1AC1-45D0-BD4B-600767F60C1E}" srcOrd="0" destOrd="0" presId="urn:microsoft.com/office/officeart/2005/8/layout/orgChart1"/>
    <dgm:cxn modelId="{16282670-0476-49F4-9255-254CD4178D22}" srcId="{B0E24ED4-031D-4748-98F5-0AA0517DF407}" destId="{E0FBF6F8-535F-48A3-9BD2-E016A26621D2}" srcOrd="0" destOrd="0" parTransId="{1C56E72E-552B-480C-B4EC-513327F9CED0}" sibTransId="{A7468D00-30BC-4A02-B280-55FB51FACEA7}"/>
    <dgm:cxn modelId="{9CB2C1B2-21DB-4ACE-B096-DBD3F11E855B}" type="presOf" srcId="{0BAE0EE5-93A4-40DE-A641-168DED4EF7F5}" destId="{B4174B5D-D1D2-4DB0-97F6-0E9F5A268F4A}" srcOrd="0" destOrd="0" presId="urn:microsoft.com/office/officeart/2005/8/layout/orgChart1"/>
    <dgm:cxn modelId="{BBA53334-0D0E-405C-A13D-829045B8D02D}" type="presOf" srcId="{95E7CA83-69C9-4015-A41B-EB6D9A30321C}" destId="{49988208-EA47-4742-9AE7-344B03BC3388}" srcOrd="1" destOrd="0" presId="urn:microsoft.com/office/officeart/2005/8/layout/orgChart1"/>
    <dgm:cxn modelId="{A3E69AA3-8141-4CFF-B078-DD85DC5EC702}" srcId="{0BAE0EE5-93A4-40DE-A641-168DED4EF7F5}" destId="{B0E24ED4-031D-4748-98F5-0AA0517DF407}" srcOrd="0" destOrd="0" parTransId="{5343823B-7DF1-476E-9C74-D87CAEC5F2B5}" sibTransId="{E7C9C0DD-845E-49B9-8092-03DC15E453E6}"/>
    <dgm:cxn modelId="{C009DE7E-80F0-4872-8640-6625CE02D818}" type="presOf" srcId="{E0FBF6F8-535F-48A3-9BD2-E016A26621D2}" destId="{0D769B30-47E8-47E4-8E0F-2FFE816F2E88}" srcOrd="1" destOrd="0" presId="urn:microsoft.com/office/officeart/2005/8/layout/orgChart1"/>
    <dgm:cxn modelId="{6ABD9224-BCF1-4C37-9224-8BF8FB4A1D2A}" type="presOf" srcId="{1C56E72E-552B-480C-B4EC-513327F9CED0}" destId="{154A3621-C6ED-4B10-9AB5-598C24BE2A16}" srcOrd="0" destOrd="0" presId="urn:microsoft.com/office/officeart/2005/8/layout/orgChart1"/>
    <dgm:cxn modelId="{B30ED2B7-CF94-419A-8C49-4C1566114DE7}" srcId="{B0E24ED4-031D-4748-98F5-0AA0517DF407}" destId="{4AE62BEF-F0A2-4B3A-8AC1-4ECAC1D5543B}" srcOrd="1" destOrd="0" parTransId="{359BF514-2DDA-46F2-8C07-31DB5AB593AD}" sibTransId="{F97BDB52-0D8B-4D6A-9469-26CFEA5F3F86}"/>
    <dgm:cxn modelId="{26FEE8A8-C705-4DCF-B634-0ED2E3B8A220}" type="presOf" srcId="{4AE62BEF-F0A2-4B3A-8AC1-4ECAC1D5543B}" destId="{AB10B769-2B93-4435-BD0F-AA7F51EE2E95}" srcOrd="0" destOrd="0" presId="urn:microsoft.com/office/officeart/2005/8/layout/orgChart1"/>
    <dgm:cxn modelId="{03CF6E83-67EA-4902-B6C4-0A9E5BDEAA5F}" type="presOf" srcId="{B0E24ED4-031D-4748-98F5-0AA0517DF407}" destId="{9A922646-BCFF-4B53-AFF3-E7B3A793AC08}" srcOrd="1" destOrd="0" presId="urn:microsoft.com/office/officeart/2005/8/layout/orgChart1"/>
    <dgm:cxn modelId="{28CB8B5E-906E-4389-A91A-DCEA41811345}" srcId="{4AE62BEF-F0A2-4B3A-8AC1-4ECAC1D5543B}" destId="{65927ABC-1BA9-4C2F-8BB2-A73FAB34022E}" srcOrd="1" destOrd="0" parTransId="{4074CB1C-5141-47F7-AB9B-1DC3F21C4AAB}" sibTransId="{FD6E34C1-8BD2-447C-8847-D9E39B7AAD00}"/>
    <dgm:cxn modelId="{3619D3CB-6141-41EC-8834-235AB14B4327}" type="presOf" srcId="{E0FBF6F8-535F-48A3-9BD2-E016A26621D2}" destId="{D28BBA25-7FA1-4585-A46D-449FD376D515}" srcOrd="0" destOrd="0" presId="urn:microsoft.com/office/officeart/2005/8/layout/orgChart1"/>
    <dgm:cxn modelId="{4F6B58F6-5775-4882-A7BE-D330BE56073A}" type="presOf" srcId="{4074CB1C-5141-47F7-AB9B-1DC3F21C4AAB}" destId="{2B0F9633-9019-4C29-A031-98A8A7BAA0BD}" srcOrd="0" destOrd="0" presId="urn:microsoft.com/office/officeart/2005/8/layout/orgChart1"/>
    <dgm:cxn modelId="{C29B11FA-F0F7-4CFB-88C9-C85D664A8419}" type="presOf" srcId="{B0E24ED4-031D-4748-98F5-0AA0517DF407}" destId="{0C92CDBD-0320-4250-9539-CFA58C056FDD}" srcOrd="0" destOrd="0" presId="urn:microsoft.com/office/officeart/2005/8/layout/orgChart1"/>
    <dgm:cxn modelId="{4C0F67C8-DC63-4B3A-99D1-ADD04663C4A6}" type="presOf" srcId="{65927ABC-1BA9-4C2F-8BB2-A73FAB34022E}" destId="{E69F6EFF-FDE9-4DB0-B1BA-9FAA0949E77D}" srcOrd="1" destOrd="0" presId="urn:microsoft.com/office/officeart/2005/8/layout/orgChart1"/>
    <dgm:cxn modelId="{F01AF0C4-46F2-4E1C-98CC-5C3F5C1F7B76}" type="presParOf" srcId="{B4174B5D-D1D2-4DB0-97F6-0E9F5A268F4A}" destId="{AE486DB8-0D6D-4D3D-99C4-0D2A64ACE20E}" srcOrd="0" destOrd="0" presId="urn:microsoft.com/office/officeart/2005/8/layout/orgChart1"/>
    <dgm:cxn modelId="{89D2DC8A-18BA-4CDF-961D-090625E73CF1}" type="presParOf" srcId="{AE486DB8-0D6D-4D3D-99C4-0D2A64ACE20E}" destId="{F99C3897-6A28-4696-8449-E9FA3CEA058B}" srcOrd="0" destOrd="0" presId="urn:microsoft.com/office/officeart/2005/8/layout/orgChart1"/>
    <dgm:cxn modelId="{0617AF0D-7E3E-4530-93CB-0305FC8D8C07}" type="presParOf" srcId="{F99C3897-6A28-4696-8449-E9FA3CEA058B}" destId="{0C92CDBD-0320-4250-9539-CFA58C056FDD}" srcOrd="0" destOrd="0" presId="urn:microsoft.com/office/officeart/2005/8/layout/orgChart1"/>
    <dgm:cxn modelId="{FE6C876C-6DDB-49B7-AD4E-D75D05CE5539}" type="presParOf" srcId="{F99C3897-6A28-4696-8449-E9FA3CEA058B}" destId="{9A922646-BCFF-4B53-AFF3-E7B3A793AC08}" srcOrd="1" destOrd="0" presId="urn:microsoft.com/office/officeart/2005/8/layout/orgChart1"/>
    <dgm:cxn modelId="{B5C66D3C-7B7F-407B-9C70-2E9FD8A10E81}" type="presParOf" srcId="{AE486DB8-0D6D-4D3D-99C4-0D2A64ACE20E}" destId="{9B461CF9-513A-4436-8ACF-3258D3AED254}" srcOrd="1" destOrd="0" presId="urn:microsoft.com/office/officeart/2005/8/layout/orgChart1"/>
    <dgm:cxn modelId="{C6D75D0E-4921-4080-8876-8BD239A5F1D6}" type="presParOf" srcId="{9B461CF9-513A-4436-8ACF-3258D3AED254}" destId="{154A3621-C6ED-4B10-9AB5-598C24BE2A16}" srcOrd="0" destOrd="0" presId="urn:microsoft.com/office/officeart/2005/8/layout/orgChart1"/>
    <dgm:cxn modelId="{01D9AB0B-C578-4A0D-9A99-7F8912A1A207}" type="presParOf" srcId="{9B461CF9-513A-4436-8ACF-3258D3AED254}" destId="{75259166-78B8-415C-81AB-63DAF4959117}" srcOrd="1" destOrd="0" presId="urn:microsoft.com/office/officeart/2005/8/layout/orgChart1"/>
    <dgm:cxn modelId="{7AB0812A-839A-48F0-A848-A9336AD1043C}" type="presParOf" srcId="{75259166-78B8-415C-81AB-63DAF4959117}" destId="{B4E29517-77F7-4E40-87DB-C0E3C77D0EF5}" srcOrd="0" destOrd="0" presId="urn:microsoft.com/office/officeart/2005/8/layout/orgChart1"/>
    <dgm:cxn modelId="{126B3DC4-52A4-4BEF-8D3B-94BAD9E2D057}" type="presParOf" srcId="{B4E29517-77F7-4E40-87DB-C0E3C77D0EF5}" destId="{D28BBA25-7FA1-4585-A46D-449FD376D515}" srcOrd="0" destOrd="0" presId="urn:microsoft.com/office/officeart/2005/8/layout/orgChart1"/>
    <dgm:cxn modelId="{D070BFC6-196B-43D2-AA8A-CAD9E9634041}" type="presParOf" srcId="{B4E29517-77F7-4E40-87DB-C0E3C77D0EF5}" destId="{0D769B30-47E8-47E4-8E0F-2FFE816F2E88}" srcOrd="1" destOrd="0" presId="urn:microsoft.com/office/officeart/2005/8/layout/orgChart1"/>
    <dgm:cxn modelId="{3B7C78EC-E17A-41AA-B995-FB8818004826}" type="presParOf" srcId="{75259166-78B8-415C-81AB-63DAF4959117}" destId="{2E5AEC2D-BF8B-45DB-91C5-379E4837C818}" srcOrd="1" destOrd="0" presId="urn:microsoft.com/office/officeart/2005/8/layout/orgChart1"/>
    <dgm:cxn modelId="{4845B7C0-8975-4BC7-95F2-F0268C4BE7FA}" type="presParOf" srcId="{75259166-78B8-415C-81AB-63DAF4959117}" destId="{A319C6E8-2F58-4AB6-91F2-B331637E93B3}" srcOrd="2" destOrd="0" presId="urn:microsoft.com/office/officeart/2005/8/layout/orgChart1"/>
    <dgm:cxn modelId="{EF8A9FE9-D904-4694-A51D-B63CE390E32D}" type="presParOf" srcId="{9B461CF9-513A-4436-8ACF-3258D3AED254}" destId="{570F6406-0F72-4AD0-942F-F3288778DCBE}" srcOrd="2" destOrd="0" presId="urn:microsoft.com/office/officeart/2005/8/layout/orgChart1"/>
    <dgm:cxn modelId="{3C88EFD4-F8D4-40C3-8637-A8CFEE18026B}" type="presParOf" srcId="{9B461CF9-513A-4436-8ACF-3258D3AED254}" destId="{9B6689EF-BA40-4991-9332-81D09C5F2A46}" srcOrd="3" destOrd="0" presId="urn:microsoft.com/office/officeart/2005/8/layout/orgChart1"/>
    <dgm:cxn modelId="{104F6CFE-57E1-4E8A-917F-06D963E62B5B}" type="presParOf" srcId="{9B6689EF-BA40-4991-9332-81D09C5F2A46}" destId="{27C9BAE9-C36C-43F9-9982-AA362C7B3C37}" srcOrd="0" destOrd="0" presId="urn:microsoft.com/office/officeart/2005/8/layout/orgChart1"/>
    <dgm:cxn modelId="{86EC3BB5-A110-4FF9-AFFB-532C11FF3C4E}" type="presParOf" srcId="{27C9BAE9-C36C-43F9-9982-AA362C7B3C37}" destId="{AB10B769-2B93-4435-BD0F-AA7F51EE2E95}" srcOrd="0" destOrd="0" presId="urn:microsoft.com/office/officeart/2005/8/layout/orgChart1"/>
    <dgm:cxn modelId="{64F958D7-6030-43D0-9367-9907FDEA0E74}" type="presParOf" srcId="{27C9BAE9-C36C-43F9-9982-AA362C7B3C37}" destId="{D04032D3-DF12-43FF-ABEE-0E5029949D60}" srcOrd="1" destOrd="0" presId="urn:microsoft.com/office/officeart/2005/8/layout/orgChart1"/>
    <dgm:cxn modelId="{E7CF036A-5B7F-4BAD-8BB0-BAB838BA8763}" type="presParOf" srcId="{9B6689EF-BA40-4991-9332-81D09C5F2A46}" destId="{EBD3D0D8-3F95-4081-B706-BAB0D211C1FA}" srcOrd="1" destOrd="0" presId="urn:microsoft.com/office/officeart/2005/8/layout/orgChart1"/>
    <dgm:cxn modelId="{C15486FB-2873-4E2F-87D0-465460A8E41D}" type="presParOf" srcId="{EBD3D0D8-3F95-4081-B706-BAB0D211C1FA}" destId="{EFA3C35F-1DD3-4B5F-AA5D-D4C142A1CF8D}" srcOrd="0" destOrd="0" presId="urn:microsoft.com/office/officeart/2005/8/layout/orgChart1"/>
    <dgm:cxn modelId="{A3A72907-8CEA-468D-AC0E-23C35BEDE0F4}" type="presParOf" srcId="{EBD3D0D8-3F95-4081-B706-BAB0D211C1FA}" destId="{549E4D3C-B8AA-41A1-AF0A-B2EAFC302106}" srcOrd="1" destOrd="0" presId="urn:microsoft.com/office/officeart/2005/8/layout/orgChart1"/>
    <dgm:cxn modelId="{9D3AA12B-C3A2-4094-8316-705C28906A1E}" type="presParOf" srcId="{549E4D3C-B8AA-41A1-AF0A-B2EAFC302106}" destId="{B53DE35F-E3B0-4187-8726-C62FD99BF0D5}" srcOrd="0" destOrd="0" presId="urn:microsoft.com/office/officeart/2005/8/layout/orgChart1"/>
    <dgm:cxn modelId="{DDE67B0A-0724-439C-B01D-C1EDC03ABC46}" type="presParOf" srcId="{B53DE35F-E3B0-4187-8726-C62FD99BF0D5}" destId="{8D51D1E5-D5CD-4A23-844C-ED29D918051A}" srcOrd="0" destOrd="0" presId="urn:microsoft.com/office/officeart/2005/8/layout/orgChart1"/>
    <dgm:cxn modelId="{327E9715-ECA7-47E7-86D2-49C96AD593C9}" type="presParOf" srcId="{B53DE35F-E3B0-4187-8726-C62FD99BF0D5}" destId="{7AC57C4D-FFF5-41BE-9393-5C5F57745BC7}" srcOrd="1" destOrd="0" presId="urn:microsoft.com/office/officeart/2005/8/layout/orgChart1"/>
    <dgm:cxn modelId="{B33AF267-6866-442A-A7BC-DBBBDBA5FC3A}" type="presParOf" srcId="{549E4D3C-B8AA-41A1-AF0A-B2EAFC302106}" destId="{8976D729-73ED-4D06-85ED-D8A1A1350BDA}" srcOrd="1" destOrd="0" presId="urn:microsoft.com/office/officeart/2005/8/layout/orgChart1"/>
    <dgm:cxn modelId="{4F262418-2CD8-473A-9EC2-806B8404BB68}" type="presParOf" srcId="{549E4D3C-B8AA-41A1-AF0A-B2EAFC302106}" destId="{0F3D5CE0-841A-459C-8B6D-871F7DA12000}" srcOrd="2" destOrd="0" presId="urn:microsoft.com/office/officeart/2005/8/layout/orgChart1"/>
    <dgm:cxn modelId="{4ECD0285-72BD-417B-ADE9-315D23F08C23}" type="presParOf" srcId="{EBD3D0D8-3F95-4081-B706-BAB0D211C1FA}" destId="{2B0F9633-9019-4C29-A031-98A8A7BAA0BD}" srcOrd="2" destOrd="0" presId="urn:microsoft.com/office/officeart/2005/8/layout/orgChart1"/>
    <dgm:cxn modelId="{2278CDAF-0B4D-4787-A005-B3CE61962C39}" type="presParOf" srcId="{EBD3D0D8-3F95-4081-B706-BAB0D211C1FA}" destId="{9D276FD6-D9E2-45CE-A593-2851DFDD7898}" srcOrd="3" destOrd="0" presId="urn:microsoft.com/office/officeart/2005/8/layout/orgChart1"/>
    <dgm:cxn modelId="{7C41A696-3C0B-4C7F-BEE0-35478B72422B}" type="presParOf" srcId="{9D276FD6-D9E2-45CE-A593-2851DFDD7898}" destId="{E09FF07D-86FB-48ED-B44A-463A211CC0EA}" srcOrd="0" destOrd="0" presId="urn:microsoft.com/office/officeart/2005/8/layout/orgChart1"/>
    <dgm:cxn modelId="{FC1E315D-67AC-4F27-838A-6CD5D1029820}" type="presParOf" srcId="{E09FF07D-86FB-48ED-B44A-463A211CC0EA}" destId="{F1AB000A-DD85-4E7F-A655-F3AB33D9D417}" srcOrd="0" destOrd="0" presId="urn:microsoft.com/office/officeart/2005/8/layout/orgChart1"/>
    <dgm:cxn modelId="{17D8E2C8-4A31-4A04-B717-04DD2BD04919}" type="presParOf" srcId="{E09FF07D-86FB-48ED-B44A-463A211CC0EA}" destId="{E69F6EFF-FDE9-4DB0-B1BA-9FAA0949E77D}" srcOrd="1" destOrd="0" presId="urn:microsoft.com/office/officeart/2005/8/layout/orgChart1"/>
    <dgm:cxn modelId="{62978301-E563-4BA4-8259-A977685E6170}" type="presParOf" srcId="{9D276FD6-D9E2-45CE-A593-2851DFDD7898}" destId="{4DD11070-FAA3-40FD-B3D1-094E6746BF3F}" srcOrd="1" destOrd="0" presId="urn:microsoft.com/office/officeart/2005/8/layout/orgChart1"/>
    <dgm:cxn modelId="{161B9278-CF25-4A1D-92CD-0DF6D7AB0D6B}" type="presParOf" srcId="{9D276FD6-D9E2-45CE-A593-2851DFDD7898}" destId="{1983EC77-18C1-4E10-BB66-E79B4DDA357D}" srcOrd="2" destOrd="0" presId="urn:microsoft.com/office/officeart/2005/8/layout/orgChart1"/>
    <dgm:cxn modelId="{04BB21C6-CD54-4DDA-B5D4-BDBD765A305B}" type="presParOf" srcId="{9B6689EF-BA40-4991-9332-81D09C5F2A46}" destId="{D86149CF-58D8-4D29-9E7E-BBF1F06DCAE6}" srcOrd="2" destOrd="0" presId="urn:microsoft.com/office/officeart/2005/8/layout/orgChart1"/>
    <dgm:cxn modelId="{F33AB63D-A0FD-4CCE-A4C3-99411EB8797E}" type="presParOf" srcId="{9B461CF9-513A-4436-8ACF-3258D3AED254}" destId="{94032F7C-30DB-4F9C-9C1D-8E713DE0373D}" srcOrd="4" destOrd="0" presId="urn:microsoft.com/office/officeart/2005/8/layout/orgChart1"/>
    <dgm:cxn modelId="{D67D9766-9EA0-4766-B3CF-1D0811217B7F}" type="presParOf" srcId="{9B461CF9-513A-4436-8ACF-3258D3AED254}" destId="{59DE452E-8FA7-42FB-9061-6C6BF7F269EF}" srcOrd="5" destOrd="0" presId="urn:microsoft.com/office/officeart/2005/8/layout/orgChart1"/>
    <dgm:cxn modelId="{077A3457-C60B-4D89-9F60-219F8CB68F55}" type="presParOf" srcId="{59DE452E-8FA7-42FB-9061-6C6BF7F269EF}" destId="{945D6E90-E062-4012-88F0-2900794F166D}" srcOrd="0" destOrd="0" presId="urn:microsoft.com/office/officeart/2005/8/layout/orgChart1"/>
    <dgm:cxn modelId="{BC8894F3-C912-4E37-84E2-B2AFAD81B41F}" type="presParOf" srcId="{945D6E90-E062-4012-88F0-2900794F166D}" destId="{4A3E0E28-1AC1-45D0-BD4B-600767F60C1E}" srcOrd="0" destOrd="0" presId="urn:microsoft.com/office/officeart/2005/8/layout/orgChart1"/>
    <dgm:cxn modelId="{1AEC3854-680E-4F0F-882A-BA3462192E5A}" type="presParOf" srcId="{945D6E90-E062-4012-88F0-2900794F166D}" destId="{49988208-EA47-4742-9AE7-344B03BC3388}" srcOrd="1" destOrd="0" presId="urn:microsoft.com/office/officeart/2005/8/layout/orgChart1"/>
    <dgm:cxn modelId="{276A0165-7476-426C-ADB4-39426BD67E91}" type="presParOf" srcId="{59DE452E-8FA7-42FB-9061-6C6BF7F269EF}" destId="{30EDC862-66D0-4586-9BC9-752D80E8D345}" srcOrd="1" destOrd="0" presId="urn:microsoft.com/office/officeart/2005/8/layout/orgChart1"/>
    <dgm:cxn modelId="{87B91B6D-D810-4278-B25A-072D20CD6E8A}" type="presParOf" srcId="{59DE452E-8FA7-42FB-9061-6C6BF7F269EF}" destId="{100B5B6C-AC96-48B6-8272-75DCB945503B}" srcOrd="2" destOrd="0" presId="urn:microsoft.com/office/officeart/2005/8/layout/orgChart1"/>
    <dgm:cxn modelId="{6BADB46B-3C15-4DE7-A4BD-7F9F3520E59A}" type="presParOf" srcId="{AE486DB8-0D6D-4D3D-99C4-0D2A64ACE20E}" destId="{359342F7-FAC6-44A0-ABA4-BF966DBC0A1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/>
            </a:lvl1pPr>
          </a:lstStyle>
          <a:p>
            <a:pPr>
              <a:defRPr/>
            </a:pPr>
            <a:fld id="{E8E170D0-C54B-419C-BEA2-D09162D562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859541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15364" name="Header Placeholder 3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altLang="ru-RU"/>
          </a:p>
        </p:txBody>
      </p:sp>
      <p:sp>
        <p:nvSpPr>
          <p:cNvPr id="15365" name="Date Placeholder 4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39E6A3-6C44-490E-8E7A-AF42FAE0B867}" type="datetime8">
              <a:rPr lang="en-US" altLang="ru-RU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2/26/2023 10:13 AM</a:t>
            </a:fld>
            <a:endParaRPr lang="en-US" altLang="ru-RU"/>
          </a:p>
        </p:txBody>
      </p:sp>
      <p:sp>
        <p:nvSpPr>
          <p:cNvPr id="153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61722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500">
                <a:solidFill>
                  <a:srgbClr val="000000"/>
                </a:solidFill>
                <a:latin typeface="Trebuchet MS" panose="020B0603020202020204" pitchFamily="34" charset="0"/>
              </a:rPr>
              <a:t>© Корпорация Майкрософт (Microsoft Corporation), 2007. Все права защищены. Microsoft, Windows, Windows Vista и другие названия продуктов являются или могут являться зарегистрированными товарными знаками и/или товарными знаками в США и/или других странах.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500">
                <a:solidFill>
                  <a:srgbClr val="000000"/>
                </a:solidFill>
                <a:latin typeface="Trebuchet MS" panose="020B0603020202020204" pitchFamily="34" charset="0"/>
              </a:rPr>
              <a:t>Информация приведена в этом документе только в демонстрационных целях и не отражает точку зрения представителей корпорации Майкрософт на момент составления данной презентации.  Поскольку корпорация Майкрософт вынуждена учитывать меняющиеся рыночные условия, она не гарантирует точность информации, указанной после составления этой презентации, а также не берет на себя подобной обязанности.  </a:t>
            </a:r>
            <a:br>
              <a:rPr lang="en-US" altLang="ru-RU" sz="50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en-US" altLang="ru-RU" sz="500">
                <a:solidFill>
                  <a:srgbClr val="000000"/>
                </a:solidFill>
                <a:latin typeface="Trebuchet MS" panose="020B0603020202020204" pitchFamily="34" charset="0"/>
              </a:rPr>
              <a:t>КОРПОРАЦИЯ МАЙКРОСОФТ НЕ ДАЕТ НИКАКИХ ЯВНЫХ, ПОДРАЗУМЕВАЕМЫХ ИЛИ ЗАКРЕПЛЕННЫХ ЗАКОНОДАТЕЛЬСТВОМ ГАРАНТИЙ В ОТНОШЕНИИ СВЕДЕНИЙ ИЗ ЭТОЙ ПРЕЗЕНТАЦИИ.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ru-RU" sz="500">
              <a:latin typeface="Trebuchet MS" panose="020B0603020202020204" pitchFamily="34" charset="0"/>
            </a:endParaRPr>
          </a:p>
        </p:txBody>
      </p:sp>
      <p:sp>
        <p:nvSpPr>
          <p:cNvPr id="153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6172200" y="8685213"/>
            <a:ext cx="684213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4609C4-14FF-4D71-9265-3FF6F0612207}" type="slidenum">
              <a:rPr lang="en-US" altLang="ru-RU" smtClean="0"/>
              <a:pPr>
                <a:spcBef>
                  <a:spcPct val="0"/>
                </a:spcBef>
              </a:pPr>
              <a:t>3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282854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F0E788-034F-456A-B49C-0E5D4324EB97}" type="slidenum">
              <a:rPr kumimoji="0" lang="ru-RU" altLang="ru-RU" smtClean="0"/>
              <a:pPr/>
              <a:t>4</a:t>
            </a:fld>
            <a:endParaRPr kumimoji="0" lang="ru-RU" altLang="ru-RU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9150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7114E1-776A-4D7F-984D-641CD11BEBE5}" type="slidenum">
              <a:rPr kumimoji="0" lang="ru-RU" altLang="ru-RU" smtClean="0"/>
              <a:pPr/>
              <a:t>30</a:t>
            </a:fld>
            <a:endParaRPr kumimoji="0" lang="ru-RU" altLang="ru-RU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86635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D7A87D-C89A-41CD-B4E7-78E3747F8C95}" type="slidenum">
              <a:rPr kumimoji="0" lang="ru-RU" altLang="ru-RU" smtClean="0"/>
              <a:pPr/>
              <a:t>31</a:t>
            </a:fld>
            <a:endParaRPr kumimoji="0" lang="ru-RU" altLang="ru-RU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99363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2032142-A49C-409F-9F4C-503A8A3F9AA2}" type="slidenum">
              <a:rPr kumimoji="0" lang="ru-RU" altLang="ru-RU" smtClean="0"/>
              <a:pPr/>
              <a:t>32</a:t>
            </a:fld>
            <a:endParaRPr kumimoji="0" lang="ru-RU" altLang="ru-RU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69187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F5768C-E267-4EA3-94AF-C430B1FB5383}" type="slidenum">
              <a:rPr kumimoji="0" lang="ru-RU" altLang="ru-RU" smtClean="0"/>
              <a:pPr/>
              <a:t>33</a:t>
            </a:fld>
            <a:endParaRPr kumimoji="0" lang="ru-RU" altLang="ru-RU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18172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24542B-E0EC-462B-B286-C8D2D289EF9A}" type="slidenum">
              <a:rPr kumimoji="0" lang="ru-RU" altLang="ru-RU" smtClean="0"/>
              <a:pPr/>
              <a:t>34</a:t>
            </a:fld>
            <a:endParaRPr kumimoji="0" lang="ru-RU" altLang="ru-RU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84230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8C454B-FBA4-4C18-8377-2F8962020EB2}" type="slidenum">
              <a:rPr kumimoji="0" lang="ru-RU" altLang="ru-RU" smtClean="0"/>
              <a:pPr/>
              <a:t>35</a:t>
            </a:fld>
            <a:endParaRPr kumimoji="0" lang="ru-RU" altLang="ru-RU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76640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C3ABFB-7B36-4715-B0D7-4BE1829B5DCE}" type="slidenum">
              <a:rPr kumimoji="0" lang="ru-RU" altLang="ru-RU" smtClean="0"/>
              <a:pPr/>
              <a:t>36</a:t>
            </a:fld>
            <a:endParaRPr kumimoji="0" lang="ru-RU" altLang="ru-RU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62146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C9A42B-3483-4B01-9F59-C3E42B18E6BB}" type="slidenum">
              <a:rPr kumimoji="0" lang="ru-RU" altLang="ru-RU" smtClean="0"/>
              <a:pPr/>
              <a:t>37</a:t>
            </a:fld>
            <a:endParaRPr kumimoji="0" lang="ru-RU" altLang="ru-RU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33255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0B0DFA-DCDA-49E2-9AA9-46BF65B8D98D}" type="slidenum">
              <a:rPr kumimoji="0" lang="ru-RU" altLang="ru-RU" smtClean="0"/>
              <a:pPr/>
              <a:t>38</a:t>
            </a:fld>
            <a:endParaRPr kumimoji="0"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4404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AD649D-D4B5-4A5B-AE93-80F79C36493F}" type="slidenum">
              <a:rPr kumimoji="0" lang="ru-RU" altLang="ru-RU" smtClean="0"/>
              <a:pPr/>
              <a:t>39</a:t>
            </a:fld>
            <a:endParaRPr kumimoji="0" lang="ru-RU" altLang="ru-RU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02975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659261-BF25-4D70-878F-1F6E060A5EB0}" type="slidenum">
              <a:rPr kumimoji="0" lang="ru-RU" altLang="ru-RU" smtClean="0"/>
              <a:pPr/>
              <a:t>40</a:t>
            </a:fld>
            <a:endParaRPr kumimoji="0" lang="ru-RU" altLang="ru-RU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7231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D42391-BED9-4871-A8B3-697830247EEF}" type="slidenum">
              <a:rPr kumimoji="0" lang="ru-RU" altLang="ru-RU" smtClean="0"/>
              <a:pPr/>
              <a:t>43</a:t>
            </a:fld>
            <a:endParaRPr kumimoji="0" lang="ru-RU" altLang="ru-RU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5947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076C77-BD0D-4A95-A728-0A610998A385}" type="slidenum">
              <a:rPr kumimoji="0" lang="ru-RU" altLang="ru-RU" smtClean="0"/>
              <a:pPr/>
              <a:t>44</a:t>
            </a:fld>
            <a:endParaRPr kumimoji="0" lang="ru-RU" altLang="ru-RU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40118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BDBFD2-3B02-47BC-90CC-E9171B50B08F}" type="slidenum">
              <a:rPr kumimoji="0" lang="ru-RU" altLang="ru-RU" smtClean="0"/>
              <a:pPr/>
              <a:t>45</a:t>
            </a:fld>
            <a:endParaRPr kumimoji="0" lang="ru-RU" altLang="ru-RU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61023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D0AF77-8738-4387-B051-7FC182D73932}" type="slidenum">
              <a:rPr kumimoji="0" lang="ru-RU" altLang="ru-RU" smtClean="0"/>
              <a:pPr/>
              <a:t>46</a:t>
            </a:fld>
            <a:endParaRPr kumimoji="0" lang="ru-RU" altLang="ru-RU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36691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9BDA67-3389-4503-9318-EF17CFA43069}" type="slidenum">
              <a:rPr kumimoji="0" lang="ru-RU" altLang="ru-RU" smtClean="0"/>
              <a:pPr/>
              <a:t>47</a:t>
            </a:fld>
            <a:endParaRPr kumimoji="0" lang="ru-RU" altLang="ru-RU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74798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E4A897-ED53-4270-9D44-6D166CFE67D0}" type="slidenum">
              <a:rPr kumimoji="0" lang="ru-RU" altLang="ru-RU" smtClean="0"/>
              <a:pPr/>
              <a:t>48</a:t>
            </a:fld>
            <a:endParaRPr kumimoji="0" lang="ru-RU" altLang="ru-RU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428821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C07DC8E-E79A-48FB-823E-0CDCEA457BD1}" type="slidenum">
              <a:rPr kumimoji="0" lang="ru-RU" altLang="ru-RU" smtClean="0"/>
              <a:pPr/>
              <a:t>49</a:t>
            </a:fld>
            <a:endParaRPr kumimoji="0" lang="ru-RU" altLang="ru-RU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20057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A3F3A9-E42A-4A9E-B04E-B11992EF14BA}" type="slidenum">
              <a:rPr kumimoji="0" lang="ru-RU" altLang="ru-RU" smtClean="0"/>
              <a:pPr/>
              <a:t>50</a:t>
            </a:fld>
            <a:endParaRPr kumimoji="0" lang="ru-RU" altLang="ru-RU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1628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A3F3A9-E42A-4A9E-B04E-B11992EF14BA}" type="slidenum">
              <a:rPr kumimoji="0" lang="ru-RU" altLang="ru-RU" smtClean="0"/>
              <a:pPr/>
              <a:t>51</a:t>
            </a:fld>
            <a:endParaRPr kumimoji="0" lang="ru-RU" altLang="ru-RU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49967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6" name="Rectangle 12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D9C05-1A15-4C9A-9E4D-4778D347D79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4135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74999-62A5-43B9-8F46-ED52A53902F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8206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5A90A-47B0-4B09-869C-73BEB15F83F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8499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CEF2E-D6F6-43E1-B623-2B5F9DA2DFC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4980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B43E7-DE41-4F06-B62C-5117142F4F6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852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B87AA-E610-45D9-96E7-497C8990242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7361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6E716-541A-4763-B241-8AFC93B6854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712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CBF664-DF25-44F8-9E68-B602EC45336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419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7" name="Rectangle 9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BC535-8858-4A48-81D7-49C3E26BD73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3748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F45F5-9E81-40C4-82E8-030C96ED26E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0427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2720B-59BA-4B96-A5B8-C4893D16A49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85383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Заголовок и два объекта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>
          <a:xfrm>
            <a:off x="457200" y="4000500"/>
            <a:ext cx="82296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7088E-FEBF-4055-A2DC-B220FD1E1E7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8" name="Дата 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767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ролик, видео и прочие особы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bar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5850"/>
            <a:ext cx="762317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noProof="0"/>
              <a:t>Образец подзаголовка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>
          <a:xfrm>
            <a:off x="722049" y="2355850"/>
            <a:ext cx="7690114" cy="1384994"/>
          </a:xfrm>
        </p:spPr>
        <p:txBody>
          <a:bodyPr rtlCol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lang="en-US" sz="6500" b="0" i="1" kern="1200" baseline="0" dirty="0" smtClean="0">
                <a:ln>
                  <a:solidFill>
                    <a:schemeClr val="tx1">
                      <a:alpha val="21000"/>
                    </a:schemeClr>
                  </a:solidFill>
                </a:ln>
                <a:gradFill>
                  <a:gsLst>
                    <a:gs pos="6000">
                      <a:schemeClr val="accent4">
                        <a:lumMod val="75000"/>
                      </a:schemeClr>
                    </a:gs>
                    <a:gs pos="50000">
                      <a:schemeClr val="accent4">
                        <a:lumMod val="50000"/>
                      </a:schemeClr>
                    </a:gs>
                    <a:gs pos="100000">
                      <a:schemeClr val="bg2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effectLst>
                  <a:outerShdw blurRad="139700" dir="16200000" rotWithShape="0">
                    <a:schemeClr val="tx1">
                      <a:alpha val="34000"/>
                    </a:schemeClr>
                  </a:outerShdw>
                </a:effectLst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240591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92100"/>
            <a:ext cx="8229600" cy="1384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457200" y="1905000"/>
            <a:ext cx="8229600" cy="41148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6F549B5-5F5A-48FA-AEE8-62190631FAB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69709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37E86E7F-1B08-4302-A6C1-53D35B904D33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5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A19EAE3F-8ED8-4BD9-A60D-B07BC4B98F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933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EEDE3-57D6-4A87-8436-06CF384FD9FB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23280-E00E-473A-AD3A-7AA7E249DE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073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8EB0654-7911-40EF-9DEE-3532D5B726E4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6A9A3DE7-B85E-4B63-81DE-77E0F781ADE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789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ADF0D-B82D-4535-B6A4-D55B0C0939C2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8B75C-88A4-47F7-A2FF-8F79A2D045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9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3DAF9-B2F3-44D5-8623-95B0601BD46C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8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6FA26-CB42-4532-9298-37617134B6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226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0C5A8-3C68-444C-8408-AD04FDB50D7F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4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4CEAE-8FD2-44DC-9A7E-E13CA225636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559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F3D30-7FE7-4940-A666-A33FF25C1BC9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3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0DE72-CA85-486C-A57C-19440A4EAC9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4558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A3C77-E352-4DB8-BA5E-35BA25B80F1F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A15B9-268B-4C39-89F0-6B9B4660F31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2352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 одним вырезанным скругленным углом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white"/>
              </a:solidFill>
            </a:endParaRPr>
          </a:p>
        </p:txBody>
      </p:sp>
      <p:sp>
        <p:nvSpPr>
          <p:cNvPr id="6" name="Прямоугольный треугольник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white"/>
              </a:solidFill>
            </a:endParaRPr>
          </a:p>
        </p:txBody>
      </p:sp>
      <p:sp>
        <p:nvSpPr>
          <p:cNvPr id="7" name="Полилиния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black"/>
              </a:solidFill>
              <a:latin typeface="Constantia"/>
              <a:cs typeface="Arial" charset="0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black"/>
              </a:solidFill>
              <a:latin typeface="Constantia"/>
              <a:cs typeface="Arial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9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6A69BB-D4A2-4E1A-AF58-6115D61A23F1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10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3505A-2963-44FB-84FB-9F9990C89F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0820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529AF-B2E6-42F1-BA44-6F5F685123B6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F1C21-CF12-4D5B-BE01-E9232CFF11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857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4E617-2C41-49D4-B51E-5727840060B2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5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039C6-7144-449F-870E-65CA39BA146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732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35163"/>
            <a:ext cx="4038600" cy="43894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35163"/>
            <a:ext cx="4038600" cy="43894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24FBA-7DE9-4382-8E04-795F9D6444FB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E35A6-4203-4655-BC6F-774880E6A1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6910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81000" y="457200"/>
            <a:ext cx="8397875" cy="5562600"/>
            <a:chOff x="240" y="288"/>
            <a:chExt cx="5290" cy="350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kumimoji="0" lang="ru-RU" altLang="ru-RU" sz="2400">
                <a:solidFill>
                  <a:srgbClr val="FFFFFF"/>
                </a:solidFill>
                <a:latin typeface="Times New Roman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kumimoji="0" lang="ru-RU" altLang="ru-RU" sz="2400">
                <a:solidFill>
                  <a:srgbClr val="FFFFFF"/>
                </a:solidFill>
                <a:latin typeface="Times New Roman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kumimoji="0" lang="ru-RU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0"/>
            <a:ext cx="9144000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9" name="Rectangle 13"/>
          <p:cNvSpPr>
            <a:spLocks noChangeArrowheads="1"/>
          </p:cNvSpPr>
          <p:nvPr userDrawn="1"/>
        </p:nvSpPr>
        <p:spPr bwMode="auto">
          <a:xfrm>
            <a:off x="0" y="0"/>
            <a:ext cx="935038" cy="70294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CC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ru-RU" altLang="ru-RU" sz="2400">
              <a:solidFill>
                <a:srgbClr val="FFFFFF"/>
              </a:solidFill>
              <a:latin typeface="Times New Roman" pitchFamily="18" charset="0"/>
              <a:cs typeface="Arial" panose="020B0604020202020204" pitchFamily="34" charset="0"/>
            </a:endParaRPr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ctrTitle"/>
          </p:nvPr>
        </p:nvSpPr>
        <p:spPr bwMode="auto">
          <a:xfrm>
            <a:off x="1219200" y="838200"/>
            <a:ext cx="6781800" cy="25590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ctr">
              <a:defRPr sz="6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733800"/>
            <a:ext cx="6400800" cy="1873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536575" y="6248400"/>
            <a:ext cx="2054225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fld id="{BF88B164-941F-4FDA-8FD7-0EB8A92FE327}" type="datetime1">
              <a:rPr kumimoji="0" lang="ru-RU">
                <a:solidFill>
                  <a:srgbClr val="FFFFFF"/>
                </a:solidFill>
                <a:cs typeface="Arial" panose="020B0604020202020204" pitchFamily="34" charset="0"/>
              </a:rPr>
              <a:pPr>
                <a:defRPr/>
              </a:pPr>
              <a:t>26.02.2023</a:t>
            </a:fld>
            <a:endParaRPr kumimoji="0" lang="ru-RU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9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251200" y="6248400"/>
            <a:ext cx="288766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kumimoji="0" lang="ru-RU">
                <a:solidFill>
                  <a:srgbClr val="FFFFFF"/>
                </a:solidFill>
                <a:cs typeface="Arial" panose="020B0604020202020204" pitchFamily="34" charset="0"/>
              </a:rPr>
              <a:t>СТЭЛ -- Компьютерные Системы, Москва. www.stel.ru</a:t>
            </a: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8150" y="625792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B5E574D9-50D2-4668-A1C1-B0A957036742}" type="slidenum">
              <a:rPr kumimoji="0" lang="ru-RU" altLang="ru-RU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kumimoji="0" lang="ru-RU" altLang="ru-RU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28100"/>
      </p:ext>
    </p:extLst>
  </p:cSld>
  <p:clrMapOvr>
    <a:masterClrMapping/>
  </p:clrMapOvr>
  <p:transition spd="med">
    <p:strips dir="rd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13527751"/>
      </p:ext>
    </p:extLst>
  </p:cSld>
  <p:clrMapOvr>
    <a:masterClrMapping/>
  </p:clrMapOvr>
  <p:transition spd="med">
    <p:strips dir="r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91657363"/>
      </p:ext>
    </p:extLst>
  </p:cSld>
  <p:clrMapOvr>
    <a:masterClrMapping/>
  </p:clrMapOvr>
  <p:transition spd="med">
    <p:strips dir="rd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33613275"/>
      </p:ext>
    </p:extLst>
  </p:cSld>
  <p:clrMapOvr>
    <a:masterClrMapping/>
  </p:clrMapOvr>
  <p:transition spd="med">
    <p:strips dir="r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76974756"/>
      </p:ext>
    </p:extLst>
  </p:cSld>
  <p:clrMapOvr>
    <a:masterClrMapping/>
  </p:clrMapOvr>
  <p:transition spd="med">
    <p:strips dir="rd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9807010"/>
      </p:ext>
    </p:extLst>
  </p:cSld>
  <p:clrMapOvr>
    <a:masterClrMapping/>
  </p:clrMapOvr>
  <p:transition spd="med">
    <p:strips dir="rd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61783"/>
      </p:ext>
    </p:extLst>
  </p:cSld>
  <p:clrMapOvr>
    <a:masterClrMapping/>
  </p:clrMapOvr>
  <p:transition spd="med">
    <p:strips dir="rd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4158275"/>
      </p:ext>
    </p:extLst>
  </p:cSld>
  <p:clrMapOvr>
    <a:masterClrMapping/>
  </p:clrMapOvr>
  <p:transition spd="med">
    <p:strips dir="rd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74578855"/>
      </p:ext>
    </p:extLst>
  </p:cSld>
  <p:clrMapOvr>
    <a:masterClrMapping/>
  </p:clrMapOvr>
  <p:transition spd="med">
    <p:strips dir="rd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39375123"/>
      </p:ext>
    </p:extLst>
  </p:cSld>
  <p:clrMapOvr>
    <a:masterClrMapping/>
  </p:clrMapOvr>
  <p:transition spd="med">
    <p:strips dir="rd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46268322"/>
      </p:ext>
    </p:extLst>
  </p:cSld>
  <p:clrMapOvr>
    <a:masterClrMapping/>
  </p:clrMapOvr>
  <p:transition spd="med">
    <p:strips dir="rd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01908044"/>
      </p:ext>
    </p:extLst>
  </p:cSld>
  <p:clrMapOvr>
    <a:masterClrMapping/>
  </p:clrMapOvr>
  <p:transition spd="med">
    <p:strips dir="rd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Заголовок и два объекта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>
          <a:xfrm>
            <a:off x="457200" y="4000500"/>
            <a:ext cx="8229600" cy="1866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kumimoji="0" lang="ru-RU">
              <a:solidFill>
                <a:srgbClr val="FFFFFF">
                  <a:lumMod val="50000"/>
                  <a:lumOff val="50000"/>
                </a:srgbClr>
              </a:solidFill>
              <a:cs typeface="Arial" panose="020B0604020202020204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fld id="{497F308B-40D6-4EC2-ACC4-8227A2B3E312}" type="slidenum">
              <a:rPr kumimoji="0" lang="ru-RU">
                <a:solidFill>
                  <a:srgbClr val="FFFFFF"/>
                </a:solidFill>
                <a:cs typeface="Arial" panose="020B0604020202020204" pitchFamily="34" charset="0"/>
              </a:rPr>
              <a:pPr/>
              <a:t>‹#›</a:t>
            </a:fld>
            <a:endParaRPr kumimoji="0" lang="ru-RU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kumimoji="0" lang="ru-RU">
              <a:solidFill>
                <a:srgbClr val="FFFFFF">
                  <a:lumMod val="50000"/>
                  <a:lumOff val="50000"/>
                </a:srgb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46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 b="1"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fld id="{415149BA-AD9F-4E78-B9B4-79158A72195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42" r:id="rId2"/>
    <p:sldLayoutId id="2147483860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61" r:id="rId9"/>
    <p:sldLayoutId id="2147483848" r:id="rId10"/>
    <p:sldLayoutId id="2147483849" r:id="rId11"/>
    <p:sldLayoutId id="2147483862" r:id="rId12"/>
    <p:sldLayoutId id="2147483880" r:id="rId13"/>
    <p:sldLayoutId id="2147483881" r:id="rId14"/>
  </p:sldLayoutIdLst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603020202020204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603020202020204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603020202020204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black"/>
              </a:solidFill>
              <a:latin typeface="Constantia"/>
              <a:cs typeface="Arial" charset="0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black"/>
              </a:solidFill>
              <a:latin typeface="Constantia"/>
              <a:cs typeface="Arial" charset="0"/>
            </a:endParaRPr>
          </a:p>
        </p:txBody>
      </p:sp>
      <p:sp>
        <p:nvSpPr>
          <p:cNvPr id="2052" name="Заголовок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en-US" altLang="ru-RU"/>
          </a:p>
        </p:txBody>
      </p:sp>
      <p:sp>
        <p:nvSpPr>
          <p:cNvPr id="2053" name="Текст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rgbClr val="04617B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8B83D4D-E109-445B-96DC-3900A15DCAAF}" type="datetime1">
              <a:rPr lang="ru-RU"/>
              <a:pPr>
                <a:defRPr/>
              </a:pPr>
              <a:t>26.02.2023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04617B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04617B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7D7FBCB-4BD6-431B-A2B2-6AC79D55DA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2057" name="Группа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solidFill>
                  <a:prstClr val="black"/>
                </a:solidFill>
                <a:latin typeface="Constantia"/>
                <a:cs typeface="Arial" charset="0"/>
              </a:endParaRPr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solidFill>
                  <a:prstClr val="black"/>
                </a:solidFill>
                <a:latin typeface="Constantia"/>
                <a:cs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50" r:id="rId2"/>
    <p:sldLayoutId id="2147483864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65" r:id="rId9"/>
    <p:sldLayoutId id="2147483856" r:id="rId10"/>
    <p:sldLayoutId id="2147483857" r:id="rId11"/>
    <p:sldLayoutId id="214748385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94771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</p:sldLayoutIdLst>
  <p:transition spd="med">
    <p:strips dir="rd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ru.wikipedia.org/wiki/DB2" TargetMode="External"/><Relationship Id="rId3" Type="http://schemas.openxmlformats.org/officeDocument/2006/relationships/hyperlink" Target="http://ru.wikipedia.org/wiki/%D0%94%D0%B5%D0%B9%D1%82,_%D0%9A%D1%80%D0%B8%D1%81%D1%82%D0%BE%D1%84%D0%B5%D1%80" TargetMode="External"/><Relationship Id="rId7" Type="http://schemas.openxmlformats.org/officeDocument/2006/relationships/hyperlink" Target="http://ru.wikipedia.org/wiki/MySQL_AB" TargetMode="External"/><Relationship Id="rId2" Type="http://schemas.openxmlformats.org/officeDocument/2006/relationships/hyperlink" Target="http://ru.wikipedia.org/wiki/%D0%9A%D0%BE%D0%B4%D0%B4,_%D0%AD%D0%B4%D0%B3%D0%B0%D1%80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ru.wikipedia.org/wiki/Microsoft" TargetMode="External"/><Relationship Id="rId5" Type="http://schemas.openxmlformats.org/officeDocument/2006/relationships/hyperlink" Target="http://ru.wikipedia.org/wiki/Sybase" TargetMode="External"/><Relationship Id="rId4" Type="http://schemas.openxmlformats.org/officeDocument/2006/relationships/hyperlink" Target="http://ru.wikipedia.org/wiki/Oracle_Corpora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" TargetMode="External"/><Relationship Id="rId2" Type="http://schemas.openxmlformats.org/officeDocument/2006/relationships/hyperlink" Target="http://www.oracle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1439863" y="1736923"/>
            <a:ext cx="7775575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0" lang="ru-RU" sz="3400" b="1" dirty="0" smtClean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3333CC">
                    <a:lumMod val="40000"/>
                    <a:lumOff val="60000"/>
                  </a:srgbClr>
                </a:solidFill>
                <a:latin typeface="Arial" charset="0"/>
                <a:cs typeface="Arial" charset="0"/>
              </a:rPr>
              <a:t>Язык </a:t>
            </a:r>
            <a:r>
              <a:rPr kumimoji="0" lang="ru-RU" sz="3400" b="1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3333CC">
                    <a:lumMod val="40000"/>
                    <a:lumOff val="60000"/>
                  </a:srgbClr>
                </a:solidFill>
                <a:latin typeface="Arial" charset="0"/>
                <a:cs typeface="Arial" charset="0"/>
              </a:rPr>
              <a:t>запросов </a:t>
            </a:r>
            <a:r>
              <a:rPr kumimoji="0" lang="en-US" sz="3400" b="1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3333CC">
                    <a:lumMod val="40000"/>
                    <a:lumOff val="60000"/>
                  </a:srgbClr>
                </a:solidFill>
                <a:latin typeface="Arial" charset="0"/>
                <a:cs typeface="Arial" charset="0"/>
              </a:rPr>
              <a:t>SQL. </a:t>
            </a:r>
            <a:r>
              <a:rPr kumimoji="0" lang="ru-RU" sz="3400" b="1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3333CC">
                    <a:lumMod val="40000"/>
                    <a:lumOff val="60000"/>
                  </a:srgbClr>
                </a:solidFill>
                <a:latin typeface="Arial" charset="0"/>
                <a:cs typeface="Arial" charset="0"/>
              </a:rPr>
              <a:t>Введение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-26988" y="-244475"/>
            <a:ext cx="1503363" cy="72723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CC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24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3033713" y="2601986"/>
            <a:ext cx="4149725" cy="131112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algn="ctr"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kumimoji="0" lang="ru-RU" sz="24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  <a:p>
            <a:pPr algn="ctr"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kumimoji="0" lang="ru-RU" sz="24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  <a:p>
            <a:pPr algn="ctr" eaLnBrk="1" hangingPunct="1">
              <a:lnSpc>
                <a:spcPct val="110000"/>
              </a:lnSpc>
              <a:buClr>
                <a:srgbClr val="CC0000"/>
              </a:buClr>
              <a:defRPr/>
            </a:pPr>
            <a:endParaRPr kumimoji="0" lang="ru-RU" sz="24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-684584" y="116632"/>
            <a:ext cx="6511925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>План лекции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59632" y="1700808"/>
            <a:ext cx="6400800" cy="3475037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ru-RU" altLang="ru-RU" b="1" dirty="0"/>
              <a:t>Общая характеристика SQL. 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ru-RU" altLang="ru-RU" b="1" dirty="0"/>
              <a:t>Стандарты SQL. 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ru-RU" altLang="ru-RU" b="1" dirty="0"/>
              <a:t>Реализации SQL в современных СУБД. SQL-серверы. </a:t>
            </a:r>
          </a:p>
        </p:txBody>
      </p:sp>
    </p:spTree>
    <p:extLst>
      <p:ext uri="{BB962C8B-B14F-4D97-AF65-F5344CB8AC3E}">
        <p14:creationId xmlns:p14="http://schemas.microsoft.com/office/powerpoint/2010/main" val="161985575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188" y="115888"/>
            <a:ext cx="7681912" cy="1524000"/>
          </a:xfrm>
        </p:spPr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7200" dirty="0">
                <a:solidFill>
                  <a:srgbClr val="FF0000"/>
                </a:solidFill>
                <a:latin typeface="Broadway" pitchFamily="82" charset="0"/>
                <a:cs typeface="Arial"/>
              </a:rPr>
              <a:t>SQL</a:t>
            </a:r>
            <a:endParaRPr lang="ru-RU" sz="72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1433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39725" y="1196975"/>
            <a:ext cx="7632700" cy="415925"/>
          </a:xfrm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ru-RU"/>
              <a:t>Structured Query Language </a:t>
            </a:r>
            <a:endParaRPr lang="ru-RU" altLang="ru-RU" b="0">
              <a:solidFill>
                <a:srgbClr val="000000"/>
              </a:solidFill>
            </a:endParaRPr>
          </a:p>
        </p:txBody>
      </p:sp>
      <p:sp>
        <p:nvSpPr>
          <p:cNvPr id="10244" name="Rectangle 3"/>
          <p:cNvSpPr txBox="1">
            <a:spLocks noChangeArrowheads="1"/>
          </p:cNvSpPr>
          <p:nvPr/>
        </p:nvSpPr>
        <p:spPr bwMode="auto">
          <a:xfrm>
            <a:off x="323850" y="2636838"/>
            <a:ext cx="8640763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12813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128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1281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1281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1281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ru-RU" sz="2800" b="1" dirty="0">
                <a:latin typeface="Courier New" pitchFamily="49" charset="0"/>
                <a:cs typeface="Courier New" pitchFamily="49" charset="0"/>
              </a:rPr>
              <a:t>SQL - </a:t>
            </a: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tructure </a:t>
            </a: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uery </a:t>
            </a: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L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anguage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ru-RU" sz="2800" b="1" dirty="0">
                <a:latin typeface="Courier New" pitchFamily="49" charset="0"/>
                <a:cs typeface="Courier New" pitchFamily="49" charset="0"/>
              </a:rPr>
              <a:t>Предшественником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SQL </a:t>
            </a:r>
            <a:r>
              <a:rPr lang="ru-RU" sz="2800" b="1" dirty="0">
                <a:latin typeface="Courier New" pitchFamily="49" charset="0"/>
                <a:cs typeface="Courier New" pitchFamily="49" charset="0"/>
              </a:rPr>
              <a:t>был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800" b="1" dirty="0">
                <a:latin typeface="Courier New" pitchFamily="49" charset="0"/>
                <a:cs typeface="Courier New" pitchFamily="49" charset="0"/>
              </a:rPr>
              <a:t>язык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SEQUEL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tructured </a:t>
            </a: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nglish </a:t>
            </a: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Qu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ery </a:t>
            </a: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L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anguage).</a:t>
            </a:r>
            <a:endParaRPr lang="ru-RU" sz="28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ru-RU" sz="2800" b="1" dirty="0">
                <a:latin typeface="Courier New" pitchFamily="49" charset="0"/>
                <a:cs typeface="Courier New" pitchFamily="49" charset="0"/>
              </a:rPr>
              <a:t>Близок к реляционному исчислению кортежей 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ru-RU" sz="2800" b="1" dirty="0">
                <a:latin typeface="Courier New" pitchFamily="49" charset="0"/>
                <a:cs typeface="Courier New" pitchFamily="49" charset="0"/>
              </a:rPr>
              <a:t>Был разработан в середине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800" b="1" dirty="0">
                <a:latin typeface="Courier New" pitchFamily="49" charset="0"/>
                <a:cs typeface="Courier New" pitchFamily="49" charset="0"/>
              </a:rPr>
              <a:t>1970 году (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IBM</a:t>
            </a:r>
            <a:r>
              <a:rPr lang="ru-RU" sz="2800" b="1" dirty="0">
                <a:latin typeface="Courier New" pitchFamily="49" charset="0"/>
                <a:cs typeface="Courier New" pitchFamily="49" charset="0"/>
              </a:rPr>
              <a:t>) –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System R</a:t>
            </a:r>
            <a:r>
              <a:rPr lang="ru-RU" sz="2800" b="1" dirty="0">
                <a:latin typeface="Courier New" pitchFamily="49" charset="0"/>
                <a:cs typeface="Courier New" pitchFamily="49" charset="0"/>
              </a:rPr>
              <a:t>. Первой коммерческой системой, в которой был реализован этот язык, была система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Oracle</a:t>
            </a:r>
            <a:r>
              <a:rPr lang="ru-RU" sz="2800" b="1" dirty="0">
                <a:latin typeface="Courier New" pitchFamily="49" charset="0"/>
                <a:cs typeface="Courier New" pitchFamily="49" charset="0"/>
              </a:rPr>
              <a:t> (197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9</a:t>
            </a:r>
            <a:r>
              <a:rPr lang="ru-RU" sz="2800" b="1" dirty="0">
                <a:latin typeface="Courier New" pitchFamily="49" charset="0"/>
                <a:cs typeface="Courier New" pitchFamily="49" charset="0"/>
              </a:rPr>
              <a:t> г.). </a:t>
            </a:r>
          </a:p>
        </p:txBody>
      </p:sp>
    </p:spTree>
    <p:extLst>
      <p:ext uri="{BB962C8B-B14F-4D97-AF65-F5344CB8AC3E}">
        <p14:creationId xmlns:p14="http://schemas.microsoft.com/office/powerpoint/2010/main" val="94314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7772400" cy="715963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en-US" sz="3600" dirty="0">
                <a:solidFill>
                  <a:srgbClr val="FF0000"/>
                </a:solidFill>
                <a:latin typeface="Times New Roman" pitchFamily="18" charset="0"/>
              </a:rPr>
              <a:t>SQL</a:t>
            </a:r>
            <a:r>
              <a:rPr lang="ru-RU" sz="3600" dirty="0">
                <a:solidFill>
                  <a:srgbClr val="FF0000"/>
                </a:solidFill>
                <a:latin typeface="Times New Roman" pitchFamily="18" charset="0"/>
              </a:rPr>
              <a:t> –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</a:rPr>
              <a:t>Structured Query Language</a:t>
            </a:r>
            <a:endParaRPr lang="ru-RU" sz="36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-14264" y="620688"/>
            <a:ext cx="9158264" cy="44640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Aft>
                <a:spcPct val="20000"/>
              </a:spcAft>
            </a:pPr>
            <a:r>
              <a:rPr lang="ru-RU" altLang="ru-RU" b="1" dirty="0">
                <a:solidFill>
                  <a:srgbClr val="FF0000"/>
                </a:solidFill>
              </a:rPr>
              <a:t>SQL – это структурированный язык запросов </a:t>
            </a:r>
            <a:r>
              <a:rPr lang="ru-RU" altLang="ru-RU" dirty="0">
                <a:solidFill>
                  <a:srgbClr val="0D0D11"/>
                </a:solidFill>
              </a:rPr>
              <a:t>к реляционным базам данных (БД).</a:t>
            </a:r>
            <a:endParaRPr lang="en-US" altLang="ru-RU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spcAft>
                <a:spcPct val="20000"/>
              </a:spcAft>
            </a:pPr>
            <a:r>
              <a:rPr lang="ru-RU" altLang="ru-RU" b="1" dirty="0">
                <a:solidFill>
                  <a:srgbClr val="FF0000"/>
                </a:solidFill>
              </a:rPr>
              <a:t>SQL </a:t>
            </a:r>
            <a:r>
              <a:rPr lang="en-US" altLang="ru-RU" b="1" dirty="0">
                <a:solidFill>
                  <a:srgbClr val="FF0000"/>
                </a:solidFill>
              </a:rPr>
              <a:t>– </a:t>
            </a:r>
            <a:r>
              <a:rPr lang="ru-RU" altLang="ru-RU" b="1" dirty="0">
                <a:solidFill>
                  <a:srgbClr val="FF0000"/>
                </a:solidFill>
              </a:rPr>
              <a:t>декларативный язык</a:t>
            </a:r>
            <a:r>
              <a:rPr lang="ru-RU" altLang="ru-RU" dirty="0">
                <a:solidFill>
                  <a:srgbClr val="0D0D11"/>
                </a:solidFill>
              </a:rPr>
              <a:t>, основанный на операциях реляционной алгебры.</a:t>
            </a:r>
          </a:p>
          <a:p>
            <a:pPr eaLnBrk="1" hangingPunct="1">
              <a:lnSpc>
                <a:spcPct val="80000"/>
              </a:lnSpc>
              <a:spcAft>
                <a:spcPct val="20000"/>
              </a:spcAft>
            </a:pPr>
            <a:r>
              <a:rPr lang="ru-RU" altLang="ru-RU" dirty="0">
                <a:solidFill>
                  <a:srgbClr val="0D0D11"/>
                </a:solidFill>
              </a:rPr>
              <a:t>Стандарты SQL, определённые Американским национальным институтом стандартов (ANSI):</a:t>
            </a:r>
          </a:p>
          <a:p>
            <a:pPr lvl="1" eaLnBrk="1" hangingPunct="1"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Char char="ü"/>
            </a:pPr>
            <a:r>
              <a:rPr lang="ru-RU" altLang="ru-RU" sz="2200" dirty="0">
                <a:solidFill>
                  <a:srgbClr val="0D0D11"/>
                </a:solidFill>
              </a:rPr>
              <a:t>SQL-</a:t>
            </a:r>
            <a:r>
              <a:rPr lang="en-US" altLang="ru-RU" sz="2200" dirty="0">
                <a:solidFill>
                  <a:srgbClr val="0D0D11"/>
                </a:solidFill>
              </a:rPr>
              <a:t>1</a:t>
            </a:r>
            <a:r>
              <a:rPr lang="ru-RU" altLang="ru-RU" sz="2200" dirty="0">
                <a:solidFill>
                  <a:srgbClr val="0D0D11"/>
                </a:solidFill>
              </a:rPr>
              <a:t> (SQL</a:t>
            </a:r>
            <a:r>
              <a:rPr lang="en-US" altLang="ru-RU" sz="2200" dirty="0">
                <a:solidFill>
                  <a:srgbClr val="0D0D11"/>
                </a:solidFill>
              </a:rPr>
              <a:t>/89</a:t>
            </a:r>
            <a:r>
              <a:rPr lang="ru-RU" altLang="ru-RU" sz="2200" dirty="0">
                <a:solidFill>
                  <a:srgbClr val="0D0D11"/>
                </a:solidFill>
              </a:rPr>
              <a:t>) – первый вариант стандарта.</a:t>
            </a:r>
          </a:p>
          <a:p>
            <a:pPr lvl="1" eaLnBrk="1" hangingPunct="1"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Char char="ü"/>
            </a:pPr>
            <a:r>
              <a:rPr lang="ru-RU" altLang="ru-RU" sz="2200" b="1" dirty="0">
                <a:solidFill>
                  <a:srgbClr val="0D0D11"/>
                </a:solidFill>
              </a:rPr>
              <a:t>SQL-2 (SQL</a:t>
            </a:r>
            <a:r>
              <a:rPr lang="en-US" altLang="ru-RU" sz="2200" b="1" dirty="0">
                <a:solidFill>
                  <a:srgbClr val="0D0D11"/>
                </a:solidFill>
              </a:rPr>
              <a:t>/9</a:t>
            </a:r>
            <a:r>
              <a:rPr lang="ru-RU" altLang="ru-RU" sz="2200" b="1" dirty="0">
                <a:solidFill>
                  <a:srgbClr val="0D0D11"/>
                </a:solidFill>
              </a:rPr>
              <a:t>2) – основной расширенный стандарт.</a:t>
            </a:r>
          </a:p>
          <a:p>
            <a:pPr lvl="1" eaLnBrk="1" hangingPunct="1"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Char char="ü"/>
            </a:pPr>
            <a:r>
              <a:rPr lang="ru-RU" altLang="ru-RU" sz="2200" dirty="0">
                <a:solidFill>
                  <a:srgbClr val="0D0D11"/>
                </a:solidFill>
              </a:rPr>
              <a:t>SQL-3 (</a:t>
            </a:r>
            <a:r>
              <a:rPr lang="en-US" altLang="ru-RU" sz="2200" dirty="0">
                <a:solidFill>
                  <a:srgbClr val="0D0D11"/>
                </a:solidFill>
              </a:rPr>
              <a:t>SQL/1999,</a:t>
            </a:r>
            <a:r>
              <a:rPr lang="ru-RU" altLang="ru-RU" sz="2200" dirty="0">
                <a:solidFill>
                  <a:srgbClr val="0D0D11"/>
                </a:solidFill>
              </a:rPr>
              <a:t> </a:t>
            </a:r>
            <a:r>
              <a:rPr lang="en-US" altLang="ru-RU" sz="2200" dirty="0">
                <a:solidFill>
                  <a:srgbClr val="0D0D11"/>
                </a:solidFill>
              </a:rPr>
              <a:t>SQL/</a:t>
            </a:r>
            <a:r>
              <a:rPr lang="ru-RU" altLang="ru-RU" sz="2200" dirty="0">
                <a:solidFill>
                  <a:srgbClr val="0D0D11"/>
                </a:solidFill>
              </a:rPr>
              <a:t>2003) – относится к объектно-реляционной модели данных.</a:t>
            </a:r>
          </a:p>
          <a:p>
            <a:pPr eaLnBrk="1" hangingPunct="1">
              <a:lnSpc>
                <a:spcPct val="80000"/>
              </a:lnSpc>
              <a:spcAft>
                <a:spcPct val="20000"/>
              </a:spcAft>
            </a:pPr>
            <a:r>
              <a:rPr lang="ru-RU" altLang="ru-RU" dirty="0">
                <a:solidFill>
                  <a:srgbClr val="0D0D11"/>
                </a:solidFill>
              </a:rPr>
              <a:t>Подмножества языка SQL: </a:t>
            </a:r>
          </a:p>
          <a:p>
            <a:pPr marL="533400" lvl="1" indent="-27305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ru-RU" b="1" dirty="0">
                <a:solidFill>
                  <a:srgbClr val="FF0000"/>
                </a:solidFill>
              </a:rPr>
              <a:t>DDL</a:t>
            </a:r>
            <a:r>
              <a:rPr lang="en-US" altLang="ru-RU" dirty="0">
                <a:solidFill>
                  <a:srgbClr val="0D0D11"/>
                </a:solidFill>
              </a:rPr>
              <a:t> </a:t>
            </a:r>
            <a:r>
              <a:rPr lang="ru-RU" altLang="ru-RU" dirty="0">
                <a:solidFill>
                  <a:srgbClr val="0D0D11"/>
                </a:solidFill>
              </a:rPr>
              <a:t>(</a:t>
            </a:r>
            <a:r>
              <a:rPr lang="en-US" altLang="ru-RU" dirty="0">
                <a:solidFill>
                  <a:srgbClr val="0D0D11"/>
                </a:solidFill>
              </a:rPr>
              <a:t>Data Definition Language</a:t>
            </a:r>
            <a:r>
              <a:rPr lang="ru-RU" altLang="ru-RU" dirty="0">
                <a:solidFill>
                  <a:srgbClr val="0D0D11"/>
                </a:solidFill>
              </a:rPr>
              <a:t>)</a:t>
            </a:r>
            <a:r>
              <a:rPr lang="en-US" altLang="ru-RU" dirty="0">
                <a:solidFill>
                  <a:srgbClr val="0D0D11"/>
                </a:solidFill>
              </a:rPr>
              <a:t> – </a:t>
            </a:r>
            <a:r>
              <a:rPr lang="ru-RU" altLang="ru-RU" dirty="0">
                <a:solidFill>
                  <a:srgbClr val="0D0D11"/>
                </a:solidFill>
              </a:rPr>
              <a:t>команды создания/изменения/удаления объектов базы данных (</a:t>
            </a:r>
            <a:r>
              <a:rPr lang="ru-RU" altLang="ru-RU" i="1" dirty="0" err="1">
                <a:solidFill>
                  <a:srgbClr val="0D0D11"/>
                </a:solidFill>
              </a:rPr>
              <a:t>create</a:t>
            </a:r>
            <a:r>
              <a:rPr lang="ru-RU" altLang="ru-RU" i="1" dirty="0">
                <a:solidFill>
                  <a:srgbClr val="0D0D11"/>
                </a:solidFill>
              </a:rPr>
              <a:t>/</a:t>
            </a:r>
            <a:r>
              <a:rPr lang="ru-RU" altLang="ru-RU" i="1" dirty="0" err="1">
                <a:solidFill>
                  <a:srgbClr val="0D0D11"/>
                </a:solidFill>
              </a:rPr>
              <a:t>alter</a:t>
            </a:r>
            <a:r>
              <a:rPr lang="ru-RU" altLang="ru-RU" i="1" dirty="0">
                <a:solidFill>
                  <a:srgbClr val="0D0D11"/>
                </a:solidFill>
              </a:rPr>
              <a:t>/</a:t>
            </a:r>
            <a:r>
              <a:rPr lang="ru-RU" altLang="ru-RU" i="1" dirty="0" err="1">
                <a:solidFill>
                  <a:srgbClr val="0D0D11"/>
                </a:solidFill>
              </a:rPr>
              <a:t>drop</a:t>
            </a:r>
            <a:r>
              <a:rPr lang="ru-RU" altLang="ru-RU" dirty="0">
                <a:solidFill>
                  <a:srgbClr val="0D0D11"/>
                </a:solidFill>
              </a:rPr>
              <a:t>);</a:t>
            </a:r>
          </a:p>
          <a:p>
            <a:pPr marL="533400" lvl="1" indent="-27305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ru-RU" b="1" dirty="0">
                <a:solidFill>
                  <a:srgbClr val="FF0000"/>
                </a:solidFill>
              </a:rPr>
              <a:t>DML</a:t>
            </a:r>
            <a:r>
              <a:rPr lang="en-US" altLang="ru-RU" dirty="0">
                <a:solidFill>
                  <a:srgbClr val="0D0D11"/>
                </a:solidFill>
              </a:rPr>
              <a:t> </a:t>
            </a:r>
            <a:r>
              <a:rPr lang="ru-RU" altLang="ru-RU" dirty="0">
                <a:solidFill>
                  <a:srgbClr val="0D0D11"/>
                </a:solidFill>
              </a:rPr>
              <a:t>(</a:t>
            </a:r>
            <a:r>
              <a:rPr lang="en-US" altLang="ru-RU" dirty="0">
                <a:solidFill>
                  <a:srgbClr val="0D0D11"/>
                </a:solidFill>
              </a:rPr>
              <a:t>Data Manipulation Language</a:t>
            </a:r>
            <a:r>
              <a:rPr lang="ru-RU" altLang="ru-RU" dirty="0">
                <a:solidFill>
                  <a:srgbClr val="0D0D11"/>
                </a:solidFill>
              </a:rPr>
              <a:t>)</a:t>
            </a:r>
            <a:r>
              <a:rPr lang="en-US" altLang="ru-RU" dirty="0">
                <a:solidFill>
                  <a:srgbClr val="0D0D11"/>
                </a:solidFill>
              </a:rPr>
              <a:t> – </a:t>
            </a:r>
            <a:r>
              <a:rPr lang="ru-RU" altLang="ru-RU" dirty="0">
                <a:solidFill>
                  <a:srgbClr val="0D0D11"/>
                </a:solidFill>
              </a:rPr>
              <a:t>команды</a:t>
            </a:r>
            <a:r>
              <a:rPr lang="en-US" altLang="ru-RU" dirty="0">
                <a:solidFill>
                  <a:srgbClr val="0D0D11"/>
                </a:solidFill>
              </a:rPr>
              <a:t> </a:t>
            </a:r>
            <a:r>
              <a:rPr lang="ru-RU" altLang="ru-RU" dirty="0">
                <a:solidFill>
                  <a:srgbClr val="0D0D11"/>
                </a:solidFill>
              </a:rPr>
              <a:t>добавления/модификации/удаления данных (</a:t>
            </a:r>
            <a:r>
              <a:rPr lang="ru-RU" altLang="ru-RU" i="1" dirty="0" err="1">
                <a:solidFill>
                  <a:srgbClr val="0D0D11"/>
                </a:solidFill>
              </a:rPr>
              <a:t>insert</a:t>
            </a:r>
            <a:r>
              <a:rPr lang="ru-RU" altLang="ru-RU" i="1" dirty="0">
                <a:solidFill>
                  <a:srgbClr val="0D0D11"/>
                </a:solidFill>
              </a:rPr>
              <a:t>/</a:t>
            </a:r>
            <a:r>
              <a:rPr lang="ru-RU" altLang="ru-RU" i="1" dirty="0" err="1">
                <a:solidFill>
                  <a:srgbClr val="0D0D11"/>
                </a:solidFill>
              </a:rPr>
              <a:t>update</a:t>
            </a:r>
            <a:r>
              <a:rPr lang="ru-RU" altLang="ru-RU" i="1" dirty="0">
                <a:solidFill>
                  <a:srgbClr val="0D0D11"/>
                </a:solidFill>
              </a:rPr>
              <a:t>/</a:t>
            </a:r>
            <a:r>
              <a:rPr lang="ru-RU" altLang="ru-RU" i="1" dirty="0" err="1">
                <a:solidFill>
                  <a:srgbClr val="0D0D11"/>
                </a:solidFill>
              </a:rPr>
              <a:t>delete</a:t>
            </a:r>
            <a:r>
              <a:rPr lang="ru-RU" altLang="ru-RU" dirty="0">
                <a:solidFill>
                  <a:srgbClr val="0D0D11"/>
                </a:solidFill>
              </a:rPr>
              <a:t>), а также команда извлечения данных </a:t>
            </a:r>
            <a:r>
              <a:rPr lang="ru-RU" altLang="ru-RU" i="1" dirty="0" err="1">
                <a:solidFill>
                  <a:srgbClr val="0D0D11"/>
                </a:solidFill>
              </a:rPr>
              <a:t>select</a:t>
            </a:r>
            <a:r>
              <a:rPr lang="en-US" altLang="ru-RU" i="1" dirty="0">
                <a:solidFill>
                  <a:srgbClr val="0D0D11"/>
                </a:solidFill>
              </a:rPr>
              <a:t>;</a:t>
            </a:r>
          </a:p>
          <a:p>
            <a:pPr marL="533400" lvl="1" indent="-273050" ea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ru-RU" dirty="0">
                <a:solidFill>
                  <a:srgbClr val="0D0D11"/>
                </a:solidFill>
              </a:rPr>
              <a:t>DCL </a:t>
            </a:r>
            <a:r>
              <a:rPr lang="ru-RU" altLang="ru-RU" dirty="0">
                <a:solidFill>
                  <a:srgbClr val="0D0D11"/>
                </a:solidFill>
              </a:rPr>
              <a:t>(</a:t>
            </a:r>
            <a:r>
              <a:rPr lang="en-US" altLang="ru-RU" dirty="0">
                <a:solidFill>
                  <a:srgbClr val="0D0D11"/>
                </a:solidFill>
              </a:rPr>
              <a:t>Data Control Language</a:t>
            </a:r>
            <a:r>
              <a:rPr lang="ru-RU" altLang="ru-RU" dirty="0">
                <a:solidFill>
                  <a:srgbClr val="0D0D11"/>
                </a:solidFill>
              </a:rPr>
              <a:t>)</a:t>
            </a:r>
            <a:r>
              <a:rPr lang="en-US" altLang="ru-RU" dirty="0">
                <a:solidFill>
                  <a:srgbClr val="0D0D11"/>
                </a:solidFill>
              </a:rPr>
              <a:t> – </a:t>
            </a:r>
            <a:r>
              <a:rPr lang="ru-RU" altLang="ru-RU" dirty="0">
                <a:solidFill>
                  <a:srgbClr val="0D0D11"/>
                </a:solidFill>
              </a:rPr>
              <a:t>команды управления данными (установка/снятие ограничений целостности). Входит в подмножество </a:t>
            </a:r>
            <a:r>
              <a:rPr lang="en-US" altLang="ru-RU" dirty="0">
                <a:solidFill>
                  <a:srgbClr val="0D0D11"/>
                </a:solidFill>
              </a:rPr>
              <a:t>DDL</a:t>
            </a:r>
            <a:r>
              <a:rPr lang="ru-RU" altLang="ru-RU" dirty="0">
                <a:solidFill>
                  <a:srgbClr val="0D0D1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7358063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lang="ru-RU" dirty="0">
                <a:latin typeface="Arial" pitchFamily="34" charset="0"/>
              </a:rPr>
              <a:t>Язык </a:t>
            </a:r>
            <a:r>
              <a:rPr>
                <a:latin typeface="Arial" pitchFamily="34" charset="0"/>
              </a:rPr>
              <a:t>SQL</a:t>
            </a:r>
            <a:endParaRPr lang="ru-RU" dirty="0"/>
          </a:p>
        </p:txBody>
      </p:sp>
      <p:sp>
        <p:nvSpPr>
          <p:cNvPr id="20483" name="Заголовок 1"/>
          <p:cNvSpPr txBox="1">
            <a:spLocks/>
          </p:cNvSpPr>
          <p:nvPr/>
        </p:nvSpPr>
        <p:spPr bwMode="auto">
          <a:xfrm>
            <a:off x="571500" y="1285875"/>
            <a:ext cx="8286750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>
                <a:latin typeface="Calibri" panose="020F0502020204030204" pitchFamily="34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800">
                <a:latin typeface="Calibri" panose="020F0502020204030204" pitchFamily="34" charset="0"/>
              </a:rPr>
              <a:t>Structured Query Language</a:t>
            </a:r>
            <a:r>
              <a:rPr lang="ru-RU" altLang="ru-RU" sz="2800">
                <a:latin typeface="Calibri" panose="020F0502020204030204" pitchFamily="34" charset="0"/>
              </a:rPr>
              <a:t> – </a:t>
            </a:r>
            <a:r>
              <a:rPr lang="ru-RU" altLang="ru-RU" sz="2800" b="0">
                <a:latin typeface="Calibri" panose="020F0502020204030204" pitchFamily="34" charset="0"/>
              </a:rPr>
              <a:t>стандартный язык управления реляционными базами данных с архитектурой клиент-сервер. </a:t>
            </a:r>
            <a:endParaRPr lang="en-US" altLang="ru-RU" sz="28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>
                <a:latin typeface="Calibri" panose="020F0502020204030204" pitchFamily="34" charset="0"/>
              </a:rPr>
              <a:t>Целью разработки было создание простого непроцедурного языка, которым мог бы воспользоваться любой пользователь, даже не имеющий навыков программирования.</a:t>
            </a:r>
            <a:endParaRPr lang="en-US" altLang="ru-RU" sz="28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>
                <a:latin typeface="Calibri" panose="020F0502020204030204" pitchFamily="34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>
                <a:latin typeface="Calibri" panose="020F0502020204030204" pitchFamily="34" charset="0"/>
              </a:rPr>
              <a:t>Правило №5 д-ра Кодда</a:t>
            </a:r>
            <a:r>
              <a:rPr lang="ru-RU" altLang="ru-RU" sz="2800" b="0">
                <a:latin typeface="Calibri" panose="020F0502020204030204" pitchFamily="34" charset="0"/>
              </a:rPr>
              <a:t> (из правил-требований к реляционной модели) гласит: язык доступа к данным должен быть единственным способом доступа к данным в реляционной СУБД.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8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448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0603" y="-27670"/>
            <a:ext cx="7358063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lang="ru-RU" sz="3600" dirty="0">
                <a:latin typeface="Arial" pitchFamily="34" charset="0"/>
              </a:rPr>
              <a:t>Язык </a:t>
            </a:r>
            <a:r>
              <a:rPr sz="3600" dirty="0">
                <a:latin typeface="Arial" pitchFamily="34" charset="0"/>
              </a:rPr>
              <a:t>SQL</a:t>
            </a:r>
            <a:r>
              <a:rPr lang="ru-RU" sz="3600" dirty="0">
                <a:latin typeface="Arial" pitchFamily="34" charset="0"/>
              </a:rPr>
              <a:t>- стандарты</a:t>
            </a:r>
            <a:endParaRPr lang="ru-RU" sz="3600" dirty="0"/>
          </a:p>
        </p:txBody>
      </p:sp>
      <p:sp>
        <p:nvSpPr>
          <p:cNvPr id="21507" name="Заголовок 1"/>
          <p:cNvSpPr txBox="1">
            <a:spLocks/>
          </p:cNvSpPr>
          <p:nvPr/>
        </p:nvSpPr>
        <p:spPr bwMode="auto">
          <a:xfrm>
            <a:off x="571500" y="1285875"/>
            <a:ext cx="8286750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 dirty="0">
                <a:latin typeface="Calibri" panose="020F0502020204030204" pitchFamily="34" charset="0"/>
              </a:rPr>
              <a:t>	Поскольку к началу 1980-х годов существовало несколько вариантов СУБД от разных производителей, причём каждый из них обладал собственной реализацией языка запросов, было принято решение разработать стандарт языка, который будет гарантировать переносимость ПО с одной СУБД на другую (при условии, что они будут поддерживать этот стандарт).</a:t>
            </a:r>
            <a:endParaRPr lang="en-US" altLang="ru-RU" sz="28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 dirty="0">
                <a:latin typeface="Calibri" panose="020F0502020204030204" pitchFamily="34" charset="0"/>
              </a:rPr>
              <a:t>				</a:t>
            </a:r>
            <a:r>
              <a:rPr lang="ru-RU" altLang="ru-RU" sz="2800" b="0" i="1" dirty="0">
                <a:latin typeface="Calibri" panose="020F0502020204030204" pitchFamily="34" charset="0"/>
              </a:rPr>
              <a:t>Основные стандарты: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 dirty="0">
                <a:latin typeface="Calibri" panose="020F0502020204030204" pitchFamily="34" charset="0"/>
              </a:rPr>
              <a:t>				1986 г. - </a:t>
            </a:r>
            <a:r>
              <a:rPr lang="en-AU" altLang="ru-RU" sz="2800" b="0" dirty="0">
                <a:latin typeface="Calibri" panose="020F0502020204030204" pitchFamily="34" charset="0"/>
              </a:rPr>
              <a:t>SQL-86</a:t>
            </a:r>
            <a:r>
              <a:rPr lang="ru-RU" altLang="ru-RU" sz="2800" b="0" dirty="0">
                <a:latin typeface="Calibri" panose="020F0502020204030204" pitchFamily="34" charset="0"/>
              </a:rPr>
              <a:t> </a:t>
            </a:r>
            <a:r>
              <a:rPr lang="en-US" altLang="ru-RU" sz="2800" b="0" dirty="0">
                <a:latin typeface="Calibri" panose="020F0502020204030204" pitchFamily="34" charset="0"/>
              </a:rPr>
              <a:t>(SQL</a:t>
            </a:r>
            <a:r>
              <a:rPr lang="ru-RU" altLang="ru-RU" sz="2800" b="0" dirty="0">
                <a:latin typeface="Calibri" panose="020F0502020204030204" pitchFamily="34" charset="0"/>
              </a:rPr>
              <a:t>1)</a:t>
            </a:r>
            <a:endParaRPr lang="en-US" altLang="ru-RU" sz="28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 dirty="0">
                <a:latin typeface="Calibri" panose="020F0502020204030204" pitchFamily="34" charset="0"/>
              </a:rPr>
              <a:t>				</a:t>
            </a:r>
            <a:r>
              <a:rPr lang="en-US" altLang="ru-RU" sz="2800" b="0" dirty="0">
                <a:latin typeface="Calibri" panose="020F0502020204030204" pitchFamily="34" charset="0"/>
              </a:rPr>
              <a:t>1992 </a:t>
            </a:r>
            <a:r>
              <a:rPr lang="ru-RU" altLang="ru-RU" sz="2800" b="0" dirty="0">
                <a:latin typeface="Calibri" panose="020F0502020204030204" pitchFamily="34" charset="0"/>
              </a:rPr>
              <a:t>г. - </a:t>
            </a:r>
            <a:r>
              <a:rPr lang="en-US" altLang="ru-RU" sz="2800" b="0" dirty="0">
                <a:latin typeface="Calibri" panose="020F0502020204030204" pitchFamily="34" charset="0"/>
              </a:rPr>
              <a:t>SQL2</a:t>
            </a:r>
            <a:endParaRPr lang="ru-RU" altLang="ru-RU" sz="28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 dirty="0">
                <a:latin typeface="Calibri" panose="020F0502020204030204" pitchFamily="34" charset="0"/>
              </a:rPr>
              <a:t>				1999 г. – </a:t>
            </a:r>
            <a:r>
              <a:rPr lang="en-US" altLang="ru-RU" sz="2800" b="0" dirty="0">
                <a:latin typeface="Calibri" panose="020F0502020204030204" pitchFamily="34" charset="0"/>
              </a:rPr>
              <a:t>SQL3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800" b="0" dirty="0">
                <a:latin typeface="Calibri" panose="020F0502020204030204" pitchFamily="34" charset="0"/>
              </a:rPr>
              <a:t>                                             </a:t>
            </a:r>
            <a:r>
              <a:rPr lang="ru-RU" altLang="ru-RU" sz="2800" b="0" dirty="0">
                <a:latin typeface="Calibri" panose="020F0502020204030204" pitchFamily="34" charset="0"/>
              </a:rPr>
              <a:t>2003 г. – </a:t>
            </a:r>
            <a:r>
              <a:rPr lang="en-US" altLang="ru-RU" sz="2800" b="0" dirty="0">
                <a:latin typeface="Calibri" panose="020F0502020204030204" pitchFamily="34" charset="0"/>
              </a:rPr>
              <a:t>SQL</a:t>
            </a:r>
            <a:r>
              <a:rPr lang="ru-RU" altLang="ru-RU" sz="2800" b="0" dirty="0">
                <a:latin typeface="Calibri" panose="020F0502020204030204" pitchFamily="34" charset="0"/>
              </a:rPr>
              <a:t>2003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800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4646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-1483"/>
            <a:ext cx="8215313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lang="ru-RU" sz="3600" dirty="0">
                <a:latin typeface="Arial" pitchFamily="34" charset="0"/>
              </a:rPr>
              <a:t>Язык </a:t>
            </a:r>
            <a:r>
              <a:rPr sz="3600" dirty="0">
                <a:latin typeface="Arial" pitchFamily="34" charset="0"/>
              </a:rPr>
              <a:t>SQL</a:t>
            </a:r>
            <a:r>
              <a:rPr lang="ru-RU" sz="3600" dirty="0">
                <a:latin typeface="Arial" pitchFamily="34" charset="0"/>
              </a:rPr>
              <a:t>- </a:t>
            </a:r>
            <a:r>
              <a:rPr lang="ru-RU" sz="3600" b="1" dirty="0"/>
              <a:t>Преимущества</a:t>
            </a:r>
          </a:p>
        </p:txBody>
      </p:sp>
      <p:sp>
        <p:nvSpPr>
          <p:cNvPr id="22531" name="Заголовок 1"/>
          <p:cNvSpPr txBox="1">
            <a:spLocks/>
          </p:cNvSpPr>
          <p:nvPr/>
        </p:nvSpPr>
        <p:spPr bwMode="auto">
          <a:xfrm>
            <a:off x="251520" y="1196752"/>
            <a:ext cx="8678738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indent="36195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i="1" dirty="0">
                <a:solidFill>
                  <a:srgbClr val="FF0000"/>
                </a:solidFill>
                <a:latin typeface="Calibri" panose="020F0502020204030204" pitchFamily="34" charset="0"/>
              </a:rPr>
              <a:t>Независимость от конкретной СУБД</a:t>
            </a:r>
            <a:r>
              <a:rPr lang="ru-RU" altLang="ru-RU" sz="22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ru-RU" altLang="ru-RU" sz="2200" b="0" dirty="0">
                <a:latin typeface="Calibri" panose="020F0502020204030204" pitchFamily="34" charset="0"/>
              </a:rPr>
              <a:t>Несмотря на наличие диалектов и различий в синтаксисе, в большинстве своём тексты SQL-запросов, содержащие DDL и DML, могут быть достаточно легко перенесены из одной СУБД в другую. Существуют системы, разработчики которых изначально ориентировались на применение по меньшей мере нескольких СУБД.</a:t>
            </a:r>
          </a:p>
          <a:p>
            <a:pPr indent="36195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b="0" dirty="0">
                <a:latin typeface="Calibri" panose="020F0502020204030204" pitchFamily="34" charset="0"/>
              </a:rPr>
              <a:t> </a:t>
            </a:r>
          </a:p>
          <a:p>
            <a:pPr indent="36195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i="1" dirty="0">
                <a:solidFill>
                  <a:srgbClr val="FF0000"/>
                </a:solidFill>
                <a:latin typeface="Calibri" panose="020F0502020204030204" pitchFamily="34" charset="0"/>
              </a:rPr>
              <a:t>Наличие стандартов</a:t>
            </a:r>
            <a:r>
              <a:rPr lang="ru-RU" altLang="ru-RU" sz="2200" b="0" dirty="0">
                <a:latin typeface="Calibri" panose="020F0502020204030204" pitchFamily="34" charset="0"/>
              </a:rPr>
              <a:t>  Наличие стандартов и набора тестов для выявления совместимости и соответствия конкретной реализации SQL общепринятому стандарту только способствует «стабилизации» языка.. </a:t>
            </a:r>
          </a:p>
          <a:p>
            <a:pPr indent="36195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200" dirty="0">
              <a:latin typeface="Calibri" panose="020F0502020204030204" pitchFamily="34" charset="0"/>
            </a:endParaRPr>
          </a:p>
          <a:p>
            <a:pPr indent="36195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i="1" dirty="0">
                <a:solidFill>
                  <a:srgbClr val="FF0000"/>
                </a:solidFill>
                <a:latin typeface="Calibri" panose="020F0502020204030204" pitchFamily="34" charset="0"/>
              </a:rPr>
              <a:t>Декларативность</a:t>
            </a:r>
            <a:r>
              <a:rPr lang="ru-RU" altLang="ru-RU" sz="2200" b="0" dirty="0">
                <a:latin typeface="Calibri" panose="020F0502020204030204" pitchFamily="34" charset="0"/>
              </a:rPr>
              <a:t>  С помощью SQL программист описывает только то, какие данные нужно извлечь или модифицировать. То, каким образом это сделать, решает СУБД непосредственно при обработке SQL-запроса. Однако не стоит думать, что это полностью универсальный принцип — программист описывает набор данных для выборки или модификации, однако ему при этом полезно представлять, как СУБД будет разбирать текст его запроса. </a:t>
            </a:r>
          </a:p>
        </p:txBody>
      </p:sp>
    </p:spTree>
    <p:extLst>
      <p:ext uri="{BB962C8B-B14F-4D97-AF65-F5344CB8AC3E}">
        <p14:creationId xmlns:p14="http://schemas.microsoft.com/office/powerpoint/2010/main" val="398295939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215313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lang="ru-RU" sz="3600" dirty="0">
                <a:latin typeface="Arial" pitchFamily="34" charset="0"/>
              </a:rPr>
              <a:t>Язык </a:t>
            </a:r>
            <a:r>
              <a:rPr sz="3600" dirty="0">
                <a:latin typeface="Arial" pitchFamily="34" charset="0"/>
              </a:rPr>
              <a:t>SQL</a:t>
            </a:r>
            <a:r>
              <a:rPr lang="ru-RU" sz="3600" dirty="0">
                <a:latin typeface="Arial" pitchFamily="34" charset="0"/>
              </a:rPr>
              <a:t>- </a:t>
            </a:r>
            <a:r>
              <a:rPr lang="ru-RU" sz="3600" b="1" dirty="0"/>
              <a:t>Недостатки</a:t>
            </a:r>
          </a:p>
        </p:txBody>
      </p:sp>
      <p:sp>
        <p:nvSpPr>
          <p:cNvPr id="23555" name="Заголовок 1"/>
          <p:cNvSpPr txBox="1">
            <a:spLocks/>
          </p:cNvSpPr>
          <p:nvPr/>
        </p:nvSpPr>
        <p:spPr bwMode="auto">
          <a:xfrm>
            <a:off x="571500" y="1143000"/>
            <a:ext cx="8286750" cy="550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Calibri" panose="020F0502020204030204" pitchFamily="34" charset="0"/>
              </a:rPr>
              <a:t>Несоответствие реляционной модели данных </a:t>
            </a:r>
            <a:r>
              <a:rPr lang="ru-RU" altLang="ru-RU" sz="2000" b="0" dirty="0">
                <a:latin typeface="Calibri" panose="020F0502020204030204" pitchFamily="34" charset="0"/>
              </a:rPr>
              <a:t> Создатели реляционной модели данных </a:t>
            </a:r>
            <a:r>
              <a:rPr lang="ru-RU" altLang="ru-RU" sz="2000" b="0" dirty="0">
                <a:latin typeface="Calibri" panose="020F0502020204030204" pitchFamily="34" charset="0"/>
                <a:hlinkClick r:id="rId2" tooltip="Кодд, Эдгар"/>
              </a:rPr>
              <a:t>Эдгар Кодд</a:t>
            </a:r>
            <a:r>
              <a:rPr lang="ru-RU" altLang="ru-RU" sz="2000" b="0" dirty="0">
                <a:latin typeface="Calibri" panose="020F0502020204030204" pitchFamily="34" charset="0"/>
              </a:rPr>
              <a:t>, </a:t>
            </a:r>
            <a:r>
              <a:rPr lang="ru-RU" altLang="ru-RU" sz="2000" b="0" dirty="0">
                <a:latin typeface="Calibri" panose="020F0502020204030204" pitchFamily="34" charset="0"/>
                <a:hlinkClick r:id="rId3" tooltip="Дейт, Кристофер"/>
              </a:rPr>
              <a:t>Кристофер </a:t>
            </a:r>
            <a:r>
              <a:rPr lang="ru-RU" altLang="ru-RU" sz="2000" b="0" dirty="0" err="1">
                <a:latin typeface="Calibri" panose="020F0502020204030204" pitchFamily="34" charset="0"/>
                <a:hlinkClick r:id="rId3" tooltip="Дейт, Кристофер"/>
              </a:rPr>
              <a:t>Дейт</a:t>
            </a:r>
            <a:r>
              <a:rPr lang="ru-RU" altLang="ru-RU" sz="2000" b="0" dirty="0">
                <a:latin typeface="Calibri" panose="020F0502020204030204" pitchFamily="34" charset="0"/>
              </a:rPr>
              <a:t> и их сторонники указывают на то, что SQL не является истинно реляционным языком.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Calibri" panose="020F0502020204030204" pitchFamily="34" charset="0"/>
              </a:rPr>
              <a:t>Сложность </a:t>
            </a:r>
            <a:r>
              <a:rPr lang="ru-RU" altLang="ru-RU" sz="2000" b="0" dirty="0">
                <a:latin typeface="Calibri" panose="020F0502020204030204" pitchFamily="34" charset="0"/>
              </a:rPr>
              <a:t> Хотя SQL и задумывался как средство работы конечного пользователя, в конце концов он стал настолько сложным, что превратился в инструмент программиста.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Calibri" panose="020F0502020204030204" pitchFamily="34" charset="0"/>
              </a:rPr>
              <a:t>Отступления от стандартов </a:t>
            </a:r>
            <a:r>
              <a:rPr lang="ru-RU" altLang="ru-RU" sz="2000" b="0" dirty="0">
                <a:latin typeface="Calibri" panose="020F0502020204030204" pitchFamily="34" charset="0"/>
              </a:rPr>
              <a:t> Несмотря на наличие международного стандарта, многие компании, занимающиеся разработкой СУБД (например, </a:t>
            </a:r>
            <a:r>
              <a:rPr lang="ru-RU" altLang="ru-RU" sz="2000" b="0" dirty="0" err="1">
                <a:latin typeface="Calibri" panose="020F0502020204030204" pitchFamily="34" charset="0"/>
                <a:hlinkClick r:id="rId4" tooltip="Oracle Corporation"/>
              </a:rPr>
              <a:t>Oracle</a:t>
            </a:r>
            <a:r>
              <a:rPr lang="ru-RU" altLang="ru-RU" sz="2000" b="0" dirty="0">
                <a:latin typeface="Calibri" panose="020F0502020204030204" pitchFamily="34" charset="0"/>
              </a:rPr>
              <a:t>, </a:t>
            </a:r>
            <a:r>
              <a:rPr lang="ru-RU" altLang="ru-RU" sz="2000" b="0" dirty="0" err="1">
                <a:latin typeface="Calibri" panose="020F0502020204030204" pitchFamily="34" charset="0"/>
                <a:hlinkClick r:id="rId5" tooltip="Sybase"/>
              </a:rPr>
              <a:t>Sybase</a:t>
            </a:r>
            <a:r>
              <a:rPr lang="ru-RU" altLang="ru-RU" sz="2000" b="0" dirty="0">
                <a:latin typeface="Calibri" panose="020F0502020204030204" pitchFamily="34" charset="0"/>
              </a:rPr>
              <a:t>, </a:t>
            </a:r>
            <a:r>
              <a:rPr lang="ru-RU" altLang="ru-RU" sz="2000" b="0" dirty="0" err="1">
                <a:latin typeface="Calibri" panose="020F0502020204030204" pitchFamily="34" charset="0"/>
                <a:hlinkClick r:id="rId6" tooltip="Microsoft"/>
              </a:rPr>
              <a:t>Microsoft</a:t>
            </a:r>
            <a:r>
              <a:rPr lang="ru-RU" altLang="ru-RU" sz="2000" b="0" dirty="0">
                <a:latin typeface="Calibri" panose="020F0502020204030204" pitchFamily="34" charset="0"/>
              </a:rPr>
              <a:t>, </a:t>
            </a:r>
            <a:r>
              <a:rPr lang="ru-RU" altLang="ru-RU" sz="2000" b="0" dirty="0" err="1">
                <a:latin typeface="Calibri" panose="020F0502020204030204" pitchFamily="34" charset="0"/>
                <a:hlinkClick r:id="rId7" tooltip="MySQL AB"/>
              </a:rPr>
              <a:t>MySQL</a:t>
            </a:r>
            <a:r>
              <a:rPr lang="ru-RU" altLang="ru-RU" sz="2000" b="0" dirty="0">
                <a:latin typeface="Calibri" panose="020F0502020204030204" pitchFamily="34" charset="0"/>
                <a:hlinkClick r:id="rId7" tooltip="MySQL AB"/>
              </a:rPr>
              <a:t> AB</a:t>
            </a:r>
            <a:r>
              <a:rPr lang="ru-RU" altLang="ru-RU" sz="2000" b="0" dirty="0">
                <a:latin typeface="Calibri" panose="020F0502020204030204" pitchFamily="34" charset="0"/>
              </a:rPr>
              <a:t>), вносят изменения в язык SQL, применяемый в разрабатываемой СУБД. Таким образом, появляются специфичные для каждой конкретной СУБД диалекты языка SQL.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Calibri" panose="020F0502020204030204" pitchFamily="34" charset="0"/>
              </a:rPr>
              <a:t>Сложность работы с иерархическими структурами</a:t>
            </a:r>
            <a:r>
              <a:rPr lang="ru-RU" altLang="ru-RU" sz="2000" b="0" dirty="0">
                <a:latin typeface="Calibri" panose="020F0502020204030204" pitchFamily="34" charset="0"/>
              </a:rPr>
              <a:t>  Ранее диалекты SQL большинства СУБД не предлагали способа манипуляции древовидными структурами. В настоящее время в ANSI стандартизована рекурсивная конструкция WITH из диалекта SQL </a:t>
            </a:r>
            <a:r>
              <a:rPr lang="ru-RU" altLang="ru-RU" sz="2000" b="0" dirty="0">
                <a:latin typeface="Calibri" panose="020F0502020204030204" pitchFamily="34" charset="0"/>
                <a:hlinkClick r:id="rId8" tooltip="DB2"/>
              </a:rPr>
              <a:t>DB2</a:t>
            </a:r>
            <a:r>
              <a:rPr lang="ru-RU" altLang="ru-RU" sz="2000" b="0" dirty="0">
                <a:latin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65173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/>
              <a:t>Подмножества языка </a:t>
            </a:r>
            <a:r>
              <a:t>SQL</a:t>
            </a:r>
            <a:endParaRPr lang="ru-RU"/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900409820"/>
              </p:ext>
            </p:extLst>
          </p:nvPr>
        </p:nvGraphicFramePr>
        <p:xfrm>
          <a:off x="250031" y="2204864"/>
          <a:ext cx="8643937" cy="3888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548726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80247733"/>
              </p:ext>
            </p:extLst>
          </p:nvPr>
        </p:nvGraphicFramePr>
        <p:xfrm>
          <a:off x="251520" y="620688"/>
          <a:ext cx="8634932" cy="5709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885360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7358063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sz="2800" b="1" dirty="0"/>
              <a:t>DDL</a:t>
            </a:r>
            <a:r>
              <a:rPr sz="2800" dirty="0"/>
              <a:t> – </a:t>
            </a:r>
            <a:r>
              <a:rPr sz="2800" b="1" dirty="0"/>
              <a:t>data definition language (</a:t>
            </a:r>
            <a:r>
              <a:rPr lang="ru-RU" sz="2800" b="1" dirty="0"/>
              <a:t>язык определения данных</a:t>
            </a:r>
            <a:r>
              <a:rPr sz="2800" b="1" dirty="0"/>
              <a:t>) </a:t>
            </a:r>
            <a:r>
              <a:rPr sz="2800" dirty="0"/>
              <a:t> </a:t>
            </a:r>
            <a:endParaRPr lang="ru-RU" sz="2800" dirty="0"/>
          </a:p>
        </p:txBody>
      </p:sp>
      <p:sp>
        <p:nvSpPr>
          <p:cNvPr id="24579" name="Заголовок 1"/>
          <p:cNvSpPr txBox="1">
            <a:spLocks/>
          </p:cNvSpPr>
          <p:nvPr/>
        </p:nvSpPr>
        <p:spPr bwMode="auto">
          <a:xfrm>
            <a:off x="571500" y="1714500"/>
            <a:ext cx="828675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 dirty="0">
                <a:latin typeface="Calibri" panose="020F0502020204030204" pitchFamily="34" charset="0"/>
              </a:rPr>
              <a:t>включает всевозможные команды создания (</a:t>
            </a:r>
            <a:r>
              <a:rPr lang="en-US" altLang="ru-RU" sz="2800" dirty="0">
                <a:latin typeface="Calibri" panose="020F0502020204030204" pitchFamily="34" charset="0"/>
              </a:rPr>
              <a:t>CREATE</a:t>
            </a:r>
            <a:r>
              <a:rPr lang="ru-RU" altLang="ru-RU" sz="2800" b="0" dirty="0">
                <a:latin typeface="Calibri" panose="020F0502020204030204" pitchFamily="34" charset="0"/>
              </a:rPr>
              <a:t>), удаления (</a:t>
            </a:r>
            <a:r>
              <a:rPr lang="en-US" altLang="ru-RU" sz="2800" dirty="0">
                <a:latin typeface="Calibri" panose="020F0502020204030204" pitchFamily="34" charset="0"/>
              </a:rPr>
              <a:t>DROP</a:t>
            </a:r>
            <a:r>
              <a:rPr lang="ru-RU" altLang="ru-RU" sz="2800" b="0" dirty="0">
                <a:latin typeface="Calibri" panose="020F0502020204030204" pitchFamily="34" charset="0"/>
              </a:rPr>
              <a:t>) и изменения структуры (</a:t>
            </a:r>
            <a:r>
              <a:rPr lang="en-US" altLang="ru-RU" sz="2800" dirty="0">
                <a:latin typeface="Calibri" panose="020F0502020204030204" pitchFamily="34" charset="0"/>
              </a:rPr>
              <a:t>ALTER</a:t>
            </a:r>
            <a:r>
              <a:rPr lang="ru-RU" altLang="ru-RU" sz="2800" b="0" dirty="0">
                <a:latin typeface="Calibri" panose="020F0502020204030204" pitchFamily="34" charset="0"/>
              </a:rPr>
              <a:t>) объектов, таких, как таблицы (</a:t>
            </a:r>
            <a:r>
              <a:rPr lang="en-US" altLang="ru-RU" sz="2800" dirty="0">
                <a:latin typeface="Calibri" panose="020F0502020204030204" pitchFamily="34" charset="0"/>
              </a:rPr>
              <a:t>TABLE</a:t>
            </a:r>
            <a:r>
              <a:rPr lang="ru-RU" altLang="ru-RU" sz="2800" b="0" dirty="0">
                <a:latin typeface="Calibri" panose="020F0502020204030204" pitchFamily="34" charset="0"/>
              </a:rPr>
              <a:t>), представления (</a:t>
            </a:r>
            <a:r>
              <a:rPr lang="ru-RU" altLang="ru-RU" sz="2800" dirty="0">
                <a:latin typeface="Calibri" panose="020F0502020204030204" pitchFamily="34" charset="0"/>
              </a:rPr>
              <a:t>VIEW</a:t>
            </a:r>
            <a:r>
              <a:rPr lang="ru-RU" altLang="ru-RU" sz="2800" b="0" dirty="0">
                <a:latin typeface="Calibri" panose="020F0502020204030204" pitchFamily="34" charset="0"/>
              </a:rPr>
              <a:t>), триггеры (</a:t>
            </a:r>
            <a:r>
              <a:rPr lang="ru-RU" altLang="ru-RU" sz="2800" dirty="0">
                <a:latin typeface="Calibri" panose="020F0502020204030204" pitchFamily="34" charset="0"/>
              </a:rPr>
              <a:t>TRIGGER</a:t>
            </a:r>
            <a:r>
              <a:rPr lang="ru-RU" altLang="ru-RU" sz="2800" b="0" dirty="0">
                <a:latin typeface="Calibri" panose="020F0502020204030204" pitchFamily="34" charset="0"/>
              </a:rPr>
              <a:t>), пользователи (</a:t>
            </a:r>
            <a:r>
              <a:rPr lang="en-US" altLang="ru-RU" sz="2800" dirty="0">
                <a:latin typeface="Calibri" panose="020F0502020204030204" pitchFamily="34" charset="0"/>
              </a:rPr>
              <a:t>USER</a:t>
            </a:r>
            <a:r>
              <a:rPr lang="ru-RU" altLang="ru-RU" sz="2800" b="0" dirty="0">
                <a:latin typeface="Calibri" panose="020F0502020204030204" pitchFamily="34" charset="0"/>
              </a:rPr>
              <a:t>) и т.п.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8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800" b="0" i="1" dirty="0">
                <a:latin typeface="Calibri" panose="020F0502020204030204" pitchFamily="34" charset="0"/>
              </a:rPr>
              <a:t>Пример создания таблицы “Организации”:</a:t>
            </a:r>
            <a:endParaRPr lang="ru-RU" altLang="ru-RU" sz="28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0" dirty="0"/>
              <a:t>CREATE TABLE </a:t>
            </a:r>
            <a:r>
              <a:rPr lang="en-US" altLang="ru-RU" sz="2000" b="0" dirty="0" err="1"/>
              <a:t>k_firm</a:t>
            </a:r>
            <a:endParaRPr lang="ru-RU" altLang="ru-RU" sz="2000" b="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0" dirty="0"/>
              <a:t>(</a:t>
            </a:r>
            <a:r>
              <a:rPr lang="en-US" altLang="ru-RU" sz="2000" b="0" dirty="0" err="1"/>
              <a:t>firm_num</a:t>
            </a:r>
            <a:r>
              <a:rPr lang="en-US" altLang="ru-RU" sz="2000" b="0" dirty="0"/>
              <a:t>	NUMERIC(6) PRIMARY KEY,</a:t>
            </a:r>
            <a:endParaRPr lang="ru-RU" altLang="ru-RU" sz="2000" b="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0" dirty="0" err="1"/>
              <a:t>firm_name</a:t>
            </a:r>
            <a:r>
              <a:rPr lang="en-US" altLang="ru-RU" sz="2000" b="0" dirty="0"/>
              <a:t> VARCHAR(100)	NOT NULL,</a:t>
            </a:r>
            <a:endParaRPr lang="ru-RU" altLang="ru-RU" sz="2000" b="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0" dirty="0" err="1"/>
              <a:t>firm_addr</a:t>
            </a:r>
            <a:r>
              <a:rPr lang="en-US" altLang="ru-RU" sz="2000" b="0" dirty="0"/>
              <a:t>	VARCHAR(100)</a:t>
            </a:r>
            <a:endParaRPr lang="ru-RU" altLang="ru-RU" sz="2000" b="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b="0" dirty="0"/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800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0495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lang="ru-RU" sz="4000" b="1" i="1" dirty="0"/>
              <a:t>Политики    ссылочной   целостности</a:t>
            </a:r>
          </a:p>
        </p:txBody>
      </p:sp>
      <p:sp>
        <p:nvSpPr>
          <p:cNvPr id="25603" name="Заголовок 1"/>
          <p:cNvSpPr txBox="1">
            <a:spLocks/>
          </p:cNvSpPr>
          <p:nvPr/>
        </p:nvSpPr>
        <p:spPr bwMode="auto">
          <a:xfrm>
            <a:off x="571500" y="1214438"/>
            <a:ext cx="8286750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2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200" b="0">
                <a:latin typeface="Calibri" panose="020F0502020204030204" pitchFamily="34" charset="0"/>
              </a:rPr>
              <a:t>   Политика </a:t>
            </a:r>
            <a:r>
              <a:rPr lang="ru-RU" altLang="ru-RU" sz="2200">
                <a:latin typeface="Calibri" panose="020F0502020204030204" pitchFamily="34" charset="0"/>
              </a:rPr>
              <a:t>IGNORE </a:t>
            </a:r>
            <a:r>
              <a:rPr lang="ru-RU" altLang="ru-RU" sz="2200" b="0">
                <a:latin typeface="Calibri" panose="020F0502020204030204" pitchFamily="34" charset="0"/>
              </a:rPr>
              <a:t>означает, что мы не предусматриваем никаких проверок и ограничений.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200" b="0">
                <a:latin typeface="Calibri" panose="020F0502020204030204" pitchFamily="34" charset="0"/>
              </a:rPr>
              <a:t>   Политика </a:t>
            </a:r>
            <a:r>
              <a:rPr lang="ru-RU" altLang="ru-RU" sz="2200">
                <a:latin typeface="Calibri" panose="020F0502020204030204" pitchFamily="34" charset="0"/>
              </a:rPr>
              <a:t>RESTRICT</a:t>
            </a:r>
            <a:r>
              <a:rPr lang="ru-RU" altLang="ru-RU" sz="2200" b="0">
                <a:latin typeface="Calibri" panose="020F0502020204030204" pitchFamily="34" charset="0"/>
              </a:rPr>
              <a:t> действует, когда мы применяем ограничения внешних ключей.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200" b="0">
                <a:latin typeface="Calibri" panose="020F0502020204030204" pitchFamily="34" charset="0"/>
              </a:rPr>
              <a:t>   При использовании политики </a:t>
            </a:r>
            <a:r>
              <a:rPr lang="ru-RU" altLang="ru-RU" sz="2200">
                <a:latin typeface="Calibri" panose="020F0502020204030204" pitchFamily="34" charset="0"/>
              </a:rPr>
              <a:t>CASCADE </a:t>
            </a:r>
            <a:r>
              <a:rPr lang="ru-RU" altLang="ru-RU" sz="2200" b="0">
                <a:latin typeface="Calibri" panose="020F0502020204030204" pitchFamily="34" charset="0"/>
              </a:rPr>
              <a:t>мы должны предусмотреть собственную программную обработку, т.е. при изменении родительских таблиц вносить изменения в дочерние таблицы программным образом.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200" b="0">
                <a:latin typeface="Calibri" panose="020F0502020204030204" pitchFamily="34" charset="0"/>
              </a:rPr>
              <a:t>    Политика </a:t>
            </a:r>
            <a:r>
              <a:rPr lang="ru-RU" altLang="ru-RU" sz="2200">
                <a:latin typeface="Calibri" panose="020F0502020204030204" pitchFamily="34" charset="0"/>
              </a:rPr>
              <a:t>SET DEFAULT </a:t>
            </a:r>
            <a:r>
              <a:rPr lang="ru-RU" altLang="ru-RU" sz="2200" b="0">
                <a:latin typeface="Calibri" panose="020F0502020204030204" pitchFamily="34" charset="0"/>
              </a:rPr>
              <a:t>состоит в том, что при изменении данных в родительских таблицах дочерним таблицам назначаются значения по умолчанию. Например, при удалении отдела мы можем записать его сотрудников в некоторый другой отдел, который мы считаем отделом по умолчанию.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200" b="0">
                <a:latin typeface="Calibri" panose="020F0502020204030204" pitchFamily="34" charset="0"/>
              </a:rPr>
              <a:t>   Политика </a:t>
            </a:r>
            <a:r>
              <a:rPr lang="ru-RU" altLang="ru-RU" sz="2200">
                <a:latin typeface="Calibri" panose="020F0502020204030204" pitchFamily="34" charset="0"/>
              </a:rPr>
              <a:t>SET NULL </a:t>
            </a:r>
            <a:r>
              <a:rPr lang="ru-RU" altLang="ru-RU" sz="2200" b="0">
                <a:latin typeface="Calibri" panose="020F0502020204030204" pitchFamily="34" charset="0"/>
              </a:rPr>
              <a:t>похожа на предыдущую политику, только вместо значений по умолчанию мы назначаем NULL-значения.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ru-RU" altLang="ru-RU" sz="22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20520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sz="2800" b="1" dirty="0"/>
              <a:t>Declarative Referential Integrity </a:t>
            </a:r>
            <a:r>
              <a:rPr lang="ru-RU" sz="2800" b="1" dirty="0"/>
              <a:t> (</a:t>
            </a:r>
            <a:r>
              <a:rPr lang="ru-RU" sz="2800" dirty="0"/>
              <a:t>декларативная ссылочная целостность)</a:t>
            </a:r>
          </a:p>
        </p:txBody>
      </p:sp>
      <p:sp>
        <p:nvSpPr>
          <p:cNvPr id="26627" name="Заголовок 1"/>
          <p:cNvSpPr txBox="1">
            <a:spLocks/>
          </p:cNvSpPr>
          <p:nvPr/>
        </p:nvSpPr>
        <p:spPr bwMode="auto">
          <a:xfrm>
            <a:off x="571500" y="1714500"/>
            <a:ext cx="828675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b="0">
                <a:latin typeface="Calibri" panose="020F0502020204030204" pitchFamily="34" charset="0"/>
              </a:rPr>
              <a:t>На уровне определения таблиц осуществляется декларативная политика ссылочной целостности с помощью внешних ключей. Она требует, чтобы в поле </a:t>
            </a:r>
            <a:r>
              <a:rPr lang="ru-RU" altLang="ru-RU" sz="2200" b="0" i="1">
                <a:latin typeface="Calibri" panose="020F0502020204030204" pitchFamily="34" charset="0"/>
              </a:rPr>
              <a:t>внешнего ключа</a:t>
            </a:r>
            <a:r>
              <a:rPr lang="ru-RU" altLang="ru-RU" sz="2200" b="0">
                <a:latin typeface="Calibri" panose="020F0502020204030204" pitchFamily="34" charset="0"/>
              </a:rPr>
              <a:t> можно было вводить только такие значения </a:t>
            </a:r>
            <a:r>
              <a:rPr lang="ru-RU" altLang="ru-RU" sz="2200" b="0" i="1">
                <a:latin typeface="Calibri" panose="020F0502020204030204" pitchFamily="34" charset="0"/>
              </a:rPr>
              <a:t>первичного ключа</a:t>
            </a:r>
            <a:r>
              <a:rPr lang="ru-RU" altLang="ru-RU" sz="2200" b="0">
                <a:latin typeface="Calibri" panose="020F0502020204030204" pitchFamily="34" charset="0"/>
              </a:rPr>
              <a:t>, которые присутствуют в родительской таблице.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200" b="0" i="1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b="0" i="1">
                <a:latin typeface="Calibri" panose="020F0502020204030204" pitchFamily="34" charset="0"/>
              </a:rPr>
              <a:t>Пример создания таблицы “Договоры”:</a:t>
            </a:r>
            <a:endParaRPr lang="ru-RU" altLang="ru-RU" sz="22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200" b="0"/>
              <a:t>CREATE TABLE k_contract		</a:t>
            </a:r>
            <a:endParaRPr lang="ru-RU" altLang="ru-RU" sz="22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200" b="0"/>
              <a:t>(</a:t>
            </a:r>
            <a:r>
              <a:rPr lang="ru-RU" altLang="ru-RU" sz="2200" b="0"/>
              <a:t> </a:t>
            </a:r>
            <a:r>
              <a:rPr lang="en-US" altLang="ru-RU" sz="2200" b="0"/>
              <a:t>contract_num</a:t>
            </a:r>
            <a:r>
              <a:rPr lang="ru-RU" altLang="ru-RU" sz="2200" b="0"/>
              <a:t> </a:t>
            </a:r>
            <a:r>
              <a:rPr lang="en-US" altLang="ru-RU" sz="2200" b="0"/>
              <a:t>NUMERIC(6) PRIMARY KEY,</a:t>
            </a:r>
            <a:endParaRPr lang="ru-RU" altLang="ru-RU" sz="22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b="0"/>
              <a:t>  </a:t>
            </a:r>
            <a:r>
              <a:rPr lang="en-US" altLang="ru-RU" sz="2200" b="0"/>
              <a:t>contract_date</a:t>
            </a:r>
            <a:r>
              <a:rPr lang="ru-RU" altLang="ru-RU" sz="2200" b="0"/>
              <a:t> </a:t>
            </a:r>
            <a:r>
              <a:rPr lang="en-US" altLang="ru-RU" sz="2200" b="0"/>
              <a:t>DATETIME,</a:t>
            </a:r>
            <a:endParaRPr lang="ru-RU" altLang="ru-RU" sz="22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b="0"/>
              <a:t>  </a:t>
            </a:r>
            <a:r>
              <a:rPr lang="en-US" altLang="ru-RU" sz="2200" b="0"/>
              <a:t>contract_type</a:t>
            </a:r>
            <a:r>
              <a:rPr lang="ru-RU" altLang="ru-RU" sz="2200" b="0"/>
              <a:t> </a:t>
            </a:r>
            <a:r>
              <a:rPr lang="en-US" altLang="ru-RU" sz="2200" b="0"/>
              <a:t>CHAR(1)</a:t>
            </a:r>
            <a:r>
              <a:rPr lang="ru-RU" altLang="ru-RU" sz="2200" b="0"/>
              <a:t> </a:t>
            </a:r>
            <a:r>
              <a:rPr lang="en-US" altLang="ru-RU" sz="2200" b="0"/>
              <a:t>CHECK (contract_type IN ('A','B','C')),</a:t>
            </a:r>
            <a:endParaRPr lang="ru-RU" altLang="ru-RU" sz="22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b="0"/>
              <a:t>  </a:t>
            </a:r>
            <a:r>
              <a:rPr lang="en-US" altLang="ru-RU" sz="2200" b="0"/>
              <a:t>firm_num NUMERIC(6) NOT NULL,</a:t>
            </a:r>
            <a:endParaRPr lang="ru-RU" altLang="ru-RU" sz="22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200" b="0"/>
              <a:t>CONSTRAINT fk_contract_firm_num FOREIGN KEY </a:t>
            </a:r>
            <a:r>
              <a:rPr lang="ru-RU" altLang="ru-RU" sz="2200" b="0"/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200" b="0"/>
              <a:t>  </a:t>
            </a:r>
            <a:r>
              <a:rPr lang="en-US" altLang="ru-RU" sz="2200" b="0"/>
              <a:t>(firm_num) </a:t>
            </a:r>
            <a:r>
              <a:rPr lang="ru-RU" altLang="ru-RU" sz="2200" b="0"/>
              <a:t> </a:t>
            </a:r>
            <a:r>
              <a:rPr lang="en-US" altLang="ru-RU" sz="2200" b="0"/>
              <a:t>REFERENCES k_firm (firm_num)</a:t>
            </a:r>
            <a:r>
              <a:rPr lang="ru-RU" altLang="ru-RU" sz="2200" b="0"/>
              <a:t> </a:t>
            </a:r>
            <a:r>
              <a:rPr lang="en-US" altLang="ru-RU" sz="2200" b="0"/>
              <a:t>);</a:t>
            </a:r>
            <a:endParaRPr lang="ru-RU" altLang="ru-RU" sz="22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6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06135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sz="3600" b="1" dirty="0"/>
              <a:t>DML - data manipulation language (</a:t>
            </a:r>
            <a:r>
              <a:rPr lang="ru-RU" sz="3600" b="1" dirty="0"/>
              <a:t>язык манипулирования данными</a:t>
            </a:r>
            <a:r>
              <a:rPr sz="3600" b="1" dirty="0"/>
              <a:t>)</a:t>
            </a:r>
            <a:r>
              <a:rPr sz="3600" dirty="0"/>
              <a:t>  </a:t>
            </a:r>
            <a:endParaRPr lang="ru-RU" sz="3600" dirty="0"/>
          </a:p>
        </p:txBody>
      </p:sp>
      <p:sp>
        <p:nvSpPr>
          <p:cNvPr id="27651" name="Заголовок 1"/>
          <p:cNvSpPr txBox="1">
            <a:spLocks/>
          </p:cNvSpPr>
          <p:nvPr/>
        </p:nvSpPr>
        <p:spPr bwMode="auto">
          <a:xfrm>
            <a:off x="571500" y="2000250"/>
            <a:ext cx="82867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включает команды </a:t>
            </a:r>
            <a:r>
              <a:rPr lang="en-US" altLang="ru-RU" sz="2400">
                <a:latin typeface="Calibri" panose="020F0502020204030204" pitchFamily="34" charset="0"/>
              </a:rPr>
              <a:t>INSERT, DELETE, UPDATE</a:t>
            </a:r>
            <a:r>
              <a:rPr lang="en-US" altLang="ru-RU" sz="2400" b="0">
                <a:latin typeface="Calibri" panose="020F0502020204030204" pitchFamily="34" charset="0"/>
              </a:rPr>
              <a:t>. </a:t>
            </a: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Команда добавления строк в таблицу: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/>
              <a:t>INSERT [INTO] имя_таблицы [(список_полей)]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/>
              <a:t>	VALUES (список_значений)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Команда обновления строк таблицы: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/>
              <a:t>UPDATE имя_таблицы SET поле1=выражение1      [,... , полеN=ВыражениеN] [WHERE условие]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Команда удаления строк таблицы: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b="0"/>
              <a:t>DELETE [FROM] </a:t>
            </a:r>
            <a:r>
              <a:rPr lang="ru-RU" altLang="ru-RU" sz="2400" b="0"/>
              <a:t>имя</a:t>
            </a:r>
            <a:r>
              <a:rPr lang="en-US" altLang="ru-RU" sz="2400" b="0"/>
              <a:t>_</a:t>
            </a:r>
            <a:r>
              <a:rPr lang="ru-RU" altLang="ru-RU" sz="2400" b="0"/>
              <a:t>таблицы</a:t>
            </a:r>
            <a:r>
              <a:rPr lang="en-US" altLang="ru-RU" sz="2400" b="0"/>
              <a:t> [WHERE </a:t>
            </a:r>
            <a:r>
              <a:rPr lang="ru-RU" altLang="ru-RU" sz="2400" b="0"/>
              <a:t>условие</a:t>
            </a:r>
            <a:r>
              <a:rPr lang="en-US" altLang="ru-RU" sz="2400" b="0"/>
              <a:t>]</a:t>
            </a:r>
            <a:endParaRPr lang="ru-RU" altLang="ru-RU" sz="24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6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58376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sz="4000" b="1"/>
              <a:t>DQL</a:t>
            </a:r>
            <a:r>
              <a:rPr lang="ru-RU" sz="4000" b="1" dirty="0"/>
              <a:t> – </a:t>
            </a:r>
            <a:r>
              <a:rPr sz="4000" b="1"/>
              <a:t>data query language</a:t>
            </a:r>
            <a:r>
              <a:rPr lang="ru-RU" sz="4000" b="1" dirty="0"/>
              <a:t> (язык запросов к данным)</a:t>
            </a:r>
            <a:r>
              <a:rPr lang="ru-RU" sz="4000" dirty="0"/>
              <a:t> 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571500" y="2000250"/>
            <a:ext cx="8286750" cy="4572000"/>
          </a:xfrm>
          <a:prstGeom prst="rect">
            <a:avLst/>
          </a:prstGeom>
        </p:spPr>
        <p:txBody>
          <a:bodyPr lIns="0" tIns="0" rIns="0" bIns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dirty="0">
                <a:latin typeface="+mn-lt"/>
              </a:rPr>
              <a:t>содержит огромную команду </a:t>
            </a:r>
            <a:r>
              <a:rPr lang="en-US" sz="2400" b="1" dirty="0">
                <a:latin typeface="+mn-lt"/>
              </a:rPr>
              <a:t>SELECT</a:t>
            </a:r>
            <a:r>
              <a:rPr lang="ru-RU" sz="2400" dirty="0">
                <a:latin typeface="+mn-lt"/>
              </a:rPr>
              <a:t>, имеющую возможности: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2400" dirty="0">
                <a:latin typeface="+mn-lt"/>
              </a:rPr>
              <a:t> выборки из одной или из нескольких таблиц,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2400" dirty="0">
                <a:latin typeface="+mn-lt"/>
              </a:rPr>
              <a:t> использования условий отбора,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2400" dirty="0">
                <a:latin typeface="+mn-lt"/>
              </a:rPr>
              <a:t> сортировки,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2400" dirty="0">
                <a:latin typeface="+mn-lt"/>
              </a:rPr>
              <a:t> использования подзапросов,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2400" dirty="0">
                <a:latin typeface="+mn-lt"/>
              </a:rPr>
              <a:t> использования агрегатных функций,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2400" dirty="0">
                <a:latin typeface="+mn-lt"/>
              </a:rPr>
              <a:t> группировки,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2400" dirty="0">
                <a:latin typeface="+mn-lt"/>
              </a:rPr>
              <a:t> объединения запросов.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2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833146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sz="4000" b="1" dirty="0">
                <a:solidFill>
                  <a:srgbClr val="FF0000"/>
                </a:solidFill>
              </a:rPr>
              <a:t>CCL</a:t>
            </a:r>
            <a:r>
              <a:rPr lang="ru-RU" sz="4000" b="1" dirty="0">
                <a:solidFill>
                  <a:srgbClr val="FF0000"/>
                </a:solidFill>
              </a:rPr>
              <a:t> – </a:t>
            </a:r>
            <a:r>
              <a:rPr sz="4000" b="1" dirty="0">
                <a:solidFill>
                  <a:srgbClr val="FF0000"/>
                </a:solidFill>
              </a:rPr>
              <a:t>cursor control language</a:t>
            </a:r>
            <a:r>
              <a:rPr lang="ru-RU" sz="4000" b="1" dirty="0">
                <a:solidFill>
                  <a:srgbClr val="FF0000"/>
                </a:solidFill>
              </a:rPr>
              <a:t> (язык управления курсорами )</a:t>
            </a:r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29699" name="Заголовок 1"/>
          <p:cNvSpPr txBox="1">
            <a:spLocks/>
          </p:cNvSpPr>
          <p:nvPr/>
        </p:nvSpPr>
        <p:spPr bwMode="auto">
          <a:xfrm>
            <a:off x="571500" y="2000250"/>
            <a:ext cx="82867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latin typeface="Calibri" panose="020F0502020204030204" pitchFamily="34" charset="0"/>
              </a:rPr>
              <a:t>Cursor</a:t>
            </a:r>
            <a:r>
              <a:rPr lang="ru-RU" altLang="ru-RU" sz="2000" b="0" dirty="0">
                <a:latin typeface="Calibri" panose="020F0502020204030204" pitchFamily="34" charset="0"/>
              </a:rPr>
              <a:t> – </a:t>
            </a:r>
            <a:r>
              <a:rPr lang="en-US" altLang="ru-RU" sz="2000" dirty="0">
                <a:latin typeface="Calibri" panose="020F0502020204030204" pitchFamily="34" charset="0"/>
              </a:rPr>
              <a:t>cur</a:t>
            </a:r>
            <a:r>
              <a:rPr lang="en-US" altLang="ru-RU" sz="2000" b="0" dirty="0">
                <a:latin typeface="Calibri" panose="020F0502020204030204" pitchFamily="34" charset="0"/>
              </a:rPr>
              <a:t>rent </a:t>
            </a:r>
            <a:r>
              <a:rPr lang="en-US" altLang="ru-RU" sz="2000" dirty="0">
                <a:latin typeface="Calibri" panose="020F0502020204030204" pitchFamily="34" charset="0"/>
              </a:rPr>
              <a:t>s</a:t>
            </a:r>
            <a:r>
              <a:rPr lang="en-US" altLang="ru-RU" sz="2000" b="0" dirty="0">
                <a:latin typeface="Calibri" panose="020F0502020204030204" pitchFamily="34" charset="0"/>
              </a:rPr>
              <a:t>et </a:t>
            </a:r>
            <a:r>
              <a:rPr lang="en-US" altLang="ru-RU" sz="2000" dirty="0">
                <a:latin typeface="Calibri" panose="020F0502020204030204" pitchFamily="34" charset="0"/>
              </a:rPr>
              <a:t>o</a:t>
            </a:r>
            <a:r>
              <a:rPr lang="en-US" altLang="ru-RU" sz="2000" b="0" dirty="0">
                <a:latin typeface="Calibri" panose="020F0502020204030204" pitchFamily="34" charset="0"/>
              </a:rPr>
              <a:t>f </a:t>
            </a:r>
            <a:r>
              <a:rPr lang="en-US" altLang="ru-RU" sz="2000" dirty="0">
                <a:latin typeface="Calibri" panose="020F0502020204030204" pitchFamily="34" charset="0"/>
              </a:rPr>
              <a:t>r</a:t>
            </a:r>
            <a:r>
              <a:rPr lang="en-US" altLang="ru-RU" sz="2000" b="0" dirty="0">
                <a:latin typeface="Calibri" panose="020F0502020204030204" pitchFamily="34" charset="0"/>
              </a:rPr>
              <a:t>ecord</a:t>
            </a:r>
            <a:r>
              <a:rPr lang="ru-RU" altLang="ru-RU" sz="2000" b="0" dirty="0">
                <a:latin typeface="Calibri" panose="020F0502020204030204" pitchFamily="34" charset="0"/>
              </a:rPr>
              <a:t>  - временный набор записей, позволяющий обрабатывать каждую запись по отдельности.  Необходимость использования курсоров возникла потому, что команды изменения данных (</a:t>
            </a:r>
            <a:r>
              <a:rPr lang="en-US" altLang="ru-RU" sz="2000" b="0" dirty="0">
                <a:latin typeface="Calibri" panose="020F0502020204030204" pitchFamily="34" charset="0"/>
              </a:rPr>
              <a:t>UPDATE</a:t>
            </a:r>
            <a:r>
              <a:rPr lang="ru-RU" altLang="ru-RU" sz="2000" b="0" dirty="0">
                <a:latin typeface="Calibri" panose="020F0502020204030204" pitchFamily="34" charset="0"/>
              </a:rPr>
              <a:t>, </a:t>
            </a:r>
            <a:r>
              <a:rPr lang="en-US" altLang="ru-RU" sz="2000" b="0" dirty="0">
                <a:latin typeface="Calibri" panose="020F0502020204030204" pitchFamily="34" charset="0"/>
              </a:rPr>
              <a:t>DELETE</a:t>
            </a:r>
            <a:r>
              <a:rPr lang="ru-RU" altLang="ru-RU" sz="2000" b="0" dirty="0">
                <a:latin typeface="Calibri" panose="020F0502020204030204" pitchFamily="34" charset="0"/>
              </a:rPr>
              <a:t>) применяются к таблице целиком и поэтому являются достаточно “грубыми” для разнообразной “тонкой” работы.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b="0" dirty="0">
                <a:latin typeface="Calibri" panose="020F0502020204030204" pitchFamily="34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b="0" i="1" dirty="0">
                <a:latin typeface="Calibri" panose="020F0502020204030204" pitchFamily="34" charset="0"/>
              </a:rPr>
              <a:t>Стандартные операции по работе с курсором:</a:t>
            </a:r>
            <a:endParaRPr lang="ru-RU" altLang="ru-RU" sz="2000" b="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000" b="0" dirty="0">
                <a:latin typeface="Calibri" panose="020F0502020204030204" pitchFamily="34" charset="0"/>
              </a:rPr>
              <a:t>   объявление курсора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b="0" dirty="0"/>
              <a:t> </a:t>
            </a:r>
            <a:r>
              <a:rPr lang="en-US" altLang="ru-RU" sz="2000" b="0" dirty="0"/>
              <a:t>DECLARE</a:t>
            </a:r>
            <a:r>
              <a:rPr lang="ru-RU" altLang="ru-RU" sz="2000" b="0" dirty="0"/>
              <a:t> </a:t>
            </a:r>
            <a:r>
              <a:rPr lang="ru-RU" altLang="ru-RU" sz="2000" b="0" dirty="0" err="1"/>
              <a:t>имя_курсора</a:t>
            </a:r>
            <a:r>
              <a:rPr lang="ru-RU" altLang="ru-RU" sz="2000" b="0" dirty="0"/>
              <a:t> </a:t>
            </a:r>
            <a:r>
              <a:rPr lang="en-US" altLang="ru-RU" sz="2000" b="0" dirty="0"/>
              <a:t>CURSOR FOR SELECT</a:t>
            </a:r>
            <a:r>
              <a:rPr lang="ru-RU" altLang="ru-RU" sz="2000" b="0" dirty="0"/>
              <a:t> команда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000" b="0" dirty="0">
                <a:latin typeface="Calibri" panose="020F0502020204030204" pitchFamily="34" charset="0"/>
              </a:rPr>
              <a:t>   открытие курсора:  </a:t>
            </a:r>
            <a:r>
              <a:rPr lang="en-US" altLang="ru-RU" sz="2000" b="0" dirty="0"/>
              <a:t>OPEN</a:t>
            </a:r>
            <a:r>
              <a:rPr lang="ru-RU" altLang="ru-RU" sz="2000" b="0" dirty="0"/>
              <a:t> </a:t>
            </a:r>
            <a:r>
              <a:rPr lang="ru-RU" altLang="ru-RU" sz="2000" b="0" dirty="0" err="1"/>
              <a:t>имя_курсора</a:t>
            </a:r>
            <a:endParaRPr lang="ru-RU" altLang="ru-RU" sz="2000" b="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000" b="0" dirty="0">
                <a:latin typeface="Calibri" panose="020F0502020204030204" pitchFamily="34" charset="0"/>
              </a:rPr>
              <a:t>   получение значений из текущей строки и передвижение указателя на следующую строку: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b="0" dirty="0"/>
              <a:t>FETCH</a:t>
            </a:r>
            <a:r>
              <a:rPr lang="ru-RU" altLang="ru-RU" sz="2000" b="0" dirty="0"/>
              <a:t> </a:t>
            </a:r>
            <a:r>
              <a:rPr lang="ru-RU" altLang="ru-RU" sz="2000" b="0" dirty="0" err="1"/>
              <a:t>имя_курсора</a:t>
            </a:r>
            <a:r>
              <a:rPr lang="ru-RU" altLang="ru-RU" sz="2000" b="0" dirty="0"/>
              <a:t> INTO переменные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altLang="ru-RU" sz="2000" b="0" dirty="0">
                <a:latin typeface="Calibri" panose="020F0502020204030204" pitchFamily="34" charset="0"/>
              </a:rPr>
              <a:t>    закрытие курсора:  </a:t>
            </a:r>
            <a:r>
              <a:rPr lang="en-US" altLang="ru-RU" sz="2000" b="0" dirty="0"/>
              <a:t>CLOSE</a:t>
            </a:r>
            <a:r>
              <a:rPr lang="ru-RU" altLang="ru-RU" sz="2000" b="0" dirty="0"/>
              <a:t> </a:t>
            </a:r>
            <a:r>
              <a:rPr lang="ru-RU" altLang="ru-RU" sz="2000" b="0" dirty="0" err="1"/>
              <a:t>имя_курсора</a:t>
            </a:r>
            <a:endParaRPr lang="ru-RU" altLang="ru-RU" sz="2000" b="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21213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45146" y="404664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sz="3600" b="1" dirty="0"/>
              <a:t>TPL – transaction processing language (</a:t>
            </a:r>
            <a:r>
              <a:rPr lang="ru-RU" sz="3600" b="1" dirty="0"/>
              <a:t>язык проведения транзакций</a:t>
            </a:r>
            <a:r>
              <a:rPr sz="3600" b="1" dirty="0"/>
              <a:t>)</a:t>
            </a:r>
            <a:endParaRPr lang="ru-RU" sz="3600" dirty="0"/>
          </a:p>
        </p:txBody>
      </p:sp>
      <p:sp>
        <p:nvSpPr>
          <p:cNvPr id="30723" name="Заголовок 1"/>
          <p:cNvSpPr txBox="1">
            <a:spLocks/>
          </p:cNvSpPr>
          <p:nvPr/>
        </p:nvSpPr>
        <p:spPr bwMode="auto">
          <a:xfrm>
            <a:off x="571500" y="2000250"/>
            <a:ext cx="82867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Calibri" panose="020F0502020204030204" pitchFamily="34" charset="0"/>
              </a:rPr>
              <a:t>Транзакция</a:t>
            </a:r>
            <a:r>
              <a:rPr lang="ru-RU" altLang="ru-RU" sz="2000" b="0">
                <a:latin typeface="Calibri" panose="020F0502020204030204" pitchFamily="34" charset="0"/>
              </a:rPr>
              <a:t> – группа команд языка </a:t>
            </a:r>
            <a:r>
              <a:rPr lang="en-US" altLang="ru-RU" sz="2000" b="0">
                <a:latin typeface="Calibri" panose="020F0502020204030204" pitchFamily="34" charset="0"/>
              </a:rPr>
              <a:t>SQL</a:t>
            </a:r>
            <a:r>
              <a:rPr lang="ru-RU" altLang="ru-RU" sz="2000" b="0">
                <a:latin typeface="Calibri" panose="020F0502020204030204" pitchFamily="34" charset="0"/>
              </a:rPr>
              <a:t>, которая либо выполняется полностью, либо не выполняется вообще.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b="0">
                <a:latin typeface="Calibri" panose="020F0502020204030204" pitchFamily="34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b="0" i="1">
                <a:latin typeface="Calibri" panose="020F0502020204030204" pitchFamily="34" charset="0"/>
              </a:rPr>
              <a:t>Стандартные команды для работы с транзакциями:</a:t>
            </a:r>
            <a:endParaRPr lang="ru-RU" altLang="ru-RU" sz="20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Calibri" panose="020F0502020204030204" pitchFamily="34" charset="0"/>
              </a:rPr>
              <a:t>BEGIN TRAN</a:t>
            </a:r>
            <a:r>
              <a:rPr lang="ru-RU" altLang="ru-RU" sz="2000" b="0">
                <a:latin typeface="Calibri" panose="020F0502020204030204" pitchFamily="34" charset="0"/>
              </a:rPr>
              <a:t> – начало транзакции,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Calibri" panose="020F0502020204030204" pitchFamily="34" charset="0"/>
              </a:rPr>
              <a:t>ROLLBACK TRAN</a:t>
            </a:r>
            <a:r>
              <a:rPr lang="ru-RU" altLang="ru-RU" sz="2000" b="0">
                <a:latin typeface="Calibri" panose="020F0502020204030204" pitchFamily="34" charset="0"/>
              </a:rPr>
              <a:t> – откат, отмена транзакции; все изменения, сделанные с начала транзакции, будут отменены,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Calibri" panose="020F0502020204030204" pitchFamily="34" charset="0"/>
              </a:rPr>
              <a:t>COMMIT TRAN</a:t>
            </a:r>
            <a:r>
              <a:rPr lang="ru-RU" altLang="ru-RU" sz="2000" b="0">
                <a:latin typeface="Calibri" panose="020F0502020204030204" pitchFamily="34" charset="0"/>
              </a:rPr>
              <a:t> – завершение, подтверждение транзакции; все изменения, сделанные с начала транзакции, будут зафиксированы.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b="0">
                <a:latin typeface="Calibri" panose="020F0502020204030204" pitchFamily="34" charset="0"/>
              </a:rPr>
              <a:t>До момента подтверждения транзакции все измененные данные  записываются в журнал транзакций, и только после фиксации транзакции данные переносятся собственно в таблицы.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35110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lang="ru-RU" sz="3600" dirty="0"/>
              <a:t>Уровни изолированности транзакций:</a:t>
            </a:r>
          </a:p>
        </p:txBody>
      </p:sp>
      <p:sp>
        <p:nvSpPr>
          <p:cNvPr id="31747" name="Заголовок 1"/>
          <p:cNvSpPr txBox="1">
            <a:spLocks/>
          </p:cNvSpPr>
          <p:nvPr/>
        </p:nvSpPr>
        <p:spPr bwMode="auto">
          <a:xfrm>
            <a:off x="571500" y="2000250"/>
            <a:ext cx="82867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latin typeface="Calibri" panose="020F0502020204030204" pitchFamily="34" charset="0"/>
              </a:rPr>
              <a:t>Serializable</a:t>
            </a:r>
            <a:r>
              <a:rPr lang="ru-RU" altLang="ru-RU" sz="2400">
                <a:latin typeface="Calibri" panose="020F0502020204030204" pitchFamily="34" charset="0"/>
              </a:rPr>
              <a:t> –</a:t>
            </a:r>
            <a:r>
              <a:rPr lang="ru-RU" altLang="ru-RU" sz="2400" b="0">
                <a:latin typeface="Calibri" panose="020F0502020204030204" pitchFamily="34" charset="0"/>
              </a:rPr>
              <a:t> самый надежный, но и самый медленный уровень изолированности, транзакции выполняются последовательно, друг за другом.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latin typeface="Calibri" panose="020F0502020204030204" pitchFamily="34" charset="0"/>
              </a:rPr>
              <a:t>Repeatable read</a:t>
            </a:r>
            <a:r>
              <a:rPr lang="ru-RU" altLang="ru-RU" sz="2400">
                <a:latin typeface="Calibri" panose="020F0502020204030204" pitchFamily="34" charset="0"/>
              </a:rPr>
              <a:t> – </a:t>
            </a:r>
            <a:r>
              <a:rPr lang="ru-RU" altLang="ru-RU" sz="2400" b="0">
                <a:latin typeface="Calibri" panose="020F0502020204030204" pitchFamily="34" charset="0"/>
              </a:rPr>
              <a:t>при повторном чтении данных результат будет точно таким же, как и при первом чтении, даже если данные были изменены.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latin typeface="Calibri" panose="020F0502020204030204" pitchFamily="34" charset="0"/>
              </a:rPr>
              <a:t>Read commited</a:t>
            </a:r>
            <a:r>
              <a:rPr lang="ru-RU" altLang="ru-RU" sz="2400">
                <a:latin typeface="Calibri" panose="020F0502020204030204" pitchFamily="34" charset="0"/>
              </a:rPr>
              <a:t> – </a:t>
            </a:r>
            <a:r>
              <a:rPr lang="ru-RU" altLang="ru-RU" sz="2400" b="0">
                <a:latin typeface="Calibri" panose="020F0502020204030204" pitchFamily="34" charset="0"/>
              </a:rPr>
              <a:t>допускается читать только данные завершенных транзакций.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latin typeface="Calibri" panose="020F0502020204030204" pitchFamily="34" charset="0"/>
              </a:rPr>
              <a:t>Read uncommited</a:t>
            </a:r>
            <a:r>
              <a:rPr lang="ru-RU" altLang="ru-RU" sz="2400">
                <a:latin typeface="Calibri" panose="020F0502020204030204" pitchFamily="34" charset="0"/>
              </a:rPr>
              <a:t> - </a:t>
            </a:r>
            <a:r>
              <a:rPr lang="ru-RU" altLang="ru-RU" sz="2400" b="0">
                <a:latin typeface="Calibri" panose="020F0502020204030204" pitchFamily="34" charset="0"/>
              </a:rPr>
              <a:t>допускается читать “грязные данные”, т.е., данные незавершенных транзакций.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71438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sz="4000" b="1"/>
              <a:t>DCL</a:t>
            </a:r>
            <a:r>
              <a:rPr lang="ru-RU" sz="4000" b="1" dirty="0"/>
              <a:t> – </a:t>
            </a:r>
            <a:r>
              <a:rPr sz="4000" b="1"/>
              <a:t>data control language</a:t>
            </a:r>
            <a:r>
              <a:rPr lang="ru-RU" sz="4000" b="1" dirty="0"/>
              <a:t> (язык управления данными)</a:t>
            </a:r>
            <a:endParaRPr lang="ru-RU" sz="4000" dirty="0"/>
          </a:p>
        </p:txBody>
      </p:sp>
      <p:sp>
        <p:nvSpPr>
          <p:cNvPr id="32771" name="Заголовок 1"/>
          <p:cNvSpPr txBox="1">
            <a:spLocks/>
          </p:cNvSpPr>
          <p:nvPr/>
        </p:nvSpPr>
        <p:spPr bwMode="auto">
          <a:xfrm>
            <a:off x="571500" y="2000250"/>
            <a:ext cx="82867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содержит команды предоставления </a:t>
            </a:r>
            <a:r>
              <a:rPr lang="ru-RU" altLang="ru-RU" sz="2400">
                <a:latin typeface="Calibri" panose="020F0502020204030204" pitchFamily="34" charset="0"/>
              </a:rPr>
              <a:t>(</a:t>
            </a:r>
            <a:r>
              <a:rPr lang="en-US" altLang="ru-RU" sz="2400">
                <a:latin typeface="Calibri" panose="020F0502020204030204" pitchFamily="34" charset="0"/>
              </a:rPr>
              <a:t>GRANT</a:t>
            </a:r>
            <a:r>
              <a:rPr lang="ru-RU" altLang="ru-RU" sz="2400">
                <a:latin typeface="Calibri" panose="020F0502020204030204" pitchFamily="34" charset="0"/>
              </a:rPr>
              <a:t>) </a:t>
            </a:r>
            <a:r>
              <a:rPr lang="ru-RU" altLang="ru-RU" sz="2400" b="0">
                <a:latin typeface="Calibri" panose="020F0502020204030204" pitchFamily="34" charset="0"/>
              </a:rPr>
              <a:t>и отнимания</a:t>
            </a:r>
            <a:r>
              <a:rPr lang="ru-RU" altLang="ru-RU" sz="2400">
                <a:latin typeface="Calibri" panose="020F0502020204030204" pitchFamily="34" charset="0"/>
              </a:rPr>
              <a:t> (</a:t>
            </a:r>
            <a:r>
              <a:rPr lang="en-US" altLang="ru-RU" sz="2400">
                <a:latin typeface="Calibri" panose="020F0502020204030204" pitchFamily="34" charset="0"/>
              </a:rPr>
              <a:t>REVOKE</a:t>
            </a:r>
            <a:r>
              <a:rPr lang="ru-RU" altLang="ru-RU" sz="2400">
                <a:latin typeface="Calibri" panose="020F0502020204030204" pitchFamily="34" charset="0"/>
              </a:rPr>
              <a:t>) </a:t>
            </a:r>
            <a:r>
              <a:rPr lang="ru-RU" altLang="ru-RU" sz="2400" b="0">
                <a:latin typeface="Calibri" panose="020F0502020204030204" pitchFamily="34" charset="0"/>
              </a:rPr>
              <a:t>прав доступа, а также запрета доступа </a:t>
            </a:r>
            <a:r>
              <a:rPr lang="ru-RU" altLang="ru-RU" sz="2400">
                <a:latin typeface="Calibri" panose="020F0502020204030204" pitchFamily="34" charset="0"/>
              </a:rPr>
              <a:t>(</a:t>
            </a:r>
            <a:r>
              <a:rPr lang="en-US" altLang="ru-RU" sz="2400">
                <a:latin typeface="Calibri" panose="020F0502020204030204" pitchFamily="34" charset="0"/>
              </a:rPr>
              <a:t>DENY</a:t>
            </a:r>
            <a:r>
              <a:rPr lang="ru-RU" altLang="ru-RU" sz="2400">
                <a:latin typeface="Calibri" panose="020F0502020204030204" pitchFamily="34" charset="0"/>
              </a:rPr>
              <a:t>).</a:t>
            </a: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 i="1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 i="1">
                <a:latin typeface="Calibri" panose="020F0502020204030204" pitchFamily="34" charset="0"/>
              </a:rPr>
              <a:t>Примеры:</a:t>
            </a: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предоставление прав на выборку и изменение данных в таблице </a:t>
            </a:r>
            <a:r>
              <a:rPr lang="en-US" altLang="ru-RU" sz="2400" b="0">
                <a:latin typeface="Calibri" panose="020F0502020204030204" pitchFamily="34" charset="0"/>
              </a:rPr>
              <a:t>k</a:t>
            </a:r>
            <a:r>
              <a:rPr lang="ru-RU" altLang="ru-RU" sz="2400" b="0">
                <a:latin typeface="Calibri" panose="020F0502020204030204" pitchFamily="34" charset="0"/>
              </a:rPr>
              <a:t>_</a:t>
            </a:r>
            <a:r>
              <a:rPr lang="en-US" altLang="ru-RU" sz="2400" b="0">
                <a:latin typeface="Calibri" panose="020F0502020204030204" pitchFamily="34" charset="0"/>
              </a:rPr>
              <a:t>contract </a:t>
            </a:r>
            <a:r>
              <a:rPr lang="ru-RU" altLang="ru-RU" sz="2400" b="0">
                <a:latin typeface="Calibri" panose="020F0502020204030204" pitchFamily="34" charset="0"/>
              </a:rPr>
              <a:t>пользователю </a:t>
            </a:r>
            <a:r>
              <a:rPr lang="en-US" altLang="ru-RU" sz="2400" b="0">
                <a:latin typeface="Calibri" panose="020F0502020204030204" pitchFamily="34" charset="0"/>
              </a:rPr>
              <a:t>public</a:t>
            </a:r>
            <a:r>
              <a:rPr lang="ru-RU" altLang="ru-RU" sz="2400" b="0">
                <a:latin typeface="Calibri" panose="020F0502020204030204" pitchFamily="34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b="0"/>
              <a:t>GRANT SELECT, UPDATE ON k_contract TO public</a:t>
            </a:r>
            <a:endParaRPr lang="ru-RU" altLang="ru-RU" sz="24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запрет удаления данных из таблицы </a:t>
            </a:r>
            <a:r>
              <a:rPr lang="en-US" altLang="ru-RU" sz="2400" b="0">
                <a:latin typeface="Calibri" panose="020F0502020204030204" pitchFamily="34" charset="0"/>
              </a:rPr>
              <a:t>k</a:t>
            </a:r>
            <a:r>
              <a:rPr lang="ru-RU" altLang="ru-RU" sz="2400" b="0">
                <a:latin typeface="Calibri" panose="020F0502020204030204" pitchFamily="34" charset="0"/>
              </a:rPr>
              <a:t>_</a:t>
            </a:r>
            <a:r>
              <a:rPr lang="en-US" altLang="ru-RU" sz="2400" b="0">
                <a:latin typeface="Calibri" panose="020F0502020204030204" pitchFamily="34" charset="0"/>
              </a:rPr>
              <a:t>contract</a:t>
            </a:r>
            <a:r>
              <a:rPr lang="ru-RU" altLang="ru-RU" sz="2400" b="0">
                <a:latin typeface="Calibri" panose="020F0502020204030204" pitchFamily="34" charset="0"/>
              </a:rPr>
              <a:t> пользователю </a:t>
            </a:r>
            <a:r>
              <a:rPr lang="en-US" altLang="ru-RU" sz="2400" b="0">
                <a:latin typeface="Calibri" panose="020F0502020204030204" pitchFamily="34" charset="0"/>
              </a:rPr>
              <a:t>public</a:t>
            </a:r>
            <a:r>
              <a:rPr lang="ru-RU" altLang="ru-RU" sz="2400" b="0">
                <a:latin typeface="Calibri" panose="020F0502020204030204" pitchFamily="34" charset="0"/>
              </a:rPr>
              <a:t>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b="0"/>
              <a:t>DENY DELETE ON k_contract FROM public</a:t>
            </a:r>
            <a:endParaRPr lang="ru-RU" altLang="ru-RU" sz="2400" b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48872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-1548680" y="116632"/>
            <a:ext cx="6511925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>Виды запросов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03648" y="1700808"/>
            <a:ext cx="6400800" cy="3475037"/>
          </a:xfrm>
        </p:spPr>
        <p:txBody>
          <a:bodyPr/>
          <a:lstStyle/>
          <a:p>
            <a:pPr eaLnBrk="1" hangingPunct="1"/>
            <a:r>
              <a:rPr lang="ru-RU" altLang="ru-RU" dirty="0"/>
              <a:t>Поисковые</a:t>
            </a:r>
          </a:p>
          <a:p>
            <a:pPr eaLnBrk="1" hangingPunct="1"/>
            <a:r>
              <a:rPr lang="ru-RU" altLang="ru-RU" dirty="0"/>
              <a:t>Корректирующие</a:t>
            </a:r>
          </a:p>
          <a:p>
            <a:pPr lvl="1" eaLnBrk="1" hangingPunct="1"/>
            <a:r>
              <a:rPr lang="ru-RU" altLang="ru-RU" dirty="0"/>
              <a:t>включение новой записи (</a:t>
            </a:r>
            <a:r>
              <a:rPr lang="en-US" altLang="ru-RU" dirty="0"/>
              <a:t>INSERT</a:t>
            </a:r>
            <a:r>
              <a:rPr lang="ru-RU" altLang="ru-RU" dirty="0"/>
              <a:t>),</a:t>
            </a:r>
          </a:p>
          <a:p>
            <a:pPr lvl="1" eaLnBrk="1" hangingPunct="1"/>
            <a:r>
              <a:rPr lang="ru-RU" altLang="ru-RU" dirty="0"/>
              <a:t> обновление отдельных полей (</a:t>
            </a:r>
            <a:r>
              <a:rPr lang="en-US" altLang="ru-RU" dirty="0"/>
              <a:t>UPDATE</a:t>
            </a:r>
            <a:r>
              <a:rPr lang="ru-RU" altLang="ru-RU" dirty="0"/>
              <a:t>),</a:t>
            </a:r>
          </a:p>
          <a:p>
            <a:pPr lvl="1" eaLnBrk="1" hangingPunct="1"/>
            <a:r>
              <a:rPr lang="ru-RU" altLang="ru-RU" dirty="0"/>
              <a:t> удаление записи или группы записей (</a:t>
            </a:r>
            <a:r>
              <a:rPr lang="en-US" altLang="ru-RU" dirty="0"/>
              <a:t>DELETE</a:t>
            </a:r>
            <a:r>
              <a:rPr lang="ru-RU" altLang="ru-RU" dirty="0"/>
              <a:t>). </a:t>
            </a:r>
          </a:p>
          <a:p>
            <a:pPr lvl="1" eaLnBrk="1" hangingPunct="1"/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03815773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-1404664" y="0"/>
            <a:ext cx="6511925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sz="4000" dirty="0"/>
              <a:t>Поисковый запрос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03648" y="1556792"/>
            <a:ext cx="6400800" cy="34750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/>
              <a:t>SELECT &lt;список колонок, включаемых в ответ&gt;</a:t>
            </a:r>
          </a:p>
          <a:p>
            <a:pPr eaLnBrk="1" hangingPunct="1">
              <a:buFontTx/>
              <a:buNone/>
            </a:pPr>
            <a:r>
              <a:rPr lang="ru-RU" altLang="ru-RU" dirty="0"/>
              <a:t>FROM &lt;список таблиц&gt;</a:t>
            </a:r>
          </a:p>
          <a:p>
            <a:pPr eaLnBrk="1" hangingPunct="1">
              <a:buFontTx/>
              <a:buNone/>
            </a:pPr>
            <a:r>
              <a:rPr lang="ru-RU" altLang="ru-RU" dirty="0"/>
              <a:t>WHERE &lt;условие&gt; </a:t>
            </a:r>
          </a:p>
          <a:p>
            <a:pPr eaLnBrk="1" hangingPunct="1">
              <a:buFontTx/>
              <a:buNone/>
            </a:pPr>
            <a:r>
              <a:rPr lang="ru-RU" altLang="ru-RU" dirty="0"/>
              <a:t>пример:</a:t>
            </a:r>
          </a:p>
          <a:p>
            <a:pPr eaLnBrk="1" hangingPunct="1">
              <a:buFontTx/>
              <a:buNone/>
            </a:pPr>
            <a:r>
              <a:rPr lang="en-US" altLang="ru-RU" dirty="0"/>
              <a:t>SELECT * FROM </a:t>
            </a:r>
            <a:r>
              <a:rPr lang="en-US" altLang="ru-RU" dirty="0" err="1"/>
              <a:t>kadr</a:t>
            </a:r>
            <a:r>
              <a:rPr lang="en-US" altLang="ru-RU" dirty="0"/>
              <a:t> WHERE </a:t>
            </a:r>
            <a:r>
              <a:rPr lang="en-US" altLang="ru-RU" dirty="0" err="1"/>
              <a:t>vozr</a:t>
            </a:r>
            <a:r>
              <a:rPr lang="en-US" altLang="ru-RU" dirty="0"/>
              <a:t> = 40 AND pol = «</a:t>
            </a:r>
            <a:r>
              <a:rPr lang="ru-RU" altLang="ru-RU" dirty="0"/>
              <a:t>м</a:t>
            </a:r>
            <a:r>
              <a:rPr lang="en-US" altLang="ru-RU" dirty="0"/>
              <a:t>»;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59451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71600" y="620688"/>
            <a:ext cx="6400800" cy="34750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dirty="0"/>
              <a:t>	Оператор </a:t>
            </a:r>
            <a:r>
              <a:rPr lang="en-US" altLang="ru-RU" sz="2800" dirty="0"/>
              <a:t>SELECT</a:t>
            </a:r>
            <a:r>
              <a:rPr lang="ru-RU" altLang="ru-RU" sz="2800" dirty="0"/>
              <a:t> оперирует над множествами и результатом обработки в общем случае является множество строк. К этим множествам могут быть применены теоретико-множественные операции объединение (</a:t>
            </a:r>
            <a:r>
              <a:rPr lang="en-US" altLang="ru-RU" sz="2800" dirty="0"/>
              <a:t>UNION</a:t>
            </a:r>
            <a:r>
              <a:rPr lang="ru-RU" altLang="ru-RU" sz="2800" dirty="0"/>
              <a:t>), пересечение (</a:t>
            </a:r>
            <a:r>
              <a:rPr lang="en-US" altLang="ru-RU" sz="2800" dirty="0"/>
              <a:t>INTERSECTION</a:t>
            </a:r>
            <a:r>
              <a:rPr lang="ru-RU" altLang="ru-RU" sz="2800" dirty="0"/>
              <a:t>), разность (</a:t>
            </a:r>
            <a:r>
              <a:rPr lang="en-US" altLang="ru-RU" sz="2800" dirty="0"/>
              <a:t>DIFFERENCE</a:t>
            </a:r>
            <a:r>
              <a:rPr lang="ru-RU" altLang="ru-RU" sz="2800" dirty="0"/>
              <a:t>, </a:t>
            </a:r>
            <a:r>
              <a:rPr lang="en-US" altLang="ru-RU" sz="2800" dirty="0"/>
              <a:t>MINUS</a:t>
            </a:r>
            <a:r>
              <a:rPr lang="ru-RU" altLang="ru-RU" sz="2800" dirty="0"/>
              <a:t>, </a:t>
            </a:r>
            <a:r>
              <a:rPr lang="en-US" altLang="ru-RU" sz="2800" dirty="0"/>
              <a:t>EXCEPT</a:t>
            </a:r>
            <a:r>
              <a:rPr lang="ru-RU" altLang="ru-RU" sz="2800" dirty="0"/>
              <a:t>) и другие. В разных реализациях языка SQL наборы теоретико-множественных операций различаются </a:t>
            </a:r>
          </a:p>
        </p:txBody>
      </p:sp>
    </p:spTree>
    <p:extLst>
      <p:ext uri="{BB962C8B-B14F-4D97-AF65-F5344CB8AC3E}">
        <p14:creationId xmlns:p14="http://schemas.microsoft.com/office/powerpoint/2010/main" val="375670724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ru-RU" altLang="ru-RU" sz="3200" dirty="0"/>
              <a:t>Язык SQL позволяет запрашивать вычисляемые значения </a:t>
            </a:r>
          </a:p>
          <a:p>
            <a:pPr eaLnBrk="1" hangingPunct="1">
              <a:buFontTx/>
              <a:buNone/>
            </a:pPr>
            <a:endParaRPr lang="ru-RU" altLang="ru-RU" sz="3200" dirty="0"/>
          </a:p>
          <a:p>
            <a:pPr eaLnBrk="1" hangingPunct="1">
              <a:buFontTx/>
              <a:buNone/>
            </a:pPr>
            <a:r>
              <a:rPr lang="ru-RU" altLang="ru-RU" sz="3200" dirty="0"/>
              <a:t>пример:</a:t>
            </a:r>
          </a:p>
          <a:p>
            <a:pPr eaLnBrk="1" hangingPunct="1">
              <a:buFontTx/>
              <a:buNone/>
            </a:pPr>
            <a:r>
              <a:rPr lang="en-US" altLang="ru-RU" sz="3200" dirty="0"/>
              <a:t>SELECT </a:t>
            </a:r>
            <a:r>
              <a:rPr lang="en-US" altLang="ru-RU" sz="3200" dirty="0" err="1"/>
              <a:t>naimprod</a:t>
            </a:r>
            <a:r>
              <a:rPr lang="en-US" altLang="ru-RU" sz="3200" dirty="0"/>
              <a:t>, </a:t>
            </a:r>
            <a:r>
              <a:rPr lang="en-US" altLang="ru-RU" sz="3200" dirty="0" err="1"/>
              <a:t>datapost</a:t>
            </a:r>
            <a:r>
              <a:rPr lang="en-US" altLang="ru-RU" sz="3200" dirty="0"/>
              <a:t>, </a:t>
            </a:r>
            <a:r>
              <a:rPr lang="en-US" altLang="ru-RU" sz="3200" dirty="0" err="1"/>
              <a:t>kolv</a:t>
            </a:r>
            <a:r>
              <a:rPr lang="en-US" altLang="ru-RU" sz="3200" dirty="0"/>
              <a:t>*</a:t>
            </a:r>
            <a:r>
              <a:rPr lang="en-US" altLang="ru-RU" sz="3200" dirty="0" err="1"/>
              <a:t>cena</a:t>
            </a:r>
            <a:endParaRPr lang="en-US" altLang="ru-RU" sz="3200" dirty="0"/>
          </a:p>
          <a:p>
            <a:pPr eaLnBrk="1" hangingPunct="1">
              <a:buFontTx/>
              <a:buNone/>
            </a:pPr>
            <a:r>
              <a:rPr lang="en-US" altLang="ru-RU" sz="3200" dirty="0"/>
              <a:t>FROM </a:t>
            </a:r>
            <a:r>
              <a:rPr lang="en-US" altLang="ru-RU" sz="3200" dirty="0" err="1"/>
              <a:t>postypl</a:t>
            </a:r>
            <a:r>
              <a:rPr lang="ru-RU" altLang="ru-RU" sz="3200" dirty="0"/>
              <a:t> </a:t>
            </a:r>
          </a:p>
          <a:p>
            <a:pPr eaLnBrk="1" hangingPunct="1"/>
            <a:endParaRPr lang="ru-RU" altLang="ru-RU" sz="3200" dirty="0"/>
          </a:p>
        </p:txBody>
      </p:sp>
    </p:spTree>
    <p:extLst>
      <p:ext uri="{BB962C8B-B14F-4D97-AF65-F5344CB8AC3E}">
        <p14:creationId xmlns:p14="http://schemas.microsoft.com/office/powerpoint/2010/main" val="300291121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3608" y="404664"/>
            <a:ext cx="7056784" cy="3475037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ru-RU" altLang="ru-RU" sz="2800" dirty="0"/>
              <a:t> </a:t>
            </a:r>
            <a:r>
              <a:rPr lang="ru-RU" altLang="ru-RU" sz="2800" dirty="0" smtClean="0"/>
              <a:t>Возможна </a:t>
            </a:r>
            <a:r>
              <a:rPr lang="ru-RU" altLang="ru-RU" sz="2800" dirty="0" err="1"/>
              <a:t>подгруппировка</a:t>
            </a:r>
            <a:r>
              <a:rPr lang="ru-RU" altLang="ru-RU" sz="2800" dirty="0"/>
              <a:t> данных с целью получения </a:t>
            </a:r>
            <a:r>
              <a:rPr lang="ru-RU" altLang="ru-RU" sz="2800" dirty="0" err="1"/>
              <a:t>подитогов</a:t>
            </a:r>
            <a:r>
              <a:rPr lang="ru-RU" altLang="ru-RU" sz="2800" dirty="0"/>
              <a:t> или других обобщающих величин. </a:t>
            </a:r>
            <a:endParaRPr lang="en-US" altLang="ru-RU" sz="2800" dirty="0"/>
          </a:p>
          <a:p>
            <a:pPr marL="0" indent="0" eaLnBrk="1" hangingPunct="1">
              <a:buFontTx/>
              <a:buNone/>
            </a:pPr>
            <a:r>
              <a:rPr lang="ru-RU" altLang="ru-RU" sz="2800" dirty="0"/>
              <a:t>В стандарт </a:t>
            </a:r>
            <a:r>
              <a:rPr lang="en-US" altLang="ru-RU" sz="2800" dirty="0"/>
              <a:t>SQL</a:t>
            </a:r>
            <a:r>
              <a:rPr lang="ru-RU" altLang="ru-RU" sz="2800" dirty="0"/>
              <a:t>-92 включены следующие агрегатные функции:</a:t>
            </a:r>
            <a:endParaRPr lang="en-US" altLang="ru-RU" sz="2800" dirty="0"/>
          </a:p>
          <a:p>
            <a:pPr eaLnBrk="1" hangingPunct="1">
              <a:buFontTx/>
              <a:buNone/>
            </a:pPr>
            <a:endParaRPr lang="en-US" altLang="ru-RU" sz="2800" dirty="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ru-RU" sz="2800" i="1" dirty="0">
                <a:solidFill>
                  <a:srgbClr val="FF0000"/>
                </a:solidFill>
              </a:rPr>
              <a:t>count</a:t>
            </a:r>
            <a:r>
              <a:rPr lang="ru-RU" altLang="ru-RU" sz="2800" i="1" dirty="0">
                <a:solidFill>
                  <a:srgbClr val="FF0000"/>
                </a:solidFill>
              </a:rPr>
              <a:t> – подсчет, </a:t>
            </a:r>
            <a:endParaRPr lang="en-US" altLang="ru-RU" sz="2800" i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ru-RU" sz="2800" i="1" dirty="0" err="1">
                <a:solidFill>
                  <a:srgbClr val="FF0000"/>
                </a:solidFill>
              </a:rPr>
              <a:t>avg</a:t>
            </a:r>
            <a:r>
              <a:rPr lang="ru-RU" altLang="ru-RU" sz="2800" i="1" dirty="0">
                <a:solidFill>
                  <a:srgbClr val="FF0000"/>
                </a:solidFill>
              </a:rPr>
              <a:t> – среднее, </a:t>
            </a:r>
            <a:endParaRPr lang="en-US" altLang="ru-RU" sz="2800" i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ru-RU" sz="2800" i="1" dirty="0">
                <a:solidFill>
                  <a:srgbClr val="FF0000"/>
                </a:solidFill>
              </a:rPr>
              <a:t>sum</a:t>
            </a:r>
            <a:r>
              <a:rPr lang="ru-RU" altLang="ru-RU" sz="2800" i="1" dirty="0">
                <a:solidFill>
                  <a:srgbClr val="FF0000"/>
                </a:solidFill>
              </a:rPr>
              <a:t> – сумма, </a:t>
            </a:r>
            <a:endParaRPr lang="en-US" altLang="ru-RU" sz="2800" i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ru-RU" sz="2800" i="1" dirty="0">
                <a:solidFill>
                  <a:srgbClr val="FF0000"/>
                </a:solidFill>
              </a:rPr>
              <a:t>max</a:t>
            </a:r>
            <a:r>
              <a:rPr lang="ru-RU" altLang="ru-RU" sz="2800" i="1" dirty="0">
                <a:solidFill>
                  <a:srgbClr val="FF0000"/>
                </a:solidFill>
              </a:rPr>
              <a:t> – максимум, </a:t>
            </a:r>
            <a:endParaRPr lang="en-US" altLang="ru-RU" sz="2800" i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ru-RU" sz="2800" i="1" dirty="0">
                <a:solidFill>
                  <a:srgbClr val="FF0000"/>
                </a:solidFill>
              </a:rPr>
              <a:t>min</a:t>
            </a:r>
            <a:r>
              <a:rPr lang="ru-RU" altLang="ru-RU" sz="2800" i="1" dirty="0">
                <a:solidFill>
                  <a:srgbClr val="FF0000"/>
                </a:solidFill>
              </a:rPr>
              <a:t> – минимум.  </a:t>
            </a:r>
          </a:p>
        </p:txBody>
      </p:sp>
    </p:spTree>
    <p:extLst>
      <p:ext uri="{BB962C8B-B14F-4D97-AF65-F5344CB8AC3E}">
        <p14:creationId xmlns:p14="http://schemas.microsoft.com/office/powerpoint/2010/main" val="168716635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-540568" y="188640"/>
            <a:ext cx="6511925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sz="3600" dirty="0"/>
              <a:t>Использование трехзначной логики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75656" y="2276872"/>
            <a:ext cx="6400800" cy="3475037"/>
          </a:xfrm>
        </p:spPr>
        <p:txBody>
          <a:bodyPr/>
          <a:lstStyle/>
          <a:p>
            <a:pPr eaLnBrk="1" hangingPunct="1"/>
            <a:r>
              <a:rPr lang="ru-RU" altLang="ru-RU" dirty="0"/>
              <a:t>Истина (</a:t>
            </a:r>
            <a:r>
              <a:rPr lang="en-US" altLang="ru-RU" dirty="0"/>
              <a:t>True)</a:t>
            </a:r>
          </a:p>
          <a:p>
            <a:pPr eaLnBrk="1" hangingPunct="1"/>
            <a:r>
              <a:rPr lang="ru-RU" altLang="ru-RU" dirty="0"/>
              <a:t>Ложь (</a:t>
            </a:r>
            <a:r>
              <a:rPr lang="en-US" altLang="ru-RU" dirty="0"/>
              <a:t>False)</a:t>
            </a:r>
          </a:p>
          <a:p>
            <a:pPr eaLnBrk="1" hangingPunct="1"/>
            <a:r>
              <a:rPr lang="ru-RU" altLang="ru-RU" dirty="0"/>
              <a:t>Неопределенное значение (</a:t>
            </a:r>
            <a:r>
              <a:rPr lang="en-US" altLang="ru-RU" dirty="0"/>
              <a:t>NULL)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88834793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6511925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>Стандарты </a:t>
            </a:r>
            <a:r>
              <a:rPr dirty="0"/>
              <a:t>SQL</a:t>
            </a:r>
            <a:endParaRPr lang="ru-RU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052736"/>
            <a:ext cx="8712200" cy="5281613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/>
              <a:t>В </a:t>
            </a: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1983</a:t>
            </a:r>
            <a:r>
              <a:rPr lang="ru-RU" sz="2400" dirty="0"/>
              <a:t> году </a:t>
            </a:r>
            <a:r>
              <a:rPr lang="ru-RU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Международная организация по стандартизации</a:t>
            </a:r>
            <a:r>
              <a:rPr lang="ru-RU" sz="2400" dirty="0"/>
              <a:t> (ISO) и </a:t>
            </a:r>
            <a:r>
              <a:rPr lang="ru-RU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Американский национальный институт стандартов</a:t>
            </a:r>
            <a:r>
              <a:rPr lang="ru-RU" sz="2400" dirty="0"/>
              <a:t> (ANSI) приступили к разработке стандарта языка SQL. Стандарт SQL был впервые опубликован в </a:t>
            </a: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1986</a:t>
            </a:r>
            <a:r>
              <a:rPr lang="ru-RU" sz="2400" dirty="0"/>
              <a:t> г. (</a:t>
            </a:r>
            <a:r>
              <a:rPr lang="en-US" sz="2400" dirty="0"/>
              <a:t>SQL-</a:t>
            </a:r>
            <a:r>
              <a:rPr lang="ru-RU" sz="2400" dirty="0"/>
              <a:t>86</a:t>
            </a:r>
            <a:r>
              <a:rPr lang="en-US" sz="2400" dirty="0"/>
              <a:t>)- </a:t>
            </a:r>
            <a:r>
              <a:rPr lang="ru-RU" sz="2400" dirty="0"/>
              <a:t>обеспечивал минимальную функциональность.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/>
              <a:t>Обновлялся: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1989</a:t>
            </a:r>
            <a:r>
              <a:rPr lang="ru-RU" sz="2400" dirty="0"/>
              <a:t> – (</a:t>
            </a:r>
            <a:r>
              <a:rPr lang="en-US" sz="2400" dirty="0"/>
              <a:t>SQL-</a:t>
            </a:r>
            <a:r>
              <a:rPr lang="ru-RU" sz="2400" dirty="0"/>
              <a:t>89</a:t>
            </a:r>
            <a:r>
              <a:rPr lang="en-US" sz="2400" dirty="0"/>
              <a:t>)</a:t>
            </a:r>
            <a:r>
              <a:rPr lang="ru-RU" sz="2400" dirty="0"/>
              <a:t>механизм поддержания ссылочной целостности,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1992</a:t>
            </a:r>
            <a:r>
              <a:rPr lang="ru-RU" sz="2400" dirty="0"/>
              <a:t>  - (</a:t>
            </a:r>
            <a:r>
              <a:rPr lang="en-US" sz="2400" dirty="0"/>
              <a:t>SQL-</a:t>
            </a:r>
            <a:r>
              <a:rPr lang="ru-RU" sz="2400" dirty="0"/>
              <a:t>2</a:t>
            </a:r>
            <a:r>
              <a:rPr lang="en-US" sz="2400" dirty="0"/>
              <a:t>) </a:t>
            </a:r>
            <a:r>
              <a:rPr lang="ru-RU" sz="2400" dirty="0"/>
              <a:t>расширенная функциональность, 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1999 </a:t>
            </a:r>
            <a:r>
              <a:rPr lang="en-US" sz="2400" dirty="0"/>
              <a:t>–</a:t>
            </a:r>
            <a:r>
              <a:rPr lang="ru-RU" sz="2400" dirty="0"/>
              <a:t> (</a:t>
            </a:r>
            <a:r>
              <a:rPr lang="en-US" sz="2400" dirty="0"/>
              <a:t>SQL-3) </a:t>
            </a:r>
            <a:r>
              <a:rPr lang="ru-RU" sz="2400" dirty="0"/>
              <a:t>добавлена поддержка регулярных выражений, рекурсивных запросов, поддержка триггеров, и некоторые объектно-ориентированные возможности,</a:t>
            </a:r>
          </a:p>
        </p:txBody>
      </p:sp>
    </p:spTree>
    <p:extLst>
      <p:ext uri="{BB962C8B-B14F-4D97-AF65-F5344CB8AC3E}">
        <p14:creationId xmlns:p14="http://schemas.microsoft.com/office/powerpoint/2010/main" val="342101972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04" y="4119"/>
            <a:ext cx="6511925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>Стандарты </a:t>
            </a:r>
            <a:r>
              <a:rPr dirty="0"/>
              <a:t>SQL</a:t>
            </a:r>
            <a:endParaRPr lang="ru-RU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844824"/>
            <a:ext cx="8713788" cy="4137025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2003 </a:t>
            </a:r>
            <a:r>
              <a:rPr lang="ru-RU" sz="2400" dirty="0"/>
              <a:t>-</a:t>
            </a: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/>
              <a:t> (SQL:2003) введены расширения для работы с XML-данными, оконные функции (применяемые для работы с OLAP-базами данных), генераторы последовательностей и основанные на них типы данных,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2006 </a:t>
            </a:r>
            <a:r>
              <a:rPr lang="ru-RU" sz="2400" dirty="0"/>
              <a:t>–</a:t>
            </a: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/>
              <a:t>(SQL:2006) функциональность работы с XML-данными значительно расширена. Появилась возможность совместно использовать в запросах SQL и X</a:t>
            </a:r>
            <a:r>
              <a:rPr lang="en-US" sz="2400" dirty="0"/>
              <a:t>q</a:t>
            </a:r>
            <a:r>
              <a:rPr lang="ru-RU" sz="2400" dirty="0" err="1"/>
              <a:t>uery</a:t>
            </a:r>
            <a:r>
              <a:rPr lang="ru-RU" sz="2400" dirty="0"/>
              <a:t>,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2008 </a:t>
            </a:r>
            <a:r>
              <a:rPr lang="ru-RU" sz="2400" dirty="0"/>
              <a:t>–</a:t>
            </a:r>
            <a:r>
              <a:rPr lang="ru-RU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/>
              <a:t>(SQL:2008) улучшены возможности оконных функций, устранены некоторые неоднозначности стандарта SQL:2003. </a:t>
            </a:r>
          </a:p>
        </p:txBody>
      </p:sp>
    </p:spTree>
    <p:extLst>
      <p:ext uri="{BB962C8B-B14F-4D97-AF65-F5344CB8AC3E}">
        <p14:creationId xmlns:p14="http://schemas.microsoft.com/office/powerpoint/2010/main" val="396308959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6"/>
          <p:cNvSpPr>
            <a:spLocks noGrp="1" noChangeArrowheads="1"/>
          </p:cNvSpPr>
          <p:nvPr>
            <p:ph type="title"/>
          </p:nvPr>
        </p:nvSpPr>
        <p:spPr>
          <a:xfrm>
            <a:off x="1691680" y="404664"/>
            <a:ext cx="6511925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sz="4000" dirty="0"/>
              <a:t>SQL-серверы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905000"/>
            <a:ext cx="9144000" cy="1970088"/>
          </a:xfrm>
        </p:spPr>
        <p:txBody>
          <a:bodyPr/>
          <a:lstStyle/>
          <a:p>
            <a:pPr marL="0" indent="0" defTabSz="179388" eaLnBrk="1" hangingPunct="1">
              <a:buFontTx/>
              <a:buNone/>
              <a:defRPr/>
            </a:pPr>
            <a:r>
              <a:rPr lang="en-US" altLang="ru-RU" sz="2800" dirty="0"/>
              <a:t>Oracle</a:t>
            </a:r>
            <a:r>
              <a:rPr lang="ru-RU" altLang="ru-RU" sz="2800" dirty="0"/>
              <a:t>      </a:t>
            </a:r>
            <a:r>
              <a:rPr lang="en-US" altLang="ru-RU" sz="2800" dirty="0"/>
              <a:t>  </a:t>
            </a:r>
            <a:r>
              <a:rPr lang="ru-RU" altLang="ru-RU" sz="2800" dirty="0"/>
              <a:t> </a:t>
            </a:r>
            <a:r>
              <a:rPr lang="en-US" altLang="ru-RU" sz="2800" dirty="0"/>
              <a:t>Oracle Corp</a:t>
            </a:r>
            <a:r>
              <a:rPr lang="ru-RU" altLang="ru-RU" sz="2800" dirty="0"/>
              <a:t>. </a:t>
            </a:r>
            <a:r>
              <a:rPr lang="en-US" altLang="ru-RU" sz="2800" dirty="0"/>
              <a:t>  </a:t>
            </a:r>
            <a:r>
              <a:rPr lang="ru-RU" altLang="ru-RU" sz="2800" dirty="0"/>
              <a:t> </a:t>
            </a:r>
            <a:r>
              <a:rPr lang="en-US" altLang="ru-RU" sz="2800" dirty="0">
                <a:hlinkClick r:id="rId2"/>
              </a:rPr>
              <a:t>www</a:t>
            </a:r>
            <a:r>
              <a:rPr lang="ru-RU" altLang="ru-RU" sz="2800" dirty="0">
                <a:hlinkClick r:id="rId2"/>
              </a:rPr>
              <a:t>.</a:t>
            </a:r>
            <a:r>
              <a:rPr lang="en-US" altLang="ru-RU" sz="2800" dirty="0">
                <a:hlinkClick r:id="rId2"/>
              </a:rPr>
              <a:t>oracle</a:t>
            </a:r>
            <a:r>
              <a:rPr lang="ru-RU" altLang="ru-RU" sz="2800" dirty="0">
                <a:hlinkClick r:id="rId2"/>
              </a:rPr>
              <a:t>.</a:t>
            </a:r>
            <a:r>
              <a:rPr lang="en-US" altLang="ru-RU" sz="2800" dirty="0">
                <a:hlinkClick r:id="rId2"/>
              </a:rPr>
              <a:t>com</a:t>
            </a:r>
            <a:endParaRPr lang="ru-RU" altLang="ru-RU" sz="2800" dirty="0"/>
          </a:p>
          <a:p>
            <a:pPr marL="0" indent="0" defTabSz="179388" eaLnBrk="1" hangingPunct="1">
              <a:buFontTx/>
              <a:buNone/>
              <a:defRPr/>
            </a:pPr>
            <a:r>
              <a:rPr lang="en-US" altLang="ru-RU" sz="2800" dirty="0"/>
              <a:t>MySQL</a:t>
            </a:r>
            <a:r>
              <a:rPr lang="ru-RU" altLang="ru-RU" sz="2800" dirty="0"/>
              <a:t>          </a:t>
            </a:r>
            <a:r>
              <a:rPr lang="en-US" altLang="ru-RU" sz="2800" dirty="0"/>
              <a:t>Oracle Corp</a:t>
            </a:r>
            <a:r>
              <a:rPr lang="ru-RU" altLang="ru-RU" sz="2800" dirty="0"/>
              <a:t>.    </a:t>
            </a:r>
            <a:r>
              <a:rPr lang="en-US" altLang="ru-RU" sz="2800" dirty="0"/>
              <a:t>www.mysql.com</a:t>
            </a:r>
          </a:p>
          <a:p>
            <a:pPr eaLnBrk="1" hangingPunct="1">
              <a:buFontTx/>
              <a:buNone/>
              <a:defRPr/>
            </a:pPr>
            <a:r>
              <a:rPr lang="en-US" altLang="ru-RU" sz="2800" dirty="0"/>
              <a:t>MS SQL Server</a:t>
            </a:r>
            <a:r>
              <a:rPr lang="ru-RU" altLang="ru-RU" sz="2800" dirty="0"/>
              <a:t>  </a:t>
            </a:r>
            <a:r>
              <a:rPr lang="en-US" altLang="ru-RU" sz="2800" dirty="0"/>
              <a:t>Microsoft      </a:t>
            </a:r>
            <a:r>
              <a:rPr lang="ru-RU" altLang="ru-RU" sz="2800" dirty="0"/>
              <a:t> </a:t>
            </a:r>
            <a:r>
              <a:rPr lang="en-US" altLang="ru-RU" sz="2800" dirty="0">
                <a:hlinkClick r:id="rId3"/>
              </a:rPr>
              <a:t>www</a:t>
            </a:r>
            <a:r>
              <a:rPr lang="ru-RU" altLang="ru-RU" sz="2800" dirty="0">
                <a:hlinkClick r:id="rId3"/>
              </a:rPr>
              <a:t>.</a:t>
            </a:r>
            <a:r>
              <a:rPr lang="en-US" altLang="ru-RU" sz="2800" dirty="0" err="1">
                <a:hlinkClick r:id="rId3"/>
              </a:rPr>
              <a:t>microsoft</a:t>
            </a:r>
            <a:r>
              <a:rPr lang="ru-RU" altLang="ru-RU" sz="2800" dirty="0">
                <a:hlinkClick r:id="rId3"/>
              </a:rPr>
              <a:t>.</a:t>
            </a:r>
            <a:r>
              <a:rPr lang="en-US" altLang="ru-RU" sz="2800" dirty="0">
                <a:hlinkClick r:id="rId3"/>
              </a:rPr>
              <a:t>com</a:t>
            </a:r>
            <a:endParaRPr lang="ru-RU" altLang="ru-RU" sz="2800" dirty="0"/>
          </a:p>
          <a:p>
            <a:pPr eaLnBrk="1" hangingPunct="1">
              <a:buFontTx/>
              <a:buNone/>
              <a:defRPr/>
            </a:pPr>
            <a:r>
              <a:rPr lang="en-US" altLang="ru-RU" sz="2800" dirty="0"/>
              <a:t>Informix </a:t>
            </a:r>
            <a:r>
              <a:rPr lang="ru-RU" altLang="ru-RU" sz="2800" dirty="0"/>
              <a:t> </a:t>
            </a:r>
            <a:r>
              <a:rPr lang="en-US" altLang="ru-RU" sz="2800" dirty="0"/>
              <a:t>     Informix      </a:t>
            </a:r>
            <a:r>
              <a:rPr lang="ru-RU" altLang="ru-RU" sz="2800" dirty="0"/>
              <a:t> </a:t>
            </a:r>
            <a:r>
              <a:rPr lang="en-US" altLang="ru-RU" sz="2800" dirty="0"/>
              <a:t> www</a:t>
            </a:r>
            <a:r>
              <a:rPr lang="ru-RU" altLang="ru-RU" sz="2800" dirty="0"/>
              <a:t>.</a:t>
            </a:r>
            <a:r>
              <a:rPr lang="en-US" altLang="ru-RU" sz="2800" dirty="0" err="1"/>
              <a:t>informix</a:t>
            </a:r>
            <a:r>
              <a:rPr lang="ru-RU" altLang="ru-RU" sz="2800" dirty="0"/>
              <a:t>.</a:t>
            </a:r>
            <a:r>
              <a:rPr lang="en-US" altLang="ru-RU" sz="2800" dirty="0"/>
              <a:t>com</a:t>
            </a:r>
          </a:p>
          <a:p>
            <a:pPr eaLnBrk="1" hangingPunct="1">
              <a:buFontTx/>
              <a:buNone/>
              <a:tabLst>
                <a:tab pos="4668838" algn="l"/>
              </a:tabLst>
              <a:defRPr/>
            </a:pPr>
            <a:r>
              <a:rPr lang="en-US" altLang="ru-RU" sz="2800" dirty="0"/>
              <a:t>Sybase </a:t>
            </a:r>
            <a:r>
              <a:rPr lang="ru-RU" altLang="ru-RU" sz="2800" dirty="0"/>
              <a:t> </a:t>
            </a:r>
            <a:r>
              <a:rPr lang="en-US" altLang="ru-RU" sz="2800" dirty="0"/>
              <a:t>       Sybase </a:t>
            </a:r>
            <a:r>
              <a:rPr lang="ru-RU" altLang="ru-RU" sz="2800" dirty="0"/>
              <a:t>         </a:t>
            </a:r>
            <a:r>
              <a:rPr lang="en-US" altLang="ru-RU" sz="2800" dirty="0"/>
              <a:t>www.sybase.com</a:t>
            </a:r>
          </a:p>
          <a:p>
            <a:pPr eaLnBrk="1" hangingPunct="1">
              <a:buFontTx/>
              <a:buNone/>
              <a:defRPr/>
            </a:pPr>
            <a:r>
              <a:rPr lang="en-US" altLang="ru-RU" sz="2800" dirty="0"/>
              <a:t>DB2 </a:t>
            </a:r>
            <a:r>
              <a:rPr lang="ru-RU" altLang="ru-RU" sz="2800" dirty="0"/>
              <a:t> </a:t>
            </a:r>
            <a:r>
              <a:rPr lang="en-US" altLang="ru-RU" sz="2800" dirty="0"/>
              <a:t>          IBM           </a:t>
            </a:r>
            <a:r>
              <a:rPr lang="ru-RU" altLang="ru-RU" sz="2800" dirty="0"/>
              <a:t>  </a:t>
            </a:r>
            <a:r>
              <a:rPr lang="en-US" altLang="ru-RU" sz="2800" u="sng" dirty="0"/>
              <a:t>www.4.ibm.com</a:t>
            </a:r>
            <a:endParaRPr lang="ru-RU" altLang="ru-RU" sz="2800" u="sng" dirty="0"/>
          </a:p>
        </p:txBody>
      </p:sp>
    </p:spTree>
    <p:extLst>
      <p:ext uri="{BB962C8B-B14F-4D97-AF65-F5344CB8AC3E}">
        <p14:creationId xmlns:p14="http://schemas.microsoft.com/office/powerpoint/2010/main" val="325911481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1500" y="214313"/>
            <a:ext cx="8358188" cy="1143000"/>
          </a:xfrm>
        </p:spPr>
        <p:txBody>
          <a:bodyPr/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rPr lang="ru-RU" sz="4000" b="1" dirty="0"/>
              <a:t>Диалекты </a:t>
            </a:r>
            <a:r>
              <a:rPr sz="4000" b="1"/>
              <a:t>SQL</a:t>
            </a:r>
            <a:endParaRPr lang="ru-RU" sz="4000" dirty="0"/>
          </a:p>
        </p:txBody>
      </p:sp>
      <p:sp>
        <p:nvSpPr>
          <p:cNvPr id="43011" name="Заголовок 1"/>
          <p:cNvSpPr txBox="1">
            <a:spLocks/>
          </p:cNvSpPr>
          <p:nvPr/>
        </p:nvSpPr>
        <p:spPr bwMode="auto">
          <a:xfrm>
            <a:off x="571500" y="2000250"/>
            <a:ext cx="82867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Каждая СУБД имеет свой собственный  “диалект” </a:t>
            </a:r>
            <a:r>
              <a:rPr lang="en-US" altLang="ru-RU" sz="2400" b="0">
                <a:latin typeface="Calibri" panose="020F0502020204030204" pitchFamily="34" charset="0"/>
              </a:rPr>
              <a:t>SQL</a:t>
            </a:r>
            <a:r>
              <a:rPr lang="ru-RU" altLang="ru-RU" sz="2400" b="0">
                <a:latin typeface="Calibri" panose="020F0502020204030204" pitchFamily="34" charset="0"/>
              </a:rPr>
              <a:t>, включающий, кроме основ </a:t>
            </a:r>
            <a:r>
              <a:rPr lang="en-US" altLang="ru-RU" sz="2400" b="0">
                <a:latin typeface="Calibri" panose="020F0502020204030204" pitchFamily="34" charset="0"/>
              </a:rPr>
              <a:t>SQL</a:t>
            </a:r>
            <a:r>
              <a:rPr lang="ru-RU" altLang="ru-RU" sz="2400" b="0">
                <a:latin typeface="Calibri" panose="020F0502020204030204" pitchFamily="34" charset="0"/>
              </a:rPr>
              <a:t>, команды управления (циклы, условия), функции и прочие средства: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ru-RU" sz="2400" b="0">
                <a:latin typeface="Calibri" panose="020F0502020204030204" pitchFamily="34" charset="0"/>
              </a:rPr>
              <a:t> ORACLE – PL/SQL </a:t>
            </a:r>
            <a:r>
              <a:rPr lang="en-US" altLang="ru-RU" sz="2400" b="0">
                <a:solidFill>
                  <a:srgbClr val="00B050"/>
                </a:solidFill>
                <a:latin typeface="Calibri" panose="020F0502020204030204" pitchFamily="34" charset="0"/>
              </a:rPr>
              <a:t>(</a:t>
            </a:r>
            <a:r>
              <a:rPr lang="en-AU" altLang="ru-RU" sz="2400" b="0">
                <a:solidFill>
                  <a:srgbClr val="00B050"/>
                </a:solidFill>
                <a:latin typeface="Calibri" panose="020F0502020204030204" pitchFamily="34" charset="0"/>
              </a:rPr>
              <a:t>Procedural Language/SQL)</a:t>
            </a:r>
            <a:r>
              <a:rPr lang="en-US" altLang="ru-RU" sz="2400" b="0">
                <a:latin typeface="Calibri" panose="020F0502020204030204" pitchFamily="34" charset="0"/>
              </a:rPr>
              <a:t>,</a:t>
            </a:r>
            <a:endParaRPr lang="ru-RU" altLang="ru-RU" sz="2400" b="0"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ru-RU" sz="2400" b="0">
                <a:latin typeface="Calibri" panose="020F0502020204030204" pitchFamily="34" charset="0"/>
              </a:rPr>
              <a:t> MS SQL Server – Transact SQL,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ru-RU" sz="2400" b="0">
                <a:latin typeface="Calibri" panose="020F0502020204030204" pitchFamily="34" charset="0"/>
              </a:rPr>
              <a:t> MySQL – SQL/PSM  </a:t>
            </a:r>
            <a:r>
              <a:rPr lang="en-US" altLang="ru-RU" sz="2400" b="0">
                <a:solidFill>
                  <a:srgbClr val="00B050"/>
                </a:solidFill>
                <a:latin typeface="Calibri" panose="020F0502020204030204" pitchFamily="34" charset="0"/>
              </a:rPr>
              <a:t>(</a:t>
            </a:r>
            <a:r>
              <a:rPr lang="en-AU" altLang="ru-RU" sz="2400" b="0">
                <a:solidFill>
                  <a:srgbClr val="00B050"/>
                </a:solidFill>
                <a:latin typeface="Calibri" panose="020F0502020204030204" pitchFamily="34" charset="0"/>
              </a:rPr>
              <a:t>SQL/Persistent Stored Module)</a:t>
            </a:r>
            <a:endParaRPr lang="ru-RU" altLang="ru-RU" sz="2400" b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400" b="0">
                <a:latin typeface="Calibri" panose="020F0502020204030204" pitchFamily="34" charset="0"/>
              </a:rPr>
              <a:t>и т.п.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400" b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02512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8923"/>
            <a:ext cx="8132440" cy="788988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solidFill>
                  <a:srgbClr val="C00000"/>
                </a:solidFill>
                <a:latin typeface="Times New Roman" pitchFamily="18" charset="0"/>
              </a:rPr>
              <a:t>Работа с 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SQL </a:t>
            </a:r>
            <a:r>
              <a:rPr lang="ru-RU" sz="3600" dirty="0">
                <a:solidFill>
                  <a:srgbClr val="C00000"/>
                </a:solidFill>
                <a:latin typeface="Times New Roman" pitchFamily="18" charset="0"/>
              </a:rPr>
              <a:t>в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 </a:t>
            </a:r>
            <a:r>
              <a:rPr lang="ru-RU" sz="3600" dirty="0">
                <a:solidFill>
                  <a:srgbClr val="C00000"/>
                </a:solidFill>
                <a:latin typeface="Times New Roman" pitchFamily="18" charset="0"/>
              </a:rPr>
              <a:t>СУБД 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Oracle</a:t>
            </a:r>
            <a:r>
              <a:rPr lang="ru-RU" sz="3600" dirty="0">
                <a:solidFill>
                  <a:srgbClr val="C00000"/>
                </a:solidFill>
                <a:latin typeface="Times New Roman" pitchFamily="18" charset="0"/>
              </a:rPr>
              <a:t>, 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MySQL</a:t>
            </a:r>
            <a:endParaRPr lang="ru-RU" sz="3600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0" y="981075"/>
            <a:ext cx="8964613" cy="41036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2400" dirty="0">
                <a:solidFill>
                  <a:srgbClr val="0D0D11"/>
                </a:solidFill>
              </a:rPr>
              <a:t>Особенности синтаксиса: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2400" dirty="0">
                <a:solidFill>
                  <a:srgbClr val="0D0D11"/>
                </a:solidFill>
              </a:rPr>
              <a:t>В командах SQL не различаются прописные и строчные буквы (кроме содержимого символьных строк).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2400" dirty="0">
                <a:solidFill>
                  <a:srgbClr val="0D0D11"/>
                </a:solidFill>
              </a:rPr>
              <a:t>Каждая команда может занимать несколько строк и заканчивается символом ';'.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2400" dirty="0">
                <a:solidFill>
                  <a:srgbClr val="0D0D11"/>
                </a:solidFill>
              </a:rPr>
              <a:t>Символ и символьная строка заключается в одинарные кавычки: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400" dirty="0">
                <a:solidFill>
                  <a:srgbClr val="0D0D11"/>
                </a:solidFill>
              </a:rPr>
              <a:t>		 </a:t>
            </a:r>
            <a:r>
              <a:rPr lang="en-US" altLang="ru-RU" sz="2400" dirty="0">
                <a:solidFill>
                  <a:srgbClr val="0D0D11"/>
                </a:solidFill>
              </a:rPr>
              <a:t>'</a:t>
            </a:r>
            <a:r>
              <a:rPr lang="ru-RU" altLang="ru-RU" sz="2400" dirty="0">
                <a:solidFill>
                  <a:srgbClr val="0D0D11"/>
                </a:solidFill>
              </a:rPr>
              <a:t>А</a:t>
            </a:r>
            <a:r>
              <a:rPr lang="en-US" altLang="ru-RU" sz="2400" dirty="0">
                <a:solidFill>
                  <a:srgbClr val="0D0D11"/>
                </a:solidFill>
              </a:rPr>
              <a:t>'</a:t>
            </a:r>
            <a:r>
              <a:rPr lang="ru-RU" altLang="ru-RU" sz="2400" dirty="0">
                <a:solidFill>
                  <a:srgbClr val="0D0D11"/>
                </a:solidFill>
              </a:rPr>
              <a:t>, </a:t>
            </a:r>
            <a:r>
              <a:rPr lang="en-US" altLang="ru-RU" sz="2400" dirty="0">
                <a:solidFill>
                  <a:srgbClr val="0D0D11"/>
                </a:solidFill>
              </a:rPr>
              <a:t>'</a:t>
            </a:r>
            <a:r>
              <a:rPr lang="ru-RU" altLang="ru-RU" sz="2400" dirty="0">
                <a:solidFill>
                  <a:srgbClr val="0D0D11"/>
                </a:solidFill>
              </a:rPr>
              <a:t>2</a:t>
            </a:r>
            <a:r>
              <a:rPr lang="en-US" altLang="ru-RU" sz="2400" dirty="0">
                <a:solidFill>
                  <a:srgbClr val="0D0D11"/>
                </a:solidFill>
              </a:rPr>
              <a:t>' </a:t>
            </a:r>
            <a:r>
              <a:rPr lang="ru-RU" altLang="ru-RU" sz="2400" dirty="0">
                <a:solidFill>
                  <a:srgbClr val="0D0D11"/>
                </a:solidFill>
              </a:rPr>
              <a:t>, </a:t>
            </a:r>
            <a:r>
              <a:rPr lang="en-US" altLang="ru-RU" sz="2400" dirty="0">
                <a:solidFill>
                  <a:srgbClr val="0D0D11"/>
                </a:solidFill>
              </a:rPr>
              <a:t>'</a:t>
            </a:r>
            <a:r>
              <a:rPr lang="ru-RU" altLang="ru-RU" sz="2400" dirty="0">
                <a:solidFill>
                  <a:srgbClr val="0D0D11"/>
                </a:solidFill>
              </a:rPr>
              <a:t>строка</a:t>
            </a:r>
            <a:r>
              <a:rPr lang="en-US" altLang="ru-RU" sz="2400" dirty="0">
                <a:solidFill>
                  <a:srgbClr val="0D0D11"/>
                </a:solidFill>
              </a:rPr>
              <a:t>'</a:t>
            </a:r>
            <a:r>
              <a:rPr lang="ru-RU" altLang="ru-RU" sz="2400" dirty="0">
                <a:solidFill>
                  <a:srgbClr val="0D0D11"/>
                </a:solidFill>
              </a:rPr>
              <a:t>,  </a:t>
            </a:r>
            <a:r>
              <a:rPr lang="en-US" altLang="ru-RU" sz="2400" dirty="0">
                <a:solidFill>
                  <a:srgbClr val="0D0D11"/>
                </a:solidFill>
              </a:rPr>
              <a:t>'</a:t>
            </a:r>
            <a:r>
              <a:rPr lang="ru-RU" altLang="ru-RU" sz="2400" dirty="0">
                <a:solidFill>
                  <a:srgbClr val="0D0D11"/>
                </a:solidFill>
              </a:rPr>
              <a:t>другая строка</a:t>
            </a:r>
            <a:r>
              <a:rPr lang="en-US" altLang="ru-RU" sz="2400" dirty="0">
                <a:solidFill>
                  <a:srgbClr val="0D0D11"/>
                </a:solidFill>
              </a:rPr>
              <a:t>'</a:t>
            </a:r>
            <a:endParaRPr lang="ru-RU" altLang="ru-RU" sz="24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2400" dirty="0">
                <a:solidFill>
                  <a:srgbClr val="0D0D11"/>
                </a:solidFill>
              </a:rPr>
              <a:t>Однострочный комментарий начинается с символов '--</a:t>
            </a:r>
            <a:r>
              <a:rPr lang="en-US" altLang="ru-RU" sz="2400" dirty="0">
                <a:solidFill>
                  <a:srgbClr val="0D0D11"/>
                </a:solidFill>
              </a:rPr>
              <a:t>'.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2400" dirty="0">
                <a:solidFill>
                  <a:srgbClr val="0D0D11"/>
                </a:solidFill>
              </a:rPr>
              <a:t>Многострочный комментарий заключается в символы          /* ... */.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ru-RU" sz="2400" dirty="0">
                <a:solidFill>
                  <a:srgbClr val="0D0D11"/>
                </a:solidFill>
              </a:rPr>
              <a:t>SQL</a:t>
            </a:r>
            <a:r>
              <a:rPr lang="ru-RU" altLang="ru-RU" sz="2400" dirty="0">
                <a:solidFill>
                  <a:srgbClr val="0D0D11"/>
                </a:solidFill>
              </a:rPr>
              <a:t>-приложения СУБД </a:t>
            </a:r>
            <a:r>
              <a:rPr lang="ru-RU" altLang="ru-RU" sz="2400" dirty="0" err="1">
                <a:solidFill>
                  <a:srgbClr val="0D0D11"/>
                </a:solidFill>
              </a:rPr>
              <a:t>Oracle</a:t>
            </a:r>
            <a:r>
              <a:rPr lang="ru-RU" altLang="ru-RU" sz="2400" dirty="0">
                <a:solidFill>
                  <a:srgbClr val="0D0D11"/>
                </a:solidFill>
              </a:rPr>
              <a:t>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2400" dirty="0">
                <a:solidFill>
                  <a:srgbClr val="0D0D11"/>
                </a:solidFill>
              </a:rPr>
              <a:t>SQL </a:t>
            </a:r>
            <a:r>
              <a:rPr lang="ru-RU" altLang="ru-RU" sz="2400" dirty="0" err="1">
                <a:solidFill>
                  <a:srgbClr val="0D0D11"/>
                </a:solidFill>
              </a:rPr>
              <a:t>Work</a:t>
            </a:r>
            <a:r>
              <a:rPr lang="ru-RU" altLang="ru-RU" sz="2400" dirty="0">
                <a:solidFill>
                  <a:srgbClr val="0D0D11"/>
                </a:solidFill>
              </a:rPr>
              <a:t> </a:t>
            </a:r>
            <a:r>
              <a:rPr lang="ru-RU" altLang="ru-RU" sz="2400" dirty="0" err="1">
                <a:solidFill>
                  <a:srgbClr val="0D0D11"/>
                </a:solidFill>
              </a:rPr>
              <a:t>Sheet</a:t>
            </a:r>
            <a:r>
              <a:rPr lang="ru-RU" altLang="ru-RU" sz="2400" dirty="0">
                <a:solidFill>
                  <a:srgbClr val="0D0D11"/>
                </a:solidFill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ru-RU" sz="2400" dirty="0">
                <a:solidFill>
                  <a:srgbClr val="0D0D11"/>
                </a:solidFill>
              </a:rPr>
              <a:t>SQL</a:t>
            </a:r>
            <a:r>
              <a:rPr lang="ru-RU" altLang="ru-RU" sz="2400" dirty="0">
                <a:solidFill>
                  <a:srgbClr val="0D0D11"/>
                </a:solidFill>
              </a:rPr>
              <a:t>-приложения СУБД </a:t>
            </a:r>
            <a:r>
              <a:rPr lang="en-US" altLang="ru-RU" sz="2400" dirty="0">
                <a:solidFill>
                  <a:srgbClr val="0D0D11"/>
                </a:solidFill>
              </a:rPr>
              <a:t>MySQL:</a:t>
            </a:r>
            <a:endParaRPr lang="ru-RU" altLang="ru-RU" sz="24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ru-RU" sz="2400" dirty="0">
                <a:solidFill>
                  <a:srgbClr val="0D0D11"/>
                </a:solidFill>
              </a:rPr>
              <a:t>MySQL </a:t>
            </a:r>
            <a:r>
              <a:rPr lang="en-US" altLang="ru-RU" sz="2400" dirty="0" err="1">
                <a:solidFill>
                  <a:srgbClr val="0D0D11"/>
                </a:solidFill>
              </a:rPr>
              <a:t>WorkBench</a:t>
            </a:r>
            <a:r>
              <a:rPr lang="ru-RU" altLang="ru-RU" sz="2400" dirty="0">
                <a:solidFill>
                  <a:srgbClr val="0D0D11"/>
                </a:solidFill>
              </a:rPr>
              <a:t>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endParaRPr lang="ru-RU" altLang="ru-RU" sz="2400" dirty="0">
              <a:solidFill>
                <a:srgbClr val="0D0D1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404664"/>
            <a:ext cx="7772400" cy="715963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Команды </a:t>
            </a:r>
            <a:r>
              <a:rPr lang="en-US" sz="3600" dirty="0">
                <a:latin typeface="Times New Roman" pitchFamily="18" charset="0"/>
              </a:rPr>
              <a:t>DDL</a:t>
            </a:r>
            <a:endParaRPr lang="ru-RU" sz="3600" dirty="0">
              <a:latin typeface="Times New Roman" pitchFamily="18" charset="0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757238" y="1628775"/>
            <a:ext cx="7918450" cy="4114800"/>
          </a:xfrm>
        </p:spPr>
        <p:txBody>
          <a:bodyPr rtlCol="0">
            <a:normAutofit fontScale="92500"/>
          </a:bodyPr>
          <a:lstStyle/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800" dirty="0">
                <a:solidFill>
                  <a:srgbClr val="0D0D11"/>
                </a:solidFill>
              </a:rPr>
              <a:t>CREATE </a:t>
            </a:r>
            <a:r>
              <a:rPr lang="ru-RU" sz="2800" dirty="0">
                <a:solidFill>
                  <a:srgbClr val="0D0D11"/>
                </a:solidFill>
              </a:rPr>
              <a:t>– создание объекта.</a:t>
            </a:r>
            <a:endParaRPr lang="en-US" sz="2800" dirty="0">
              <a:solidFill>
                <a:srgbClr val="0D0D11"/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800" dirty="0">
                <a:solidFill>
                  <a:srgbClr val="0D0D11"/>
                </a:solidFill>
              </a:rPr>
              <a:t>ALTER </a:t>
            </a:r>
            <a:r>
              <a:rPr lang="ru-RU" sz="2800" dirty="0">
                <a:solidFill>
                  <a:srgbClr val="0D0D11"/>
                </a:solidFill>
              </a:rPr>
              <a:t>– изменения структуры объекта.</a:t>
            </a:r>
            <a:endParaRPr lang="en-US" sz="2800" dirty="0">
              <a:solidFill>
                <a:srgbClr val="0D0D11"/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800" dirty="0">
                <a:solidFill>
                  <a:srgbClr val="0D0D11"/>
                </a:solidFill>
              </a:rPr>
              <a:t>DROP</a:t>
            </a:r>
            <a:r>
              <a:rPr lang="ru-RU" sz="2800" dirty="0">
                <a:solidFill>
                  <a:srgbClr val="0D0D11"/>
                </a:solidFill>
              </a:rPr>
              <a:t> – удаление объекта.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800" dirty="0">
                <a:solidFill>
                  <a:srgbClr val="0D0D11"/>
                </a:solidFill>
              </a:rPr>
              <a:t>Общий вид синтаксиса команд </a:t>
            </a:r>
            <a:r>
              <a:rPr lang="en-US" sz="2800" dirty="0">
                <a:solidFill>
                  <a:srgbClr val="0D0D11"/>
                </a:solidFill>
              </a:rPr>
              <a:t>DDL</a:t>
            </a:r>
            <a:r>
              <a:rPr lang="ru-RU" sz="2800" dirty="0">
                <a:solidFill>
                  <a:srgbClr val="0D0D11"/>
                </a:solidFill>
              </a:rPr>
              <a:t>: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ru-RU" sz="2800" dirty="0">
              <a:solidFill>
                <a:srgbClr val="0D0D11"/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800" dirty="0">
                <a:solidFill>
                  <a:srgbClr val="0D0D11"/>
                </a:solidFill>
              </a:rPr>
              <a:t>create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800" dirty="0">
                <a:solidFill>
                  <a:srgbClr val="0D0D11"/>
                </a:solidFill>
              </a:rPr>
              <a:t>alter	</a:t>
            </a:r>
            <a:r>
              <a:rPr lang="ru-RU" sz="2800" dirty="0">
                <a:solidFill>
                  <a:srgbClr val="0D0D11"/>
                </a:solidFill>
              </a:rPr>
              <a:t>      </a:t>
            </a:r>
            <a:r>
              <a:rPr lang="ru-RU" sz="2400" i="1" dirty="0" err="1">
                <a:solidFill>
                  <a:srgbClr val="0D0D11"/>
                </a:solidFill>
              </a:rPr>
              <a:t>тип_объекта</a:t>
            </a:r>
            <a:r>
              <a:rPr lang="ru-RU" sz="2400" i="1" dirty="0">
                <a:solidFill>
                  <a:srgbClr val="0D0D11"/>
                </a:solidFill>
              </a:rPr>
              <a:t>  </a:t>
            </a:r>
            <a:r>
              <a:rPr lang="ru-RU" sz="2400" i="1" dirty="0" err="1">
                <a:solidFill>
                  <a:srgbClr val="0D0D11"/>
                </a:solidFill>
              </a:rPr>
              <a:t>имя_объекта</a:t>
            </a:r>
            <a:r>
              <a:rPr lang="ru-RU" sz="2400" i="1" dirty="0">
                <a:solidFill>
                  <a:srgbClr val="0D0D11"/>
                </a:solidFill>
              </a:rPr>
              <a:t>  </a:t>
            </a:r>
            <a:r>
              <a:rPr lang="en-US" sz="2400" i="1" dirty="0">
                <a:solidFill>
                  <a:srgbClr val="0D0D11"/>
                </a:solidFill>
              </a:rPr>
              <a:t>[</a:t>
            </a:r>
            <a:r>
              <a:rPr lang="ru-RU" sz="2400" i="1" dirty="0">
                <a:solidFill>
                  <a:srgbClr val="0D0D11"/>
                </a:solidFill>
              </a:rPr>
              <a:t>параметры</a:t>
            </a:r>
            <a:r>
              <a:rPr lang="en-US" sz="2400" i="1" dirty="0">
                <a:solidFill>
                  <a:srgbClr val="0D0D11"/>
                </a:solidFill>
              </a:rPr>
              <a:t>]</a:t>
            </a:r>
            <a:r>
              <a:rPr lang="ru-RU" sz="2400" i="1" dirty="0">
                <a:solidFill>
                  <a:srgbClr val="0D0D11"/>
                </a:solidFill>
              </a:rPr>
              <a:t>;</a:t>
            </a:r>
            <a:endParaRPr lang="en-US" sz="2400" i="1" dirty="0">
              <a:solidFill>
                <a:srgbClr val="0D0D11"/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800" dirty="0">
                <a:solidFill>
                  <a:srgbClr val="0D0D11"/>
                </a:solidFill>
              </a:rPr>
              <a:t>drop	</a:t>
            </a:r>
            <a:endParaRPr lang="ru-RU" sz="2800" dirty="0">
              <a:solidFill>
                <a:srgbClr val="0D0D11"/>
              </a:solidFill>
            </a:endParaRP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4030663"/>
            <a:ext cx="576263" cy="162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0648"/>
            <a:ext cx="7772400" cy="719138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Создание таблиц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611188" y="1125538"/>
            <a:ext cx="7772400" cy="4175125"/>
          </a:xfrm>
        </p:spPr>
        <p:txBody>
          <a:bodyPr rtlCol="0">
            <a:noAutofit/>
          </a:bodyPr>
          <a:lstStyle/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CREATE TABLE  [</a:t>
            </a:r>
            <a:r>
              <a:rPr lang="ru-RU" i="1" dirty="0" err="1">
                <a:solidFill>
                  <a:srgbClr val="0D0D11"/>
                </a:solidFill>
              </a:rPr>
              <a:t>имя_схемы</a:t>
            </a:r>
            <a:r>
              <a:rPr lang="ru-RU" dirty="0">
                <a:solidFill>
                  <a:srgbClr val="0D0D11"/>
                </a:solidFill>
              </a:rPr>
              <a:t>.]</a:t>
            </a:r>
            <a:r>
              <a:rPr lang="ru-RU" i="1" dirty="0" err="1">
                <a:solidFill>
                  <a:srgbClr val="0D0D11"/>
                </a:solidFill>
              </a:rPr>
              <a:t>имя_таблицы</a:t>
            </a:r>
            <a:endParaRPr lang="ru-RU" i="1" dirty="0">
              <a:solidFill>
                <a:srgbClr val="0D0D11"/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( </a:t>
            </a:r>
            <a:r>
              <a:rPr lang="ru-RU" i="1" dirty="0" err="1">
                <a:solidFill>
                  <a:srgbClr val="0D0D11"/>
                </a:solidFill>
              </a:rPr>
              <a:t>имя_поля</a:t>
            </a:r>
            <a:r>
              <a:rPr lang="ru-RU" i="1" dirty="0">
                <a:solidFill>
                  <a:srgbClr val="0D0D11"/>
                </a:solidFill>
              </a:rPr>
              <a:t>  </a:t>
            </a:r>
            <a:r>
              <a:rPr lang="en-US" i="1" dirty="0">
                <a:solidFill>
                  <a:srgbClr val="0D0D11"/>
                </a:solidFill>
              </a:rPr>
              <a:t> </a:t>
            </a:r>
            <a:r>
              <a:rPr lang="ru-RU" i="1" dirty="0" err="1">
                <a:solidFill>
                  <a:srgbClr val="0D0D11"/>
                </a:solidFill>
              </a:rPr>
              <a:t>тип_данных</a:t>
            </a:r>
            <a:r>
              <a:rPr lang="ru-RU" dirty="0">
                <a:solidFill>
                  <a:srgbClr val="0D0D11"/>
                </a:solidFill>
              </a:rPr>
              <a:t> [(</a:t>
            </a:r>
            <a:r>
              <a:rPr lang="ru-RU" i="1" dirty="0">
                <a:solidFill>
                  <a:srgbClr val="0D0D11"/>
                </a:solidFill>
              </a:rPr>
              <a:t>размер</a:t>
            </a:r>
            <a:r>
              <a:rPr lang="ru-RU" dirty="0">
                <a:solidFill>
                  <a:srgbClr val="0D0D11"/>
                </a:solidFill>
              </a:rPr>
              <a:t>)] </a:t>
            </a:r>
            <a:r>
              <a:rPr lang="en-US" dirty="0">
                <a:solidFill>
                  <a:srgbClr val="0D0D11"/>
                </a:solidFill>
              </a:rPr>
              <a:t> </a:t>
            </a:r>
            <a:r>
              <a:rPr lang="ru-RU" dirty="0">
                <a:solidFill>
                  <a:srgbClr val="0D0D11"/>
                </a:solidFill>
              </a:rPr>
              <a:t>[NOT NULL]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	[DEFAULT </a:t>
            </a:r>
            <a:r>
              <a:rPr lang="en-US" dirty="0">
                <a:solidFill>
                  <a:srgbClr val="0D0D11"/>
                </a:solidFill>
              </a:rPr>
              <a:t> </a:t>
            </a:r>
            <a:r>
              <a:rPr lang="ru-RU" i="1" dirty="0">
                <a:solidFill>
                  <a:srgbClr val="0D0D11"/>
                </a:solidFill>
              </a:rPr>
              <a:t>выражение</a:t>
            </a:r>
            <a:r>
              <a:rPr lang="ru-RU" dirty="0">
                <a:solidFill>
                  <a:srgbClr val="0D0D11"/>
                </a:solidFill>
              </a:rPr>
              <a:t>]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	[</a:t>
            </a:r>
            <a:r>
              <a:rPr lang="ru-RU" i="1" dirty="0" err="1">
                <a:solidFill>
                  <a:srgbClr val="0D0D11"/>
                </a:solidFill>
              </a:rPr>
              <a:t>ограничения_целостности_поля</a:t>
            </a:r>
            <a:r>
              <a:rPr lang="ru-RU" dirty="0">
                <a:solidFill>
                  <a:srgbClr val="0D0D11"/>
                </a:solidFill>
              </a:rPr>
              <a:t>…]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  .,..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  [, </a:t>
            </a:r>
            <a:r>
              <a:rPr lang="ru-RU" i="1" dirty="0" err="1">
                <a:solidFill>
                  <a:srgbClr val="0D0D11"/>
                </a:solidFill>
              </a:rPr>
              <a:t>ограничения_целостности_таблицы</a:t>
            </a:r>
            <a:r>
              <a:rPr lang="ru-RU" i="1" dirty="0">
                <a:solidFill>
                  <a:srgbClr val="0D0D11"/>
                </a:solidFill>
              </a:rPr>
              <a:t> </a:t>
            </a:r>
            <a:r>
              <a:rPr lang="ru-RU" dirty="0">
                <a:solidFill>
                  <a:srgbClr val="0D0D11"/>
                </a:solidFill>
              </a:rPr>
              <a:t>.,..] 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)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</a:t>
            </a:r>
            <a:r>
              <a:rPr lang="en-US" dirty="0">
                <a:solidFill>
                  <a:srgbClr val="0D0D11"/>
                </a:solidFill>
              </a:rPr>
              <a:t>[</a:t>
            </a:r>
            <a:r>
              <a:rPr lang="ru-RU" dirty="0">
                <a:solidFill>
                  <a:srgbClr val="0D0D11"/>
                </a:solidFill>
              </a:rPr>
              <a:t> </a:t>
            </a:r>
            <a:r>
              <a:rPr lang="ru-RU" i="1" dirty="0">
                <a:solidFill>
                  <a:srgbClr val="0D0D11"/>
                </a:solidFill>
              </a:rPr>
              <a:t>параметры</a:t>
            </a:r>
            <a:r>
              <a:rPr lang="ru-RU" dirty="0">
                <a:solidFill>
                  <a:srgbClr val="0D0D11"/>
                </a:solidFill>
              </a:rPr>
              <a:t> </a:t>
            </a:r>
            <a:r>
              <a:rPr lang="en-US" dirty="0">
                <a:solidFill>
                  <a:srgbClr val="0D0D11"/>
                </a:solidFill>
              </a:rPr>
              <a:t>]</a:t>
            </a:r>
            <a:r>
              <a:rPr lang="ru-RU" dirty="0">
                <a:solidFill>
                  <a:srgbClr val="0D0D11"/>
                </a:solidFill>
              </a:rPr>
              <a:t>;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ru-RU" dirty="0">
              <a:solidFill>
                <a:srgbClr val="0D0D11"/>
              </a:solidFill>
            </a:endParaRP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i="1" dirty="0" err="1">
                <a:solidFill>
                  <a:srgbClr val="0D0D11"/>
                </a:solidFill>
              </a:rPr>
              <a:t>ограничения_целостности</a:t>
            </a:r>
            <a:r>
              <a:rPr lang="ru-RU" dirty="0">
                <a:solidFill>
                  <a:srgbClr val="0D0D11"/>
                </a:solidFill>
              </a:rPr>
              <a:t> (ОЦ):</a:t>
            </a:r>
          </a:p>
          <a:p>
            <a:pPr indent="-182880" eaLnBrk="1" fontAlgn="auto" hangingPunct="1"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dirty="0">
                <a:solidFill>
                  <a:srgbClr val="0D0D11"/>
                </a:solidFill>
              </a:rPr>
              <a:t>	</a:t>
            </a:r>
            <a:r>
              <a:rPr lang="en-US" dirty="0">
                <a:solidFill>
                  <a:srgbClr val="0D0D11"/>
                </a:solidFill>
              </a:rPr>
              <a:t>[CONSTRAINT  </a:t>
            </a:r>
            <a:r>
              <a:rPr lang="ru-RU" i="1" dirty="0" err="1">
                <a:solidFill>
                  <a:srgbClr val="0D0D11"/>
                </a:solidFill>
              </a:rPr>
              <a:t>имя_ОЦ</a:t>
            </a:r>
            <a:r>
              <a:rPr lang="en-US" i="1" dirty="0">
                <a:solidFill>
                  <a:srgbClr val="0D0D11"/>
                </a:solidFill>
              </a:rPr>
              <a:t> </a:t>
            </a:r>
            <a:r>
              <a:rPr lang="en-US" dirty="0">
                <a:solidFill>
                  <a:srgbClr val="0D0D11"/>
                </a:solidFill>
              </a:rPr>
              <a:t>]</a:t>
            </a:r>
            <a:r>
              <a:rPr lang="ru-RU" dirty="0">
                <a:solidFill>
                  <a:srgbClr val="0D0D11"/>
                </a:solidFill>
              </a:rPr>
              <a:t> </a:t>
            </a:r>
            <a:r>
              <a:rPr lang="en-US" dirty="0">
                <a:solidFill>
                  <a:srgbClr val="0D0D11"/>
                </a:solidFill>
              </a:rPr>
              <a:t> </a:t>
            </a:r>
            <a:r>
              <a:rPr lang="ru-RU" i="1" dirty="0" err="1">
                <a:solidFill>
                  <a:srgbClr val="0D0D11"/>
                </a:solidFill>
              </a:rPr>
              <a:t>название_ОЦ</a:t>
            </a:r>
            <a:r>
              <a:rPr lang="en-US" i="1" dirty="0">
                <a:solidFill>
                  <a:srgbClr val="0D0D11"/>
                </a:solidFill>
              </a:rPr>
              <a:t> </a:t>
            </a:r>
            <a:r>
              <a:rPr lang="ru-RU" i="1" dirty="0">
                <a:solidFill>
                  <a:srgbClr val="0D0D11"/>
                </a:solidFill>
              </a:rPr>
              <a:t> </a:t>
            </a:r>
            <a:r>
              <a:rPr lang="ru-RU" dirty="0">
                <a:solidFill>
                  <a:srgbClr val="0D0D11"/>
                </a:solidFill>
              </a:rPr>
              <a:t> </a:t>
            </a:r>
            <a:r>
              <a:rPr lang="en-US" dirty="0">
                <a:solidFill>
                  <a:srgbClr val="0D0D11"/>
                </a:solidFill>
              </a:rPr>
              <a:t>[</a:t>
            </a:r>
            <a:r>
              <a:rPr lang="ru-RU" i="1" dirty="0">
                <a:solidFill>
                  <a:srgbClr val="0D0D11"/>
                </a:solidFill>
              </a:rPr>
              <a:t>параметры</a:t>
            </a:r>
            <a:r>
              <a:rPr lang="en-US" dirty="0">
                <a:solidFill>
                  <a:srgbClr val="0D0D11"/>
                </a:solidFill>
              </a:rPr>
              <a:t>]</a:t>
            </a:r>
            <a:endParaRPr lang="ru-RU" dirty="0">
              <a:solidFill>
                <a:srgbClr val="0D0D1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0"/>
            <a:ext cx="7772400" cy="7159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3600" b="0" dirty="0">
                <a:cs typeface="Times New Roman" pitchFamily="18" charset="0"/>
              </a:rPr>
              <a:t>Типы</a:t>
            </a:r>
            <a:r>
              <a:rPr lang="ru-RU" sz="3600" dirty="0">
                <a:cs typeface="Times New Roman" pitchFamily="18" charset="0"/>
              </a:rPr>
              <a:t> данных</a:t>
            </a:r>
            <a:endParaRPr lang="ru-RU" sz="36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0" y="357981"/>
            <a:ext cx="9036050" cy="46799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ru-RU" altLang="ru-RU" sz="1900" dirty="0">
                <a:solidFill>
                  <a:srgbClr val="0D0D11"/>
                </a:solidFill>
              </a:rPr>
              <a:t>Символьные типы: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ru-RU" sz="1900" b="1" dirty="0">
                <a:solidFill>
                  <a:srgbClr val="0D0D11"/>
                </a:solidFill>
              </a:rPr>
              <a:t>CHAR</a:t>
            </a:r>
            <a:r>
              <a:rPr lang="en-US" altLang="ru-RU" sz="1900" dirty="0">
                <a:solidFill>
                  <a:srgbClr val="0D0D11"/>
                </a:solidFill>
              </a:rPr>
              <a:t> [(</a:t>
            </a:r>
            <a:r>
              <a:rPr lang="ru-RU" altLang="ru-RU" sz="1900" dirty="0">
                <a:solidFill>
                  <a:srgbClr val="0D0D11"/>
                </a:solidFill>
              </a:rPr>
              <a:t>длина</a:t>
            </a:r>
            <a:r>
              <a:rPr lang="en-US" altLang="ru-RU" sz="1900" dirty="0">
                <a:solidFill>
                  <a:srgbClr val="0D0D11"/>
                </a:solidFill>
              </a:rPr>
              <a:t>)]</a:t>
            </a:r>
            <a:r>
              <a:rPr lang="ru-RU" altLang="ru-RU" sz="1900" dirty="0">
                <a:solidFill>
                  <a:srgbClr val="0D0D11"/>
                </a:solidFill>
              </a:rPr>
              <a:t> – строка фиксированной длины.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900" dirty="0">
                <a:solidFill>
                  <a:srgbClr val="0D0D11"/>
                </a:solidFill>
              </a:rPr>
              <a:t>		Длина по умолчанию – 1, максимальная длина 2000 байт.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900" dirty="0">
                <a:solidFill>
                  <a:srgbClr val="0D0D11"/>
                </a:solidFill>
              </a:rPr>
              <a:t>       Строка дописывается до указанной длины пробелами.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ru-RU" sz="1900" b="1" dirty="0">
                <a:solidFill>
                  <a:srgbClr val="0D0D11"/>
                </a:solidFill>
              </a:rPr>
              <a:t>VARCHAR2</a:t>
            </a:r>
            <a:r>
              <a:rPr lang="en-US" altLang="ru-RU" sz="1900" dirty="0">
                <a:solidFill>
                  <a:srgbClr val="0D0D11"/>
                </a:solidFill>
              </a:rPr>
              <a:t> (</a:t>
            </a:r>
            <a:r>
              <a:rPr lang="ru-RU" altLang="ru-RU" sz="1900" dirty="0">
                <a:solidFill>
                  <a:srgbClr val="0D0D11"/>
                </a:solidFill>
              </a:rPr>
              <a:t>длина) – строка переменной длины.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900" dirty="0">
                <a:solidFill>
                  <a:srgbClr val="0D0D11"/>
                </a:solidFill>
              </a:rPr>
              <a:t>	Максимальная длина 4000 байт. Хранятся только значащие символы.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ru-RU" altLang="ru-RU" sz="1900" dirty="0">
                <a:solidFill>
                  <a:srgbClr val="0D0D11"/>
                </a:solidFill>
              </a:rPr>
              <a:t>Числовой тип: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1900" b="1" dirty="0">
                <a:solidFill>
                  <a:srgbClr val="0D0D11"/>
                </a:solidFill>
              </a:rPr>
              <a:t>NUMBER</a:t>
            </a:r>
            <a:r>
              <a:rPr lang="ru-RU" altLang="ru-RU" sz="1900" dirty="0">
                <a:solidFill>
                  <a:srgbClr val="0D0D11"/>
                </a:solidFill>
              </a:rPr>
              <a:t> [(точность[, масштаб])] – используется для представления</a:t>
            </a:r>
            <a:r>
              <a:rPr lang="en-US" altLang="ru-RU" sz="1900" dirty="0">
                <a:solidFill>
                  <a:srgbClr val="0D0D11"/>
                </a:solidFill>
              </a:rPr>
              <a:t> </a:t>
            </a:r>
            <a:r>
              <a:rPr lang="ru-RU" altLang="ru-RU" sz="1900" dirty="0">
                <a:solidFill>
                  <a:srgbClr val="0D0D11"/>
                </a:solidFill>
              </a:rPr>
              <a:t>чисел с заданной точностью</a:t>
            </a:r>
            <a:r>
              <a:rPr lang="en-US" altLang="ru-RU" sz="1900" dirty="0">
                <a:solidFill>
                  <a:srgbClr val="0D0D11"/>
                </a:solidFill>
              </a:rPr>
              <a:t>.</a:t>
            </a:r>
            <a:r>
              <a:rPr lang="ru-RU" altLang="ru-RU" sz="1900" dirty="0">
                <a:solidFill>
                  <a:srgbClr val="0D0D11"/>
                </a:solidFill>
              </a:rPr>
              <a:t> </a:t>
            </a:r>
            <a:endParaRPr lang="en-US" altLang="ru-RU" sz="19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900" dirty="0">
                <a:solidFill>
                  <a:srgbClr val="0D0D11"/>
                </a:solidFill>
              </a:rPr>
              <a:t>Точность</a:t>
            </a:r>
            <a:r>
              <a:rPr lang="en-US" altLang="ru-RU" sz="1900" dirty="0">
                <a:solidFill>
                  <a:srgbClr val="0D0D11"/>
                </a:solidFill>
              </a:rPr>
              <a:t> (</a:t>
            </a:r>
            <a:r>
              <a:rPr lang="ru-RU" altLang="ru-RU" sz="1900" dirty="0">
                <a:solidFill>
                  <a:srgbClr val="0D0D11"/>
                </a:solidFill>
              </a:rPr>
              <a:t>максимально допустимое число значащих десятичных цифр</a:t>
            </a:r>
            <a:r>
              <a:rPr lang="en-US" altLang="ru-RU" sz="1900" dirty="0">
                <a:solidFill>
                  <a:srgbClr val="0D0D11"/>
                </a:solidFill>
              </a:rPr>
              <a:t>)</a:t>
            </a:r>
            <a:r>
              <a:rPr lang="ru-RU" altLang="ru-RU" sz="1900" dirty="0">
                <a:solidFill>
                  <a:srgbClr val="0D0D11"/>
                </a:solidFill>
              </a:rPr>
              <a:t> по умолчанию 38, масштаб (количество цифр после десятичной точки) по умолчанию – 0.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1900" dirty="0">
                <a:solidFill>
                  <a:srgbClr val="0D0D11"/>
                </a:solidFill>
              </a:rPr>
              <a:t>number(4) </a:t>
            </a:r>
            <a:r>
              <a:rPr lang="ru-RU" altLang="ru-RU" sz="1900" dirty="0">
                <a:solidFill>
                  <a:srgbClr val="0D0D11"/>
                </a:solidFill>
              </a:rPr>
              <a:t>   </a:t>
            </a:r>
            <a:r>
              <a:rPr lang="en-US" altLang="ru-RU" sz="1900" dirty="0">
                <a:solidFill>
                  <a:srgbClr val="0D0D11"/>
                </a:solidFill>
              </a:rPr>
              <a:t>– </a:t>
            </a:r>
            <a:r>
              <a:rPr lang="ru-RU" altLang="ru-RU" sz="1900" dirty="0">
                <a:solidFill>
                  <a:srgbClr val="0D0D11"/>
                </a:solidFill>
              </a:rPr>
              <a:t>числа от -999 до 9999</a:t>
            </a:r>
          </a:p>
          <a:p>
            <a:pPr lvl="1" eaLnBrk="1" hangingPunct="1">
              <a:lnSpc>
                <a:spcPct val="80000"/>
              </a:lnSpc>
              <a:spcAft>
                <a:spcPct val="35000"/>
              </a:spcAft>
              <a:buFont typeface="Wingdings" panose="05000000000000000000" pitchFamily="2" charset="2"/>
              <a:buNone/>
            </a:pPr>
            <a:r>
              <a:rPr lang="en-US" altLang="ru-RU" sz="1900" dirty="0">
                <a:solidFill>
                  <a:srgbClr val="0D0D11"/>
                </a:solidFill>
              </a:rPr>
              <a:t>number(8,2) – </a:t>
            </a:r>
            <a:r>
              <a:rPr lang="ru-RU" altLang="ru-RU" sz="1900" dirty="0">
                <a:solidFill>
                  <a:srgbClr val="0D0D11"/>
                </a:solidFill>
              </a:rPr>
              <a:t>числа от -99999.99 до 999999.99</a:t>
            </a:r>
          </a:p>
          <a:p>
            <a:pPr eaLnBrk="1" hangingPunct="1">
              <a:lnSpc>
                <a:spcPct val="80000"/>
              </a:lnSpc>
            </a:pPr>
            <a:r>
              <a:rPr lang="en-US" altLang="ru-RU" sz="1900" b="1" dirty="0">
                <a:solidFill>
                  <a:srgbClr val="0D0D11"/>
                </a:solidFill>
              </a:rPr>
              <a:t>DATE</a:t>
            </a:r>
            <a:r>
              <a:rPr lang="ru-RU" altLang="ru-RU" sz="1900" b="1" dirty="0">
                <a:solidFill>
                  <a:srgbClr val="0D0D11"/>
                </a:solidFill>
              </a:rPr>
              <a:t> </a:t>
            </a:r>
            <a:r>
              <a:rPr lang="ru-RU" altLang="ru-RU" sz="1900" dirty="0">
                <a:solidFill>
                  <a:srgbClr val="0D0D11"/>
                </a:solidFill>
              </a:rPr>
              <a:t>–</a:t>
            </a:r>
            <a:r>
              <a:rPr lang="ru-RU" altLang="ru-RU" sz="1900" b="1" dirty="0">
                <a:solidFill>
                  <a:srgbClr val="0D0D11"/>
                </a:solidFill>
              </a:rPr>
              <a:t> </a:t>
            </a:r>
            <a:r>
              <a:rPr lang="ru-RU" altLang="ru-RU" sz="1900" dirty="0">
                <a:solidFill>
                  <a:srgbClr val="0D0D11"/>
                </a:solidFill>
              </a:rPr>
              <a:t>дата и время с точностью до секунды</a:t>
            </a:r>
            <a:r>
              <a:rPr lang="en-US" altLang="ru-RU" sz="1900" dirty="0">
                <a:solidFill>
                  <a:srgbClr val="0D0D11"/>
                </a:solidFill>
              </a:rPr>
              <a:t>.</a:t>
            </a:r>
            <a:r>
              <a:rPr lang="ru-RU" altLang="ru-RU" sz="1900" dirty="0">
                <a:solidFill>
                  <a:srgbClr val="0D0D11"/>
                </a:solidFill>
              </a:rPr>
              <a:t> Занимает 7 байт.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ru-RU" sz="1900" dirty="0" err="1">
                <a:solidFill>
                  <a:srgbClr val="0D0D11"/>
                </a:solidFill>
              </a:rPr>
              <a:t>sysdate</a:t>
            </a:r>
            <a:r>
              <a:rPr lang="en-US" altLang="ru-RU" sz="1900" dirty="0">
                <a:solidFill>
                  <a:srgbClr val="0D0D11"/>
                </a:solidFill>
              </a:rPr>
              <a:t> – </a:t>
            </a:r>
            <a:r>
              <a:rPr lang="ru-RU" altLang="ru-RU" sz="1900" dirty="0">
                <a:solidFill>
                  <a:srgbClr val="0D0D11"/>
                </a:solidFill>
              </a:rPr>
              <a:t>функция получения текущих даты и времени</a:t>
            </a:r>
            <a:r>
              <a:rPr lang="en-US" altLang="ru-RU" sz="1900" dirty="0">
                <a:solidFill>
                  <a:srgbClr val="0D0D11"/>
                </a:solidFill>
              </a:rPr>
              <a:t>.</a:t>
            </a:r>
            <a:endParaRPr lang="ru-RU" altLang="ru-RU" sz="19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ru-RU" altLang="ru-RU" sz="1900" dirty="0">
                <a:solidFill>
                  <a:srgbClr val="0D0D11"/>
                </a:solidFill>
              </a:rPr>
              <a:t>Тип </a:t>
            </a:r>
            <a:r>
              <a:rPr lang="en-US" altLang="ru-RU" sz="1900" dirty="0">
                <a:solidFill>
                  <a:srgbClr val="0D0D11"/>
                </a:solidFill>
              </a:rPr>
              <a:t>date </a:t>
            </a:r>
            <a:r>
              <a:rPr lang="ru-RU" altLang="ru-RU" sz="1900" dirty="0">
                <a:solidFill>
                  <a:srgbClr val="0D0D11"/>
                </a:solidFill>
              </a:rPr>
              <a:t>поддерживает арифметику дат: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900" dirty="0">
                <a:solidFill>
                  <a:srgbClr val="0D0D11"/>
                </a:solidFill>
              </a:rPr>
              <a:t>	</a:t>
            </a:r>
            <a:r>
              <a:rPr lang="en-US" altLang="ru-RU" sz="1900" dirty="0" err="1">
                <a:solidFill>
                  <a:srgbClr val="0D0D11"/>
                </a:solidFill>
              </a:rPr>
              <a:t>sysdate</a:t>
            </a:r>
            <a:r>
              <a:rPr lang="ru-RU" altLang="ru-RU" sz="1900" dirty="0">
                <a:solidFill>
                  <a:srgbClr val="0D0D11"/>
                </a:solidFill>
              </a:rPr>
              <a:t>+1          – завтра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900" dirty="0">
                <a:solidFill>
                  <a:srgbClr val="0D0D11"/>
                </a:solidFill>
              </a:rPr>
              <a:t>	(дата1 </a:t>
            </a:r>
            <a:r>
              <a:rPr lang="en-US" altLang="ru-RU" sz="1900" dirty="0">
                <a:solidFill>
                  <a:srgbClr val="0D0D11"/>
                </a:solidFill>
              </a:rPr>
              <a:t>–</a:t>
            </a:r>
            <a:r>
              <a:rPr lang="ru-RU" altLang="ru-RU" sz="1900" dirty="0">
                <a:solidFill>
                  <a:srgbClr val="0D0D11"/>
                </a:solidFill>
              </a:rPr>
              <a:t> дата2) – количество дней, прошедших между двумя датами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900" dirty="0">
                <a:solidFill>
                  <a:srgbClr val="0D0D11"/>
                </a:solidFill>
              </a:rPr>
              <a:t>	(</a:t>
            </a:r>
            <a:r>
              <a:rPr lang="en-US" altLang="ru-RU" sz="1900" dirty="0" err="1">
                <a:solidFill>
                  <a:srgbClr val="0D0D11"/>
                </a:solidFill>
              </a:rPr>
              <a:t>sysdate</a:t>
            </a:r>
            <a:r>
              <a:rPr lang="en-US" altLang="ru-RU" sz="1900" dirty="0">
                <a:solidFill>
                  <a:srgbClr val="0D0D11"/>
                </a:solidFill>
              </a:rPr>
              <a:t> – 0.5</a:t>
            </a:r>
            <a:r>
              <a:rPr lang="ru-RU" altLang="ru-RU" sz="1900" dirty="0">
                <a:solidFill>
                  <a:srgbClr val="0D0D11"/>
                </a:solidFill>
              </a:rPr>
              <a:t>)</a:t>
            </a:r>
            <a:r>
              <a:rPr lang="en-US" altLang="ru-RU" sz="1900" dirty="0">
                <a:solidFill>
                  <a:srgbClr val="0D0D11"/>
                </a:solidFill>
              </a:rPr>
              <a:t> </a:t>
            </a:r>
            <a:r>
              <a:rPr lang="ru-RU" altLang="ru-RU" sz="1900" dirty="0">
                <a:solidFill>
                  <a:srgbClr val="0D0D11"/>
                </a:solidFill>
              </a:rPr>
              <a:t>  </a:t>
            </a:r>
            <a:r>
              <a:rPr lang="en-US" altLang="ru-RU" sz="1900" dirty="0">
                <a:solidFill>
                  <a:srgbClr val="0D0D11"/>
                </a:solidFill>
              </a:rPr>
              <a:t>– 12 </a:t>
            </a:r>
            <a:r>
              <a:rPr lang="ru-RU" altLang="ru-RU" sz="1900" dirty="0">
                <a:solidFill>
                  <a:srgbClr val="0D0D11"/>
                </a:solidFill>
              </a:rPr>
              <a:t>часов назад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-33830"/>
            <a:ext cx="7772400" cy="715963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solidFill>
                  <a:schemeClr val="tx1"/>
                </a:solidFill>
                <a:latin typeface="Times New Roman" pitchFamily="18" charset="0"/>
              </a:rPr>
              <a:t>Ограничения целостности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28575" y="692150"/>
            <a:ext cx="89662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dirty="0">
                <a:solidFill>
                  <a:srgbClr val="0D0D11"/>
                </a:solidFill>
              </a:rPr>
              <a:t>    В СУБД </a:t>
            </a:r>
            <a:r>
              <a:rPr lang="en-US" altLang="ru-RU" dirty="0">
                <a:solidFill>
                  <a:srgbClr val="0D0D11"/>
                </a:solidFill>
              </a:rPr>
              <a:t>MySQL</a:t>
            </a:r>
            <a:r>
              <a:rPr lang="ru-RU" altLang="ru-RU" dirty="0">
                <a:solidFill>
                  <a:srgbClr val="0D0D11"/>
                </a:solidFill>
              </a:rPr>
              <a:t> поддерживаются следующие ограничения целостности: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2200" dirty="0">
                <a:solidFill>
                  <a:srgbClr val="0D0D11"/>
                </a:solidFill>
              </a:rPr>
              <a:t>уникальность (значений атрибута или комбинации значений атрибутов):</a:t>
            </a:r>
          </a:p>
          <a:p>
            <a:pPr lvl="1" eaLnBrk="1" hangingPunct="1">
              <a:lnSpc>
                <a:spcPct val="80000"/>
              </a:lnSpc>
              <a:spcBef>
                <a:spcPct val="25000"/>
              </a:spcBef>
              <a:spcAft>
                <a:spcPct val="15000"/>
              </a:spcAft>
              <a:buFont typeface="Wingdings" panose="05000000000000000000" pitchFamily="2" charset="2"/>
              <a:buNone/>
            </a:pPr>
            <a:r>
              <a:rPr lang="en-US" altLang="ru-RU" sz="2200" dirty="0">
                <a:solidFill>
                  <a:srgbClr val="0D0D11"/>
                </a:solidFill>
              </a:rPr>
              <a:t>	</a:t>
            </a:r>
            <a:r>
              <a:rPr lang="en-US" altLang="ru-RU" sz="2200" b="1" dirty="0">
                <a:solidFill>
                  <a:srgbClr val="0D0D11"/>
                </a:solidFill>
              </a:rPr>
              <a:t>UNIQUE</a:t>
            </a:r>
            <a:r>
              <a:rPr lang="en-US" altLang="ru-RU" sz="2200" dirty="0">
                <a:solidFill>
                  <a:srgbClr val="0D0D11"/>
                </a:solidFill>
              </a:rPr>
              <a:t> (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имя_атрибута1</a:t>
            </a:r>
            <a:r>
              <a:rPr lang="ru-RU" altLang="ru-RU" sz="2200" dirty="0">
                <a:solidFill>
                  <a:srgbClr val="0D0D11"/>
                </a:solidFill>
              </a:rPr>
              <a:t> </a:t>
            </a:r>
            <a:r>
              <a:rPr lang="en-US" altLang="ru-RU" sz="2200" dirty="0">
                <a:solidFill>
                  <a:srgbClr val="0D0D11"/>
                </a:solidFill>
              </a:rPr>
              <a:t>[</a:t>
            </a:r>
            <a:r>
              <a:rPr lang="ru-RU" altLang="ru-RU" sz="2200" dirty="0">
                <a:solidFill>
                  <a:srgbClr val="0D0D11"/>
                </a:solidFill>
              </a:rPr>
              <a:t>, 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имя_атрибута2</a:t>
            </a:r>
            <a:r>
              <a:rPr lang="ru-RU" altLang="ru-RU" sz="2200" dirty="0">
                <a:solidFill>
                  <a:srgbClr val="0D0D11"/>
                </a:solidFill>
              </a:rPr>
              <a:t>,...</a:t>
            </a:r>
            <a:r>
              <a:rPr lang="en-US" altLang="ru-RU" sz="2200" dirty="0">
                <a:solidFill>
                  <a:srgbClr val="0D0D11"/>
                </a:solidFill>
              </a:rPr>
              <a:t>])</a:t>
            </a:r>
            <a:endParaRPr lang="ru-RU" altLang="ru-RU" sz="22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2200" dirty="0">
                <a:solidFill>
                  <a:srgbClr val="0D0D11"/>
                </a:solidFill>
              </a:rPr>
              <a:t>обязательность / необязательность: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200" dirty="0">
                <a:solidFill>
                  <a:srgbClr val="0D0D11"/>
                </a:solidFill>
              </a:rPr>
              <a:t>	</a:t>
            </a:r>
            <a:r>
              <a:rPr lang="en-US" altLang="ru-RU" sz="2200" b="1" dirty="0">
                <a:solidFill>
                  <a:srgbClr val="0D0D11"/>
                </a:solidFill>
              </a:rPr>
              <a:t>NOT NULL</a:t>
            </a:r>
            <a:r>
              <a:rPr lang="ru-RU" altLang="ru-RU" sz="2200" b="1" dirty="0">
                <a:solidFill>
                  <a:srgbClr val="0D0D11"/>
                </a:solidFill>
              </a:rPr>
              <a:t> / </a:t>
            </a:r>
            <a:r>
              <a:rPr lang="en-US" altLang="ru-RU" sz="2200" b="1" dirty="0">
                <a:solidFill>
                  <a:srgbClr val="0D0D11"/>
                </a:solidFill>
              </a:rPr>
              <a:t>NULL</a:t>
            </a:r>
            <a:endParaRPr lang="ru-RU" altLang="ru-RU" sz="2200" b="1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2200" dirty="0">
                <a:solidFill>
                  <a:srgbClr val="0D0D11"/>
                </a:solidFill>
              </a:rPr>
              <a:t>первичный ключ: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200" dirty="0">
                <a:solidFill>
                  <a:srgbClr val="0D0D11"/>
                </a:solidFill>
              </a:rPr>
              <a:t>	</a:t>
            </a:r>
            <a:r>
              <a:rPr lang="en-US" altLang="ru-RU" sz="2200" b="1" dirty="0">
                <a:solidFill>
                  <a:srgbClr val="0D0D11"/>
                </a:solidFill>
              </a:rPr>
              <a:t>PRIMARY KEY</a:t>
            </a:r>
            <a:r>
              <a:rPr lang="en-US" altLang="ru-RU" sz="2200" dirty="0">
                <a:solidFill>
                  <a:srgbClr val="0D0D11"/>
                </a:solidFill>
              </a:rPr>
              <a:t>(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имя_атрибута1</a:t>
            </a:r>
            <a:r>
              <a:rPr lang="ru-RU" altLang="ru-RU" sz="2200" dirty="0">
                <a:solidFill>
                  <a:srgbClr val="0D0D11"/>
                </a:solidFill>
              </a:rPr>
              <a:t> </a:t>
            </a:r>
            <a:r>
              <a:rPr lang="en-US" altLang="ru-RU" sz="2200" dirty="0">
                <a:solidFill>
                  <a:srgbClr val="0D0D11"/>
                </a:solidFill>
              </a:rPr>
              <a:t>[</a:t>
            </a:r>
            <a:r>
              <a:rPr lang="ru-RU" altLang="ru-RU" sz="2200" dirty="0">
                <a:solidFill>
                  <a:srgbClr val="0D0D11"/>
                </a:solidFill>
              </a:rPr>
              <a:t>, 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имя_атрибута2</a:t>
            </a:r>
            <a:r>
              <a:rPr lang="ru-RU" altLang="ru-RU" sz="2200" dirty="0">
                <a:solidFill>
                  <a:srgbClr val="0D0D11"/>
                </a:solidFill>
              </a:rPr>
              <a:t>,...</a:t>
            </a:r>
            <a:r>
              <a:rPr lang="en-US" altLang="ru-RU" sz="2200" dirty="0">
                <a:solidFill>
                  <a:srgbClr val="0D0D11"/>
                </a:solidFill>
              </a:rPr>
              <a:t>])</a:t>
            </a:r>
            <a:endParaRPr lang="ru-RU" altLang="ru-RU" sz="22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2200" dirty="0">
                <a:solidFill>
                  <a:srgbClr val="0D0D11"/>
                </a:solidFill>
              </a:rPr>
              <a:t>внешний ключ:</a:t>
            </a:r>
          </a:p>
          <a:p>
            <a:pPr lvl="1" eaLnBrk="1" hangingPunct="1">
              <a:spcBef>
                <a:spcPct val="30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ru-RU" sz="2200" dirty="0">
                <a:solidFill>
                  <a:srgbClr val="0D0D11"/>
                </a:solidFill>
              </a:rPr>
              <a:t>	</a:t>
            </a:r>
            <a:r>
              <a:rPr lang="en-US" altLang="ru-RU" sz="2200" b="1" dirty="0">
                <a:solidFill>
                  <a:srgbClr val="0D0D11"/>
                </a:solidFill>
              </a:rPr>
              <a:t>FOREIGN KEY</a:t>
            </a:r>
            <a:r>
              <a:rPr lang="en-US" altLang="ru-RU" sz="2200" dirty="0">
                <a:solidFill>
                  <a:srgbClr val="0D0D11"/>
                </a:solidFill>
              </a:rPr>
              <a:t>(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имя_атрибута1</a:t>
            </a:r>
            <a:r>
              <a:rPr lang="ru-RU" altLang="ru-RU" sz="2200" dirty="0">
                <a:solidFill>
                  <a:srgbClr val="0D0D11"/>
                </a:solidFill>
              </a:rPr>
              <a:t> </a:t>
            </a:r>
            <a:r>
              <a:rPr lang="en-US" altLang="ru-RU" sz="2200" dirty="0">
                <a:solidFill>
                  <a:srgbClr val="0D0D11"/>
                </a:solidFill>
              </a:rPr>
              <a:t>[</a:t>
            </a:r>
            <a:r>
              <a:rPr lang="ru-RU" altLang="ru-RU" sz="2200" dirty="0">
                <a:solidFill>
                  <a:srgbClr val="0D0D11"/>
                </a:solidFill>
              </a:rPr>
              <a:t>, 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имя_атрибута2</a:t>
            </a:r>
            <a:r>
              <a:rPr lang="ru-RU" altLang="ru-RU" sz="2200" dirty="0">
                <a:solidFill>
                  <a:srgbClr val="0D0D11"/>
                </a:solidFill>
              </a:rPr>
              <a:t>,...</a:t>
            </a:r>
            <a:r>
              <a:rPr lang="en-US" altLang="ru-RU" sz="2200" dirty="0">
                <a:solidFill>
                  <a:srgbClr val="0D0D11"/>
                </a:solidFill>
              </a:rPr>
              <a:t>]) </a:t>
            </a:r>
            <a:r>
              <a:rPr lang="en-US" altLang="ru-RU" sz="2200" b="1" dirty="0">
                <a:solidFill>
                  <a:srgbClr val="0D0D11"/>
                </a:solidFill>
              </a:rPr>
              <a:t>REFERENCES</a:t>
            </a:r>
            <a:r>
              <a:rPr lang="en-US" altLang="ru-RU" sz="2200" dirty="0">
                <a:solidFill>
                  <a:srgbClr val="0D0D11"/>
                </a:solidFill>
              </a:rPr>
              <a:t>  	</a:t>
            </a:r>
            <a:r>
              <a:rPr lang="ru-RU" altLang="ru-RU" sz="2200" i="1" dirty="0" err="1">
                <a:solidFill>
                  <a:srgbClr val="0D0D11"/>
                </a:solidFill>
              </a:rPr>
              <a:t>имя_таблицы</a:t>
            </a:r>
            <a:r>
              <a:rPr lang="ru-RU" altLang="ru-RU" sz="2200" dirty="0">
                <a:solidFill>
                  <a:srgbClr val="0D0D11"/>
                </a:solidFill>
              </a:rPr>
              <a:t> </a:t>
            </a:r>
            <a:r>
              <a:rPr lang="en-US" altLang="ru-RU" sz="2200" dirty="0">
                <a:solidFill>
                  <a:srgbClr val="0D0D11"/>
                </a:solidFill>
              </a:rPr>
              <a:t>[(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имя_атрибута1</a:t>
            </a:r>
            <a:r>
              <a:rPr lang="ru-RU" altLang="ru-RU" sz="2200" dirty="0">
                <a:solidFill>
                  <a:srgbClr val="0D0D11"/>
                </a:solidFill>
              </a:rPr>
              <a:t> </a:t>
            </a:r>
            <a:br>
              <a:rPr lang="ru-RU" altLang="ru-RU" sz="2200" dirty="0">
                <a:solidFill>
                  <a:srgbClr val="0D0D11"/>
                </a:solidFill>
              </a:rPr>
            </a:br>
            <a:r>
              <a:rPr lang="en-US" altLang="ru-RU" sz="2200" dirty="0">
                <a:solidFill>
                  <a:srgbClr val="0D0D11"/>
                </a:solidFill>
              </a:rPr>
              <a:t>[</a:t>
            </a:r>
            <a:r>
              <a:rPr lang="ru-RU" altLang="ru-RU" sz="2200" dirty="0">
                <a:solidFill>
                  <a:srgbClr val="0D0D11"/>
                </a:solidFill>
              </a:rPr>
              <a:t>, </a:t>
            </a:r>
            <a:r>
              <a:rPr lang="ru-RU" altLang="ru-RU" sz="2200" i="1" dirty="0">
                <a:solidFill>
                  <a:srgbClr val="0D0D11"/>
                </a:solidFill>
              </a:rPr>
              <a:t>имя_атрибута2</a:t>
            </a:r>
            <a:r>
              <a:rPr lang="ru-RU" altLang="ru-RU" sz="2200" dirty="0">
                <a:solidFill>
                  <a:srgbClr val="0D0D11"/>
                </a:solidFill>
              </a:rPr>
              <a:t>,...</a:t>
            </a:r>
            <a:r>
              <a:rPr lang="en-US" altLang="ru-RU" sz="2200" dirty="0">
                <a:solidFill>
                  <a:srgbClr val="0D0D11"/>
                </a:solidFill>
              </a:rPr>
              <a:t>])]</a:t>
            </a:r>
            <a:endParaRPr lang="ru-RU" altLang="ru-RU" sz="22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2200" dirty="0">
                <a:solidFill>
                  <a:srgbClr val="0D0D11"/>
                </a:solidFill>
              </a:rPr>
              <a:t>условие на значение поля:</a:t>
            </a:r>
            <a:endParaRPr lang="en-US" altLang="ru-RU" sz="22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200" b="1" dirty="0">
                <a:solidFill>
                  <a:srgbClr val="0D0D11"/>
                </a:solidFill>
              </a:rPr>
              <a:t>	CHECK</a:t>
            </a:r>
            <a:r>
              <a:rPr lang="en-US" altLang="ru-RU" sz="2200" dirty="0">
                <a:solidFill>
                  <a:srgbClr val="0D0D11"/>
                </a:solidFill>
              </a:rPr>
              <a:t> (</a:t>
            </a:r>
            <a:r>
              <a:rPr lang="ru-RU" altLang="ru-RU" sz="2200" i="1" dirty="0">
                <a:solidFill>
                  <a:srgbClr val="0D0D11"/>
                </a:solidFill>
              </a:rPr>
              <a:t>условие</a:t>
            </a:r>
            <a:r>
              <a:rPr lang="en-US" altLang="ru-RU" sz="2200" dirty="0">
                <a:solidFill>
                  <a:srgbClr val="0D0D11"/>
                </a:solidFill>
              </a:rPr>
              <a:t>)</a:t>
            </a:r>
            <a:endParaRPr lang="ru-RU" altLang="ru-RU" sz="2200" dirty="0">
              <a:solidFill>
                <a:srgbClr val="0D0D11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200" dirty="0">
                <a:solidFill>
                  <a:srgbClr val="0D0D11"/>
                </a:solidFill>
              </a:rPr>
              <a:t>    </a:t>
            </a:r>
            <a:r>
              <a:rPr lang="ru-RU" altLang="ru-RU" sz="2200" dirty="0">
                <a:solidFill>
                  <a:srgbClr val="0D0D11"/>
                </a:solidFill>
              </a:rPr>
              <a:t>Например: </a:t>
            </a:r>
            <a:r>
              <a:rPr lang="en-US" altLang="ru-RU" sz="2200" dirty="0">
                <a:solidFill>
                  <a:srgbClr val="0D0D11"/>
                </a:solidFill>
              </a:rPr>
              <a:t>check (salary&gt;=4500), check (date2 &gt; date1)</a:t>
            </a:r>
            <a:endParaRPr lang="ru-RU" altLang="ru-RU" sz="2200" dirty="0">
              <a:solidFill>
                <a:srgbClr val="0D0D1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813"/>
            <a:ext cx="7772400" cy="715962"/>
          </a:xfrm>
        </p:spPr>
        <p:txBody>
          <a:bodyPr/>
          <a:lstStyle/>
          <a:p>
            <a:pPr>
              <a:defRPr/>
            </a:pPr>
            <a:r>
              <a:rPr lang="ru-RU" sz="3600" dirty="0">
                <a:cs typeface="Times New Roman" pitchFamily="18" charset="0"/>
              </a:rPr>
              <a:t>Типы данных</a:t>
            </a:r>
            <a:r>
              <a:rPr lang="en-US" sz="3600" dirty="0">
                <a:cs typeface="Times New Roman" pitchFamily="18" charset="0"/>
              </a:rPr>
              <a:t> MySQL</a:t>
            </a:r>
            <a:endParaRPr lang="ru-RU" sz="360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125538"/>
            <a:ext cx="8208963" cy="53990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1800" dirty="0">
                <a:solidFill>
                  <a:srgbClr val="0D0D11"/>
                </a:solidFill>
              </a:rPr>
              <a:t>Символьные типы: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ru-RU" sz="1800" b="1" dirty="0">
                <a:solidFill>
                  <a:srgbClr val="0D0D11"/>
                </a:solidFill>
              </a:rPr>
              <a:t>CHAR</a:t>
            </a:r>
            <a:r>
              <a:rPr lang="en-US" altLang="ru-RU" sz="1800" dirty="0">
                <a:solidFill>
                  <a:srgbClr val="0D0D11"/>
                </a:solidFill>
              </a:rPr>
              <a:t> [(</a:t>
            </a:r>
            <a:r>
              <a:rPr lang="ru-RU" altLang="ru-RU" sz="1800" dirty="0">
                <a:solidFill>
                  <a:srgbClr val="0D0D11"/>
                </a:solidFill>
              </a:rPr>
              <a:t>длина</a:t>
            </a:r>
            <a:r>
              <a:rPr lang="en-US" altLang="ru-RU" sz="1800" dirty="0">
                <a:solidFill>
                  <a:srgbClr val="0D0D11"/>
                </a:solidFill>
              </a:rPr>
              <a:t>)]</a:t>
            </a:r>
            <a:r>
              <a:rPr lang="ru-RU" altLang="ru-RU" sz="1800" dirty="0">
                <a:solidFill>
                  <a:srgbClr val="0D0D11"/>
                </a:solidFill>
              </a:rPr>
              <a:t> – строка фиксированной длины.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Длина по умолчанию – 1, максимальная длина 2</a:t>
            </a:r>
            <a:r>
              <a:rPr lang="en-US" altLang="ru-RU" sz="1800" dirty="0">
                <a:solidFill>
                  <a:srgbClr val="0D0D11"/>
                </a:solidFill>
              </a:rPr>
              <a:t>55</a:t>
            </a:r>
            <a:r>
              <a:rPr lang="ru-RU" altLang="ru-RU" sz="1800" dirty="0">
                <a:solidFill>
                  <a:srgbClr val="0D0D11"/>
                </a:solidFill>
              </a:rPr>
              <a:t> байт.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       Строка дописывается до указанной длины пробелами.</a:t>
            </a:r>
          </a:p>
          <a:p>
            <a:pPr lvl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ru-RU" sz="1800" b="1" dirty="0">
                <a:solidFill>
                  <a:srgbClr val="0D0D11"/>
                </a:solidFill>
              </a:rPr>
              <a:t>VARCHAR</a:t>
            </a:r>
            <a:r>
              <a:rPr lang="en-US" altLang="ru-RU" sz="1800" dirty="0">
                <a:solidFill>
                  <a:srgbClr val="0D0D11"/>
                </a:solidFill>
              </a:rPr>
              <a:t> (</a:t>
            </a:r>
            <a:r>
              <a:rPr lang="ru-RU" altLang="ru-RU" sz="1800" dirty="0">
                <a:solidFill>
                  <a:srgbClr val="0D0D11"/>
                </a:solidFill>
              </a:rPr>
              <a:t>длина) – строка переменной длины.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Максимальная длина </a:t>
            </a:r>
            <a:r>
              <a:rPr lang="en-US" altLang="ru-RU" sz="1800" dirty="0">
                <a:solidFill>
                  <a:srgbClr val="0D0D11"/>
                </a:solidFill>
              </a:rPr>
              <a:t>255</a:t>
            </a:r>
            <a:r>
              <a:rPr lang="ru-RU" altLang="ru-RU" sz="1800" dirty="0">
                <a:solidFill>
                  <a:srgbClr val="0D0D11"/>
                </a:solidFill>
              </a:rPr>
              <a:t> байт. Хранятся только значащие символы.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ru-RU" altLang="ru-RU" sz="1800" dirty="0">
                <a:solidFill>
                  <a:srgbClr val="0D0D11"/>
                </a:solidFill>
              </a:rPr>
              <a:t>Числовые типы: 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1800" b="1" dirty="0">
                <a:solidFill>
                  <a:srgbClr val="0D0D11"/>
                </a:solidFill>
              </a:rPr>
              <a:t>	NUM</a:t>
            </a:r>
            <a:r>
              <a:rPr lang="en-US" altLang="ru-RU" sz="1800" b="1" dirty="0">
                <a:solidFill>
                  <a:srgbClr val="0D0D11"/>
                </a:solidFill>
              </a:rPr>
              <a:t>ERIC</a:t>
            </a:r>
            <a:r>
              <a:rPr lang="ru-RU" altLang="ru-RU" sz="1800" dirty="0">
                <a:solidFill>
                  <a:srgbClr val="0D0D11"/>
                </a:solidFill>
              </a:rPr>
              <a:t> [(точность[, масштаб])] – используется для представления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				чисел с заданной точностью</a:t>
            </a:r>
            <a:r>
              <a:rPr lang="en-US" altLang="ru-RU" sz="1800" dirty="0">
                <a:solidFill>
                  <a:srgbClr val="0D0D11"/>
                </a:solidFill>
              </a:rPr>
              <a:t>.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endParaRPr lang="en-US" altLang="ru-RU" sz="1800" dirty="0">
              <a:solidFill>
                <a:srgbClr val="0D0D11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Масштаб по умолчанию – 0.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1800" dirty="0">
                <a:solidFill>
                  <a:srgbClr val="0D0D11"/>
                </a:solidFill>
              </a:rPr>
              <a:t>numeric(4) </a:t>
            </a:r>
            <a:r>
              <a:rPr lang="ru-RU" altLang="ru-RU" sz="1800" dirty="0">
                <a:solidFill>
                  <a:srgbClr val="0D0D11"/>
                </a:solidFill>
              </a:rPr>
              <a:t>   </a:t>
            </a:r>
            <a:r>
              <a:rPr lang="en-US" altLang="ru-RU" sz="1800" dirty="0">
                <a:solidFill>
                  <a:srgbClr val="0D0D11"/>
                </a:solidFill>
              </a:rPr>
              <a:t>– </a:t>
            </a:r>
            <a:r>
              <a:rPr lang="ru-RU" altLang="ru-RU" sz="1800" dirty="0">
                <a:solidFill>
                  <a:srgbClr val="0D0D11"/>
                </a:solidFill>
              </a:rPr>
              <a:t>числа от -999 до 9999</a:t>
            </a:r>
          </a:p>
          <a:p>
            <a:pPr lvl="1">
              <a:lnSpc>
                <a:spcPct val="80000"/>
              </a:lnSpc>
              <a:spcAft>
                <a:spcPct val="35000"/>
              </a:spcAft>
              <a:buFont typeface="Wingdings" panose="05000000000000000000" pitchFamily="2" charset="2"/>
              <a:buNone/>
            </a:pPr>
            <a:r>
              <a:rPr lang="en-US" altLang="ru-RU" sz="1800" dirty="0">
                <a:solidFill>
                  <a:srgbClr val="0D0D11"/>
                </a:solidFill>
              </a:rPr>
              <a:t>numeric(8,2) – </a:t>
            </a:r>
            <a:r>
              <a:rPr lang="ru-RU" altLang="ru-RU" sz="1800" dirty="0">
                <a:solidFill>
                  <a:srgbClr val="0D0D11"/>
                </a:solidFill>
              </a:rPr>
              <a:t>числа от -99999.99 до 999999.99</a:t>
            </a:r>
          </a:p>
          <a:p>
            <a:pPr lvl="1">
              <a:lnSpc>
                <a:spcPct val="80000"/>
              </a:lnSpc>
              <a:spcAft>
                <a:spcPct val="35000"/>
              </a:spcAft>
              <a:buFont typeface="Wingdings" panose="05000000000000000000" pitchFamily="2" charset="2"/>
              <a:buNone/>
            </a:pPr>
            <a:r>
              <a:rPr lang="ru-RU" altLang="ru-RU" sz="1800" dirty="0" err="1"/>
              <a:t>MySQL</a:t>
            </a:r>
            <a:r>
              <a:rPr lang="ru-RU" altLang="ru-RU" sz="1800" dirty="0"/>
              <a:t> поддерживает все числовые типы данных языка SQL92 по стандартам ANSI/ISO. Они включают в себя типы точных числовых данных (NUMERIC, DECIMAL, INTEGER и SMALLINT) и типы приближенных числовых данных (FLOAT, REAL и DOUBLE PRECISION). Ключевое слово INT является синонимом для INTEGER, а ключевое слово DEC - синонимом для DECIMAL.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813"/>
            <a:ext cx="7772400" cy="715962"/>
          </a:xfrm>
        </p:spPr>
        <p:txBody>
          <a:bodyPr/>
          <a:lstStyle/>
          <a:p>
            <a:pPr>
              <a:defRPr/>
            </a:pPr>
            <a:r>
              <a:rPr lang="ru-RU" sz="3600">
                <a:cs typeface="Times New Roman" pitchFamily="18" charset="0"/>
              </a:rPr>
              <a:t>Числовые типы данных</a:t>
            </a:r>
            <a:r>
              <a:rPr lang="en-US" sz="3600">
                <a:cs typeface="Times New Roman" pitchFamily="18" charset="0"/>
              </a:rPr>
              <a:t> MySQL</a:t>
            </a:r>
            <a:endParaRPr lang="ru-RU" sz="3600"/>
          </a:p>
        </p:txBody>
      </p:sp>
      <p:pic>
        <p:nvPicPr>
          <p:cNvPr id="2662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052513"/>
            <a:ext cx="5040313" cy="300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1689100"/>
            <a:ext cx="433387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404813"/>
            <a:ext cx="8350696" cy="715962"/>
          </a:xfrm>
        </p:spPr>
        <p:txBody>
          <a:bodyPr/>
          <a:lstStyle/>
          <a:p>
            <a:pPr>
              <a:defRPr/>
            </a:pPr>
            <a:r>
              <a:rPr lang="ru-RU" sz="3600" dirty="0">
                <a:cs typeface="Times New Roman" pitchFamily="18" charset="0"/>
              </a:rPr>
              <a:t>Типы данных</a:t>
            </a:r>
            <a:r>
              <a:rPr lang="en-US" sz="3600" dirty="0">
                <a:cs typeface="Times New Roman" pitchFamily="18" charset="0"/>
              </a:rPr>
              <a:t> MySQL</a:t>
            </a:r>
            <a:r>
              <a:rPr lang="ru-RU" sz="3600" dirty="0">
                <a:cs typeface="Times New Roman" pitchFamily="18" charset="0"/>
              </a:rPr>
              <a:t>: дата и время</a:t>
            </a:r>
            <a:endParaRPr lang="ru-RU" sz="3600" dirty="0"/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468313" y="3068638"/>
            <a:ext cx="8424862" cy="375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1600" dirty="0">
                <a:solidFill>
                  <a:srgbClr val="0D0D11"/>
                </a:solidFill>
              </a:rPr>
              <a:t>Величины DATETIME, DATE и TIMESTAMP  задаются: </a:t>
            </a:r>
          </a:p>
          <a:p>
            <a:pPr>
              <a:buFontTx/>
              <a:buChar char="•"/>
            </a:pPr>
            <a:r>
              <a:rPr lang="ru-RU" altLang="ru-RU" sz="1600" dirty="0">
                <a:solidFill>
                  <a:srgbClr val="0D0D11"/>
                </a:solidFill>
              </a:rPr>
              <a:t> Как строка в формате 'YYYY-MM-DD HH:MM:SS' ('YYYY-MM-DD') или в формате 'YY-MM-DD HH:MM:SS‘ ('YY-MM-DD'). Допускается ``облегченный'' синтаксис - можно использовать любой знак пунктуации в качестве разделительного между частями разделов даты или времени. </a:t>
            </a:r>
          </a:p>
          <a:p>
            <a:r>
              <a:rPr lang="ru-RU" altLang="ru-RU" sz="1600" dirty="0">
                <a:solidFill>
                  <a:srgbClr val="0D0D11"/>
                </a:solidFill>
              </a:rPr>
              <a:t>Например, величины '98-12-31 11:30:45', '98.12.31 11+30+45', '98/12/31 11*30*45' и '98@12@31 11^30^45' являются эквивалентными. </a:t>
            </a:r>
          </a:p>
          <a:p>
            <a:pPr>
              <a:buFontTx/>
              <a:buChar char="•"/>
            </a:pPr>
            <a:r>
              <a:rPr lang="ru-RU" altLang="ru-RU" sz="1600" dirty="0">
                <a:solidFill>
                  <a:srgbClr val="0D0D11"/>
                </a:solidFill>
              </a:rPr>
              <a:t> Как строка без разделительных знаков в формате 'YYYYMMDDHHMMSS' ('YYYYMMDD') или в формате 'YYMMDDHHMMSS‘ ('YYMMDD'). </a:t>
            </a:r>
          </a:p>
          <a:p>
            <a:pPr>
              <a:buFontTx/>
              <a:buChar char="•"/>
            </a:pPr>
            <a:r>
              <a:rPr lang="ru-RU" altLang="ru-RU" sz="1600" dirty="0">
                <a:solidFill>
                  <a:srgbClr val="0D0D11"/>
                </a:solidFill>
              </a:rPr>
              <a:t> Как число в формате YYYYMMDDHHMMSS или в формате YYMMDDHHMMSS.</a:t>
            </a:r>
          </a:p>
          <a:p>
            <a:pPr>
              <a:buFontTx/>
              <a:buChar char="•"/>
            </a:pPr>
            <a:r>
              <a:rPr lang="ru-RU" altLang="ru-RU" sz="1600" dirty="0">
                <a:solidFill>
                  <a:srgbClr val="0D0D11"/>
                </a:solidFill>
              </a:rPr>
              <a:t> Как результат выполнения функции, возвращающей дату (например, функции NOW() или CURRENT_DATE). </a:t>
            </a:r>
          </a:p>
          <a:p>
            <a:r>
              <a:rPr lang="ru-RU" altLang="ru-RU" sz="1600" dirty="0">
                <a:solidFill>
                  <a:srgbClr val="0D0D11"/>
                </a:solidFill>
              </a:rPr>
              <a:t>Недопустимые значения величин DATETIME, DATE или TIMESTAMP преобразуются в значение ``ноль'' соответствующего типа величин ('0000-00-00 00:00:00', '0000-00-00', или 00000000000000). </a:t>
            </a:r>
          </a:p>
        </p:txBody>
      </p:sp>
      <p:pic>
        <p:nvPicPr>
          <p:cNvPr id="2867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25538"/>
            <a:ext cx="8207375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94544" y="116632"/>
            <a:ext cx="7772400" cy="715963"/>
          </a:xfrm>
        </p:spPr>
        <p:txBody>
          <a:bodyPr/>
          <a:lstStyle/>
          <a:p>
            <a:pPr>
              <a:defRPr/>
            </a:pPr>
            <a:r>
              <a:rPr lang="ru-RU" sz="3600" dirty="0">
                <a:cs typeface="Times New Roman" pitchFamily="18" charset="0"/>
              </a:rPr>
              <a:t>Типы данных</a:t>
            </a:r>
            <a:r>
              <a:rPr lang="en-US" sz="3600" dirty="0">
                <a:cs typeface="Times New Roman" pitchFamily="18" charset="0"/>
              </a:rPr>
              <a:t> MySQL</a:t>
            </a:r>
            <a:r>
              <a:rPr lang="ru-RU" sz="3600" dirty="0">
                <a:cs typeface="Times New Roman" pitchFamily="18" charset="0"/>
              </a:rPr>
              <a:t>: время</a:t>
            </a:r>
            <a:endParaRPr lang="ru-RU" sz="3600" dirty="0"/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424862" cy="585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/>
              <a:t>MySQL извлекает и выводит величины типа TIME в формате 'HH:MM:SS'.</a:t>
            </a:r>
          </a:p>
          <a:p>
            <a:r>
              <a:rPr lang="ru-RU" altLang="ru-RU"/>
              <a:t>Величины TIME могут изменяться в пределах от '-838:59:59' до '838:59:59'. Величины TIME могут быть заданы в различных форматах: </a:t>
            </a:r>
          </a:p>
          <a:p>
            <a:r>
              <a:rPr lang="ru-RU" altLang="ru-RU"/>
              <a:t>Как строка в формате 'D HH:MM:SS' (следует учитывать, что MySQL пока не обеспечивает хранения дробной части величины в столбце рассматриваемого типа). Можно также использовать одно из следующих "облегченных'' представлений: HH:MM:SS, HH:MM, D HH:MM, D HH или SS. Здесь D – это дни из интервала значений 0-33. </a:t>
            </a:r>
          </a:p>
          <a:p>
            <a:r>
              <a:rPr lang="ru-RU" altLang="ru-RU"/>
              <a:t>Как строка без разделителей в формате 'HHMMSS', при условии, что строка интерпретируется как дата. </a:t>
            </a:r>
            <a:endParaRPr lang="en-US" altLang="ru-RU"/>
          </a:p>
          <a:p>
            <a:r>
              <a:rPr lang="ru-RU" altLang="ru-RU"/>
              <a:t>Как число в формате HHMMSS, при условии, что строка интерпретируется как дата. Например, величина 101112 понимается как '10:11:12'. </a:t>
            </a:r>
            <a:endParaRPr lang="en-US" altLang="ru-RU"/>
          </a:p>
          <a:p>
            <a:r>
              <a:rPr lang="ru-RU" altLang="ru-RU"/>
              <a:t>Как результат выполнения функции, возвращающей величину, приемлемую в контексте типа данных типа TIME (например, CURRENT_TIME). </a:t>
            </a:r>
          </a:p>
          <a:p>
            <a:r>
              <a:rPr lang="ru-RU" altLang="ru-RU"/>
              <a:t>Примеры:</a:t>
            </a:r>
          </a:p>
          <a:p>
            <a:r>
              <a:rPr lang="ru-RU" altLang="ru-RU"/>
              <a:t>'101112' –</a:t>
            </a:r>
            <a:r>
              <a:rPr lang="en-US" altLang="ru-RU"/>
              <a:t>&gt;</a:t>
            </a:r>
            <a:r>
              <a:rPr lang="ru-RU" altLang="ru-RU"/>
              <a:t> '10:11:12‘</a:t>
            </a:r>
            <a:endParaRPr lang="en-US" altLang="ru-RU"/>
          </a:p>
          <a:p>
            <a:r>
              <a:rPr lang="ru-RU" altLang="ru-RU"/>
              <a:t>'109712' </a:t>
            </a:r>
            <a:r>
              <a:rPr lang="en-US" altLang="ru-RU"/>
              <a:t>–&gt; </a:t>
            </a:r>
            <a:r>
              <a:rPr lang="ru-RU" altLang="ru-RU"/>
              <a:t>'00:00:00'</a:t>
            </a:r>
          </a:p>
          <a:p>
            <a:r>
              <a:rPr lang="ru-RU" altLang="ru-RU"/>
              <a:t>'8:3:2' </a:t>
            </a:r>
            <a:r>
              <a:rPr lang="en-US" altLang="ru-RU"/>
              <a:t>–&gt;</a:t>
            </a:r>
            <a:r>
              <a:rPr lang="ru-RU" altLang="ru-RU"/>
              <a:t> '08:03:02'</a:t>
            </a:r>
          </a:p>
          <a:p>
            <a:r>
              <a:rPr lang="ru-RU" altLang="ru-RU"/>
              <a:t>'1112' и 1112 –</a:t>
            </a:r>
            <a:r>
              <a:rPr lang="en-US" altLang="ru-RU"/>
              <a:t>&gt; </a:t>
            </a:r>
            <a:r>
              <a:rPr lang="ru-RU" altLang="ru-RU"/>
              <a:t>'00:11:12‘ – крайние правые разряды – секунды!</a:t>
            </a:r>
            <a:endParaRPr lang="en-US" altLang="ru-RU"/>
          </a:p>
          <a:p>
            <a:r>
              <a:rPr lang="ru-RU" altLang="ru-RU"/>
              <a:t>'11:12' </a:t>
            </a:r>
            <a:r>
              <a:rPr lang="en-US" altLang="ru-RU"/>
              <a:t>–&gt; </a:t>
            </a:r>
            <a:r>
              <a:rPr lang="ru-RU" altLang="ru-RU"/>
              <a:t>'11:12:00‘ – двоеточие означает, что крайние левые разряды – часы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58838"/>
          </a:xfrm>
        </p:spPr>
        <p:txBody>
          <a:bodyPr/>
          <a:lstStyle/>
          <a:p>
            <a:pPr>
              <a:defRPr/>
            </a:pPr>
            <a:r>
              <a:rPr lang="ru-RU" sz="3600">
                <a:latin typeface="Times New Roman" pitchFamily="18" charset="0"/>
              </a:rPr>
              <a:t>Ограничения целостности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268413"/>
            <a:ext cx="8713787" cy="46196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>
                <a:solidFill>
                  <a:srgbClr val="0D0D11"/>
                </a:solidFill>
              </a:rPr>
              <a:t>    По стандарту </a:t>
            </a:r>
            <a:r>
              <a:rPr lang="en-US" altLang="ru-RU" sz="1800">
                <a:solidFill>
                  <a:srgbClr val="0D0D11"/>
                </a:solidFill>
              </a:rPr>
              <a:t>ASNI/SQL</a:t>
            </a:r>
            <a:r>
              <a:rPr lang="ru-RU" altLang="ru-RU" sz="1800">
                <a:solidFill>
                  <a:srgbClr val="0D0D11"/>
                </a:solidFill>
              </a:rPr>
              <a:t> поддерживаются следующие ограничения целостности:</a:t>
            </a:r>
          </a:p>
          <a:p>
            <a:pPr lvl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1800">
                <a:solidFill>
                  <a:srgbClr val="0D0D11"/>
                </a:solidFill>
              </a:rPr>
              <a:t>уникальность (значений атрибута или комбинации значений полей):</a:t>
            </a:r>
          </a:p>
          <a:p>
            <a:pPr lvl="1">
              <a:lnSpc>
                <a:spcPct val="80000"/>
              </a:lnSpc>
              <a:spcBef>
                <a:spcPct val="25000"/>
              </a:spcBef>
              <a:spcAft>
                <a:spcPct val="15000"/>
              </a:spcAft>
              <a:buFont typeface="Wingdings" panose="05000000000000000000" pitchFamily="2" charset="2"/>
              <a:buNone/>
            </a:pPr>
            <a:r>
              <a:rPr lang="en-US" altLang="ru-RU" sz="1800">
                <a:solidFill>
                  <a:srgbClr val="0D0D11"/>
                </a:solidFill>
              </a:rPr>
              <a:t>	</a:t>
            </a:r>
            <a:r>
              <a:rPr lang="en-US" altLang="ru-RU" sz="1800" b="1">
                <a:solidFill>
                  <a:srgbClr val="0D0D11"/>
                </a:solidFill>
              </a:rPr>
              <a:t>UNIQUE</a:t>
            </a:r>
            <a:r>
              <a:rPr lang="en-US" altLang="ru-RU" sz="1800">
                <a:solidFill>
                  <a:srgbClr val="0D0D11"/>
                </a:solidFill>
              </a:rPr>
              <a:t> (</a:t>
            </a:r>
            <a:r>
              <a:rPr lang="ru-RU" altLang="ru-RU" sz="1800" i="1">
                <a:solidFill>
                  <a:srgbClr val="0D0D11"/>
                </a:solidFill>
              </a:rPr>
              <a:t>имя_поля1</a:t>
            </a:r>
            <a:r>
              <a:rPr lang="ru-RU" altLang="ru-RU" sz="1800">
                <a:solidFill>
                  <a:srgbClr val="0D0D11"/>
                </a:solidFill>
              </a:rPr>
              <a:t> </a:t>
            </a:r>
            <a:r>
              <a:rPr lang="en-US" altLang="ru-RU" sz="1800">
                <a:solidFill>
                  <a:srgbClr val="0D0D11"/>
                </a:solidFill>
              </a:rPr>
              <a:t>[</a:t>
            </a:r>
            <a:r>
              <a:rPr lang="ru-RU" altLang="ru-RU" sz="1800">
                <a:solidFill>
                  <a:srgbClr val="0D0D11"/>
                </a:solidFill>
              </a:rPr>
              <a:t>, </a:t>
            </a:r>
            <a:r>
              <a:rPr lang="ru-RU" altLang="ru-RU" sz="1800" i="1">
                <a:solidFill>
                  <a:srgbClr val="0D0D11"/>
                </a:solidFill>
              </a:rPr>
              <a:t>имя_поля2</a:t>
            </a:r>
            <a:r>
              <a:rPr lang="ru-RU" altLang="ru-RU" sz="1800">
                <a:solidFill>
                  <a:srgbClr val="0D0D11"/>
                </a:solidFill>
              </a:rPr>
              <a:t>,...</a:t>
            </a:r>
            <a:r>
              <a:rPr lang="en-US" altLang="ru-RU" sz="1800">
                <a:solidFill>
                  <a:srgbClr val="0D0D11"/>
                </a:solidFill>
              </a:rPr>
              <a:t>])</a:t>
            </a:r>
            <a:endParaRPr lang="ru-RU" altLang="ru-RU" sz="1800">
              <a:solidFill>
                <a:srgbClr val="0D0D11"/>
              </a:solidFill>
            </a:endParaRPr>
          </a:p>
          <a:p>
            <a:pPr lvl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1800">
                <a:solidFill>
                  <a:srgbClr val="0D0D11"/>
                </a:solidFill>
              </a:rPr>
              <a:t>обязательность / необязательность: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1800">
                <a:solidFill>
                  <a:srgbClr val="0D0D11"/>
                </a:solidFill>
              </a:rPr>
              <a:t>	</a:t>
            </a:r>
            <a:r>
              <a:rPr lang="en-US" altLang="ru-RU" sz="1800" b="1">
                <a:solidFill>
                  <a:srgbClr val="0D0D11"/>
                </a:solidFill>
              </a:rPr>
              <a:t>NOT NULL</a:t>
            </a:r>
            <a:r>
              <a:rPr lang="ru-RU" altLang="ru-RU" sz="1800" b="1">
                <a:solidFill>
                  <a:srgbClr val="0D0D11"/>
                </a:solidFill>
              </a:rPr>
              <a:t> / </a:t>
            </a:r>
            <a:r>
              <a:rPr lang="en-US" altLang="ru-RU" sz="1800" b="1">
                <a:solidFill>
                  <a:srgbClr val="0D0D11"/>
                </a:solidFill>
              </a:rPr>
              <a:t>NULL</a:t>
            </a:r>
            <a:endParaRPr lang="ru-RU" altLang="ru-RU" sz="1800" b="1">
              <a:solidFill>
                <a:srgbClr val="0D0D11"/>
              </a:solidFill>
            </a:endParaRPr>
          </a:p>
          <a:p>
            <a:pPr lvl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1800">
                <a:solidFill>
                  <a:srgbClr val="0D0D11"/>
                </a:solidFill>
              </a:rPr>
              <a:t>первичный ключ: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1800">
                <a:solidFill>
                  <a:srgbClr val="0D0D11"/>
                </a:solidFill>
              </a:rPr>
              <a:t>	</a:t>
            </a:r>
            <a:r>
              <a:rPr lang="en-US" altLang="ru-RU" sz="1800" b="1">
                <a:solidFill>
                  <a:srgbClr val="0D0D11"/>
                </a:solidFill>
              </a:rPr>
              <a:t>PRIMARY KEY</a:t>
            </a:r>
            <a:r>
              <a:rPr lang="en-US" altLang="ru-RU" sz="1800">
                <a:solidFill>
                  <a:srgbClr val="0D0D11"/>
                </a:solidFill>
              </a:rPr>
              <a:t>(</a:t>
            </a:r>
            <a:r>
              <a:rPr lang="ru-RU" altLang="ru-RU" sz="1800" i="1">
                <a:solidFill>
                  <a:srgbClr val="0D0D11"/>
                </a:solidFill>
              </a:rPr>
              <a:t>имя_поля1</a:t>
            </a:r>
            <a:r>
              <a:rPr lang="ru-RU" altLang="ru-RU" sz="1800">
                <a:solidFill>
                  <a:srgbClr val="0D0D11"/>
                </a:solidFill>
              </a:rPr>
              <a:t> </a:t>
            </a:r>
            <a:r>
              <a:rPr lang="en-US" altLang="ru-RU" sz="1800">
                <a:solidFill>
                  <a:srgbClr val="0D0D11"/>
                </a:solidFill>
              </a:rPr>
              <a:t>[</a:t>
            </a:r>
            <a:r>
              <a:rPr lang="ru-RU" altLang="ru-RU" sz="1800">
                <a:solidFill>
                  <a:srgbClr val="0D0D11"/>
                </a:solidFill>
              </a:rPr>
              <a:t>, </a:t>
            </a:r>
            <a:r>
              <a:rPr lang="ru-RU" altLang="ru-RU" sz="1800" i="1">
                <a:solidFill>
                  <a:srgbClr val="0D0D11"/>
                </a:solidFill>
              </a:rPr>
              <a:t>имя_поля2</a:t>
            </a:r>
            <a:r>
              <a:rPr lang="ru-RU" altLang="ru-RU" sz="1800">
                <a:solidFill>
                  <a:srgbClr val="0D0D11"/>
                </a:solidFill>
              </a:rPr>
              <a:t>,...</a:t>
            </a:r>
            <a:r>
              <a:rPr lang="en-US" altLang="ru-RU" sz="1800">
                <a:solidFill>
                  <a:srgbClr val="0D0D11"/>
                </a:solidFill>
              </a:rPr>
              <a:t>])</a:t>
            </a:r>
            <a:endParaRPr lang="ru-RU" altLang="ru-RU" sz="1800">
              <a:solidFill>
                <a:srgbClr val="0D0D11"/>
              </a:solidFill>
            </a:endParaRPr>
          </a:p>
          <a:p>
            <a:pPr lvl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1800">
                <a:solidFill>
                  <a:srgbClr val="0D0D11"/>
                </a:solidFill>
              </a:rPr>
              <a:t>внешний ключ: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ru-RU" sz="1800">
                <a:solidFill>
                  <a:srgbClr val="0D0D11"/>
                </a:solidFill>
              </a:rPr>
              <a:t>	</a:t>
            </a:r>
            <a:r>
              <a:rPr lang="en-US" altLang="ru-RU" sz="1800" b="1">
                <a:solidFill>
                  <a:srgbClr val="0D0D11"/>
                </a:solidFill>
              </a:rPr>
              <a:t>FOREIGN KEY</a:t>
            </a:r>
            <a:r>
              <a:rPr lang="en-US" altLang="ru-RU" sz="1800">
                <a:solidFill>
                  <a:srgbClr val="0D0D11"/>
                </a:solidFill>
              </a:rPr>
              <a:t>(</a:t>
            </a:r>
            <a:r>
              <a:rPr lang="ru-RU" altLang="ru-RU" sz="1800" i="1">
                <a:solidFill>
                  <a:srgbClr val="0D0D11"/>
                </a:solidFill>
              </a:rPr>
              <a:t>имя_поля1</a:t>
            </a:r>
            <a:r>
              <a:rPr lang="ru-RU" altLang="ru-RU" sz="1800">
                <a:solidFill>
                  <a:srgbClr val="0D0D11"/>
                </a:solidFill>
              </a:rPr>
              <a:t> </a:t>
            </a:r>
            <a:r>
              <a:rPr lang="en-US" altLang="ru-RU" sz="1800">
                <a:solidFill>
                  <a:srgbClr val="0D0D11"/>
                </a:solidFill>
              </a:rPr>
              <a:t>[</a:t>
            </a:r>
            <a:r>
              <a:rPr lang="ru-RU" altLang="ru-RU" sz="1800">
                <a:solidFill>
                  <a:srgbClr val="0D0D11"/>
                </a:solidFill>
              </a:rPr>
              <a:t>, </a:t>
            </a:r>
            <a:r>
              <a:rPr lang="ru-RU" altLang="ru-RU" sz="1800" i="1">
                <a:solidFill>
                  <a:srgbClr val="0D0D11"/>
                </a:solidFill>
              </a:rPr>
              <a:t>имя_поля2</a:t>
            </a:r>
            <a:r>
              <a:rPr lang="ru-RU" altLang="ru-RU" sz="1800">
                <a:solidFill>
                  <a:srgbClr val="0D0D11"/>
                </a:solidFill>
              </a:rPr>
              <a:t>,...</a:t>
            </a:r>
            <a:r>
              <a:rPr lang="en-US" altLang="ru-RU" sz="1800">
                <a:solidFill>
                  <a:srgbClr val="0D0D11"/>
                </a:solidFill>
              </a:rPr>
              <a:t>]) </a:t>
            </a:r>
            <a:r>
              <a:rPr lang="en-US" altLang="ru-RU" sz="1800" b="1">
                <a:solidFill>
                  <a:srgbClr val="0D0D11"/>
                </a:solidFill>
              </a:rPr>
              <a:t>REFERENCES</a:t>
            </a:r>
            <a:r>
              <a:rPr lang="en-US" altLang="ru-RU" sz="1800">
                <a:solidFill>
                  <a:srgbClr val="0D0D11"/>
                </a:solidFill>
              </a:rPr>
              <a:t>  	</a:t>
            </a:r>
            <a:r>
              <a:rPr lang="ru-RU" altLang="ru-RU" sz="1800" i="1">
                <a:solidFill>
                  <a:srgbClr val="0D0D11"/>
                </a:solidFill>
              </a:rPr>
              <a:t>имя_таблицы</a:t>
            </a:r>
            <a:r>
              <a:rPr lang="ru-RU" altLang="ru-RU" sz="1800">
                <a:solidFill>
                  <a:srgbClr val="0D0D11"/>
                </a:solidFill>
              </a:rPr>
              <a:t> </a:t>
            </a:r>
            <a:r>
              <a:rPr lang="en-US" altLang="ru-RU" sz="1800">
                <a:solidFill>
                  <a:srgbClr val="0D0D11"/>
                </a:solidFill>
              </a:rPr>
              <a:t>[(</a:t>
            </a:r>
            <a:r>
              <a:rPr lang="ru-RU" altLang="ru-RU" sz="1800" i="1">
                <a:solidFill>
                  <a:srgbClr val="0D0D11"/>
                </a:solidFill>
              </a:rPr>
              <a:t>имя_поля1</a:t>
            </a:r>
            <a:r>
              <a:rPr lang="ru-RU" altLang="ru-RU" sz="1800">
                <a:solidFill>
                  <a:srgbClr val="0D0D11"/>
                </a:solidFill>
              </a:rPr>
              <a:t> </a:t>
            </a:r>
            <a:r>
              <a:rPr lang="en-US" altLang="ru-RU" sz="1800">
                <a:solidFill>
                  <a:srgbClr val="0D0D11"/>
                </a:solidFill>
              </a:rPr>
              <a:t>[</a:t>
            </a:r>
            <a:r>
              <a:rPr lang="ru-RU" altLang="ru-RU" sz="1800">
                <a:solidFill>
                  <a:srgbClr val="0D0D11"/>
                </a:solidFill>
              </a:rPr>
              <a:t>, </a:t>
            </a:r>
            <a:r>
              <a:rPr lang="ru-RU" altLang="ru-RU" sz="1800" i="1">
                <a:solidFill>
                  <a:srgbClr val="0D0D11"/>
                </a:solidFill>
              </a:rPr>
              <a:t>имя_поля2</a:t>
            </a:r>
            <a:r>
              <a:rPr lang="ru-RU" altLang="ru-RU" sz="1800">
                <a:solidFill>
                  <a:srgbClr val="0D0D11"/>
                </a:solidFill>
              </a:rPr>
              <a:t>,...</a:t>
            </a:r>
            <a:r>
              <a:rPr lang="en-US" altLang="ru-RU" sz="1800">
                <a:solidFill>
                  <a:srgbClr val="0D0D11"/>
                </a:solidFill>
              </a:rPr>
              <a:t>])]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en-US" altLang="ru-RU" sz="1800">
                <a:solidFill>
                  <a:srgbClr val="0D0D11"/>
                </a:solidFill>
              </a:rPr>
              <a:t>       </a:t>
            </a:r>
            <a:r>
              <a:rPr lang="ru-RU" altLang="ru-RU" sz="1800"/>
              <a:t>[ON DELETE CASCADE | ON DELETE SET NULL] </a:t>
            </a:r>
            <a:endParaRPr lang="ru-RU" altLang="ru-RU" sz="1800">
              <a:solidFill>
                <a:srgbClr val="0D0D11"/>
              </a:solidFill>
            </a:endParaRPr>
          </a:p>
          <a:p>
            <a:pPr lvl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ru-RU" altLang="ru-RU" sz="1800">
                <a:solidFill>
                  <a:srgbClr val="0D0D11"/>
                </a:solidFill>
              </a:rPr>
              <a:t>условие на значение поля:</a:t>
            </a:r>
            <a:endParaRPr lang="en-US" altLang="ru-RU" sz="1800">
              <a:solidFill>
                <a:srgbClr val="0D0D11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1800" b="1">
                <a:solidFill>
                  <a:srgbClr val="0D0D11"/>
                </a:solidFill>
              </a:rPr>
              <a:t>	CHECK</a:t>
            </a:r>
            <a:r>
              <a:rPr lang="en-US" altLang="ru-RU" sz="1800">
                <a:solidFill>
                  <a:srgbClr val="0D0D11"/>
                </a:solidFill>
              </a:rPr>
              <a:t> (</a:t>
            </a:r>
            <a:r>
              <a:rPr lang="ru-RU" altLang="ru-RU" sz="1800" i="1">
                <a:solidFill>
                  <a:srgbClr val="0D0D11"/>
                </a:solidFill>
              </a:rPr>
              <a:t>условие</a:t>
            </a:r>
            <a:r>
              <a:rPr lang="en-US" altLang="ru-RU" sz="1800">
                <a:solidFill>
                  <a:srgbClr val="0D0D11"/>
                </a:solidFill>
              </a:rPr>
              <a:t>)</a:t>
            </a:r>
            <a:endParaRPr lang="ru-RU" altLang="ru-RU" sz="1800">
              <a:solidFill>
                <a:srgbClr val="0D0D11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1800">
                <a:solidFill>
                  <a:srgbClr val="0D0D11"/>
                </a:solidFill>
              </a:rPr>
              <a:t>    </a:t>
            </a:r>
            <a:r>
              <a:rPr lang="ru-RU" altLang="ru-RU" sz="1800">
                <a:solidFill>
                  <a:srgbClr val="0D0D11"/>
                </a:solidFill>
              </a:rPr>
              <a:t>Например: </a:t>
            </a:r>
            <a:r>
              <a:rPr lang="en-US" altLang="ru-RU" sz="1800">
                <a:solidFill>
                  <a:srgbClr val="0D0D11"/>
                </a:solidFill>
              </a:rPr>
              <a:t>check (salary&gt;=4500), check (date2 &gt; date1)</a:t>
            </a:r>
            <a:endParaRPr lang="ru-RU" altLang="ru-RU" sz="1800">
              <a:solidFill>
                <a:srgbClr val="0D0D1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22313" y="332656"/>
            <a:ext cx="7772400" cy="715963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Пример БД: проектная организация</a:t>
            </a: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1403350" y="5589588"/>
            <a:ext cx="7272338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400" b="1"/>
              <a:t>Departs</a:t>
            </a:r>
            <a:r>
              <a:rPr lang="en-US" altLang="ru-RU" sz="2400"/>
              <a:t> </a:t>
            </a:r>
            <a:r>
              <a:rPr lang="ru-RU" altLang="ru-RU" sz="2400"/>
              <a:t>– отделы,</a:t>
            </a:r>
            <a:r>
              <a:rPr lang="en-US" altLang="ru-RU" sz="2400"/>
              <a:t>		</a:t>
            </a:r>
            <a:r>
              <a:rPr lang="en-US" altLang="ru-RU" sz="2400" b="1"/>
              <a:t>Project</a:t>
            </a:r>
            <a:r>
              <a:rPr lang="en-US" altLang="ru-RU" sz="2400"/>
              <a:t> –</a:t>
            </a:r>
            <a:r>
              <a:rPr lang="ru-RU" altLang="ru-RU" sz="2400"/>
              <a:t> проекты,</a:t>
            </a:r>
            <a:endParaRPr lang="en-US" altLang="ru-RU" sz="2400"/>
          </a:p>
          <a:p>
            <a:pPr eaLnBrk="1" hangingPunct="1">
              <a:spcBef>
                <a:spcPct val="50000"/>
              </a:spcBef>
            </a:pPr>
            <a:r>
              <a:rPr lang="en-US" altLang="ru-RU" sz="2400" b="1"/>
              <a:t>Emp</a:t>
            </a:r>
            <a:r>
              <a:rPr lang="ru-RU" altLang="ru-RU" sz="2400"/>
              <a:t> – сотрудники,	            </a:t>
            </a:r>
            <a:r>
              <a:rPr lang="en-US" altLang="ru-RU" sz="2400" b="1"/>
              <a:t>Job</a:t>
            </a:r>
            <a:r>
              <a:rPr lang="en-US" altLang="ru-RU" sz="2400"/>
              <a:t> – </a:t>
            </a:r>
            <a:r>
              <a:rPr lang="ru-RU" altLang="ru-RU" sz="2400"/>
              <a:t>участие в проектах.</a:t>
            </a:r>
          </a:p>
        </p:txBody>
      </p:sp>
      <p:pic>
        <p:nvPicPr>
          <p:cNvPr id="3482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484313"/>
            <a:ext cx="7416800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324136" y="260648"/>
            <a:ext cx="8422704" cy="679450"/>
          </a:xfrm>
        </p:spPr>
        <p:txBody>
          <a:bodyPr/>
          <a:lstStyle/>
          <a:p>
            <a:pPr>
              <a:defRPr/>
            </a:pPr>
            <a:r>
              <a:rPr lang="ru-RU" sz="3200" dirty="0"/>
              <a:t>Организация связей между таблицами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2987675" y="191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611188" y="2201863"/>
          <a:ext cx="3886200" cy="3890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9" name="Рисунок" r:id="rId3" imgW="3124200" imgH="3060700" progId="Word.Picture.8">
                  <p:embed/>
                </p:oleObj>
              </mc:Choice>
              <mc:Fallback>
                <p:oleObj name="Рисунок" r:id="rId3" imgW="3124200" imgH="30607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01863"/>
                        <a:ext cx="3886200" cy="3890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3132138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4932363" y="2205038"/>
          <a:ext cx="36576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0" name="Рисунок" r:id="rId5" imgW="2882900" imgH="1917700" progId="Word.Picture.8">
                  <p:embed/>
                </p:oleObj>
              </mc:Choice>
              <mc:Fallback>
                <p:oleObj name="Рисунок" r:id="rId5" imgW="2882900" imgH="19177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205038"/>
                        <a:ext cx="36576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Line 7"/>
          <p:cNvSpPr>
            <a:spLocks noChangeShapeType="1"/>
          </p:cNvSpPr>
          <p:nvPr/>
        </p:nvSpPr>
        <p:spPr bwMode="auto">
          <a:xfrm flipV="1">
            <a:off x="4306888" y="3141663"/>
            <a:ext cx="719137" cy="757237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 flipV="1">
            <a:off x="4337050" y="2862263"/>
            <a:ext cx="690563" cy="1800225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 flipH="1" flipV="1">
            <a:off x="4306888" y="2913063"/>
            <a:ext cx="719137" cy="215900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 flipH="1">
            <a:off x="4303713" y="2781300"/>
            <a:ext cx="747712" cy="647700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 flipH="1">
            <a:off x="4306888" y="4076700"/>
            <a:ext cx="719137" cy="1295400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614363" y="5876925"/>
            <a:ext cx="784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>
                <a:solidFill>
                  <a:srgbClr val="0D0D11"/>
                </a:solidFill>
              </a:rPr>
              <a:t>«Отдел» – внешний ключ в таблице «Сотрудники» к таблице «Отделы»</a:t>
            </a: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755650" y="1722438"/>
            <a:ext cx="33115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/>
              <a:t>Таблица «Сотрудники»</a:t>
            </a:r>
            <a:r>
              <a:rPr lang="en-US" altLang="ru-RU" b="1"/>
              <a:t> (Emp)</a:t>
            </a:r>
            <a:endParaRPr lang="ru-RU" altLang="ru-RU" b="1"/>
          </a:p>
        </p:txBody>
      </p:sp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5026025" y="1731963"/>
            <a:ext cx="35290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/>
              <a:t>Таблица «Отделы» (</a:t>
            </a:r>
            <a:r>
              <a:rPr lang="en-US" altLang="ru-RU" b="1"/>
              <a:t>Departs)</a:t>
            </a:r>
            <a:endParaRPr lang="ru-RU" altLang="ru-RU" b="1"/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5076825" y="4365625"/>
            <a:ext cx="34559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>
                <a:solidFill>
                  <a:srgbClr val="0D0D11"/>
                </a:solidFill>
              </a:rPr>
              <a:t>«Номер отдела» – первичный ключ в таблице «Отделы»</a:t>
            </a:r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682625" y="1125538"/>
            <a:ext cx="777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u-RU" altLang="ru-RU" sz="2400">
                <a:solidFill>
                  <a:srgbClr val="0D0D11"/>
                </a:solidFill>
              </a:rPr>
              <a:t>Связь один-ко-многим: Отделы </a:t>
            </a:r>
            <a:r>
              <a:rPr lang="ru-RU" altLang="ru-RU">
                <a:solidFill>
                  <a:srgbClr val="0D0D11"/>
                </a:solidFill>
              </a:rPr>
              <a:t>–</a:t>
            </a:r>
            <a:r>
              <a:rPr lang="ru-RU" altLang="ru-RU" sz="2400">
                <a:solidFill>
                  <a:srgbClr val="0D0D11"/>
                </a:solidFill>
              </a:rPr>
              <a:t> Сотрудники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73113"/>
          </a:xfrm>
        </p:spPr>
        <p:txBody>
          <a:bodyPr/>
          <a:lstStyle/>
          <a:p>
            <a:pPr>
              <a:defRPr/>
            </a:pPr>
            <a:r>
              <a:rPr lang="ru-RU" sz="3200"/>
              <a:t>Организация связей между таблицами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2987675" y="191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473075" y="2563813"/>
          <a:ext cx="2262188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3" name="Рисунок" r:id="rId3" imgW="1816100" imgH="1917700" progId="Word.Picture.8">
                  <p:embed/>
                </p:oleObj>
              </mc:Choice>
              <mc:Fallback>
                <p:oleObj name="Рисунок" r:id="rId3" imgW="1816100" imgH="19177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2563813"/>
                        <a:ext cx="2262188" cy="244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2987675" y="2492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6324600" y="2492375"/>
          <a:ext cx="2606675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4" name="Рисунок" r:id="rId5" imgW="2057400" imgH="1358900" progId="Word.Picture.8">
                  <p:embed/>
                </p:oleObj>
              </mc:Choice>
              <mc:Fallback>
                <p:oleObj name="Рисунок" r:id="rId5" imgW="2057400" imgH="13589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492375"/>
                        <a:ext cx="2606675" cy="171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Line 7"/>
          <p:cNvSpPr>
            <a:spLocks noChangeShapeType="1"/>
          </p:cNvSpPr>
          <p:nvPr/>
        </p:nvSpPr>
        <p:spPr bwMode="auto">
          <a:xfrm flipH="1" flipV="1">
            <a:off x="2555875" y="4149725"/>
            <a:ext cx="863600" cy="358775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 flipH="1" flipV="1">
            <a:off x="2555875" y="3860800"/>
            <a:ext cx="863600" cy="215900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2555875" y="3644900"/>
            <a:ext cx="863600" cy="647700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2555875" y="3573463"/>
            <a:ext cx="863600" cy="287337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2555875" y="3284538"/>
            <a:ext cx="863600" cy="360362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2771775" y="5084763"/>
            <a:ext cx="5759450" cy="85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sz="1600">
                <a:solidFill>
                  <a:srgbClr val="0D0D11"/>
                </a:solidFill>
              </a:rPr>
              <a:t>В таблице «Участие»:</a:t>
            </a:r>
          </a:p>
          <a:p>
            <a:r>
              <a:rPr lang="ru-RU" altLang="ru-RU" sz="1600">
                <a:solidFill>
                  <a:srgbClr val="0D0D11"/>
                </a:solidFill>
              </a:rPr>
              <a:t>«Участник» – внешний ключ к таблице «Сотрудники» </a:t>
            </a:r>
          </a:p>
          <a:p>
            <a:r>
              <a:rPr lang="ru-RU" altLang="ru-RU" sz="1600">
                <a:solidFill>
                  <a:srgbClr val="0D0D11"/>
                </a:solidFill>
              </a:rPr>
              <a:t>«Проект» </a:t>
            </a:r>
            <a:r>
              <a:rPr lang="ru-RU" altLang="ru-RU">
                <a:solidFill>
                  <a:srgbClr val="0D0D11"/>
                </a:solidFill>
              </a:rPr>
              <a:t>–</a:t>
            </a:r>
            <a:r>
              <a:rPr lang="ru-RU" altLang="ru-RU" sz="1600">
                <a:solidFill>
                  <a:srgbClr val="0D0D11"/>
                </a:solidFill>
              </a:rPr>
              <a:t> внешний ключ к таблице «Проекты»</a:t>
            </a:r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468313" y="2060575"/>
            <a:ext cx="34671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/>
              <a:t>Таблица «Сотрудники»</a:t>
            </a:r>
            <a:r>
              <a:rPr lang="en-US" altLang="ru-RU" b="1"/>
              <a:t> (Emp)</a:t>
            </a:r>
            <a:endParaRPr lang="ru-RU" altLang="ru-RU" b="1"/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5794375" y="2060575"/>
            <a:ext cx="323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/>
              <a:t>Таблица «Проекты»</a:t>
            </a:r>
            <a:r>
              <a:rPr lang="en-US" altLang="ru-RU" b="1"/>
              <a:t> (Project)</a:t>
            </a:r>
            <a:endParaRPr lang="ru-RU" altLang="ru-RU" b="1"/>
          </a:p>
        </p:txBody>
      </p:sp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684213" y="1341438"/>
            <a:ext cx="777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ru-RU" altLang="ru-RU" sz="2400">
                <a:solidFill>
                  <a:srgbClr val="0D0D11"/>
                </a:solidFill>
              </a:rPr>
              <a:t>Связь многие-ко-многим: Проекты </a:t>
            </a:r>
            <a:r>
              <a:rPr lang="ru-RU" altLang="ru-RU">
                <a:solidFill>
                  <a:srgbClr val="0D0D11"/>
                </a:solidFill>
              </a:rPr>
              <a:t>–</a:t>
            </a:r>
            <a:r>
              <a:rPr lang="ru-RU" altLang="ru-RU" sz="2400">
                <a:solidFill>
                  <a:srgbClr val="0D0D11"/>
                </a:solidFill>
              </a:rPr>
              <a:t> Сотрудники</a:t>
            </a:r>
          </a:p>
        </p:txBody>
      </p:sp>
      <p:graphicFrame>
        <p:nvGraphicFramePr>
          <p:cNvPr id="37904" name="Object 16"/>
          <p:cNvGraphicFramePr>
            <a:graphicFrameLocks noGrp="1" noChangeAspect="1"/>
          </p:cNvGraphicFramePr>
          <p:nvPr>
            <p:ph idx="4294967295"/>
          </p:nvPr>
        </p:nvGraphicFramePr>
        <p:xfrm>
          <a:off x="3240088" y="3321050"/>
          <a:ext cx="2778125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5" name="Рисунок" r:id="rId7" imgW="2527300" imgH="1574800" progId="Word.Picture.8">
                  <p:embed/>
                </p:oleObj>
              </mc:Choice>
              <mc:Fallback>
                <p:oleObj name="Рисунок" r:id="rId7" imgW="2527300" imgH="1574800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3321050"/>
                        <a:ext cx="2778125" cy="154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5" name="Line 17"/>
          <p:cNvSpPr>
            <a:spLocks noChangeShapeType="1"/>
          </p:cNvSpPr>
          <p:nvPr/>
        </p:nvSpPr>
        <p:spPr bwMode="auto">
          <a:xfrm flipV="1">
            <a:off x="5795963" y="2924175"/>
            <a:ext cx="647700" cy="720725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906" name="Line 18"/>
          <p:cNvSpPr>
            <a:spLocks noChangeShapeType="1"/>
          </p:cNvSpPr>
          <p:nvPr/>
        </p:nvSpPr>
        <p:spPr bwMode="auto">
          <a:xfrm flipV="1">
            <a:off x="5795963" y="3140075"/>
            <a:ext cx="647700" cy="720725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 flipV="1">
            <a:off x="5795963" y="3213100"/>
            <a:ext cx="647700" cy="863600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908" name="Line 20"/>
          <p:cNvSpPr>
            <a:spLocks noChangeShapeType="1"/>
          </p:cNvSpPr>
          <p:nvPr/>
        </p:nvSpPr>
        <p:spPr bwMode="auto">
          <a:xfrm flipV="1">
            <a:off x="5795963" y="3500438"/>
            <a:ext cx="647700" cy="792162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909" name="Line 21"/>
          <p:cNvSpPr>
            <a:spLocks noChangeShapeType="1"/>
          </p:cNvSpPr>
          <p:nvPr/>
        </p:nvSpPr>
        <p:spPr bwMode="auto">
          <a:xfrm flipV="1">
            <a:off x="5795963" y="2997200"/>
            <a:ext cx="647700" cy="1511300"/>
          </a:xfrm>
          <a:prstGeom prst="line">
            <a:avLst/>
          </a:prstGeom>
          <a:noFill/>
          <a:ln w="12700">
            <a:solidFill>
              <a:srgbClr val="0D0D1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37910" name="Text Box 22"/>
          <p:cNvSpPr txBox="1">
            <a:spLocks noChangeArrowheads="1"/>
          </p:cNvSpPr>
          <p:nvPr/>
        </p:nvSpPr>
        <p:spPr bwMode="auto">
          <a:xfrm>
            <a:off x="3151188" y="2884488"/>
            <a:ext cx="29511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ru-RU" altLang="ru-RU" b="1"/>
              <a:t>Таблица «Участие»</a:t>
            </a:r>
            <a:r>
              <a:rPr lang="en-US" altLang="ru-RU" b="1"/>
              <a:t> (Job)</a:t>
            </a:r>
            <a:endParaRPr lang="ru-RU" altLang="ru-RU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0648"/>
            <a:ext cx="7772400" cy="715962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Пример БД: проектная организация</a:t>
            </a:r>
          </a:p>
        </p:txBody>
      </p:sp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569913" y="908050"/>
            <a:ext cx="8064500" cy="594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 b="1" dirty="0" err="1">
                <a:solidFill>
                  <a:srgbClr val="0D0D11"/>
                </a:solidFill>
              </a:rPr>
              <a:t>Emp</a:t>
            </a:r>
            <a:r>
              <a:rPr lang="ru-RU" altLang="ru-RU" sz="2000" dirty="0">
                <a:solidFill>
                  <a:srgbClr val="0D0D11"/>
                </a:solidFill>
              </a:rPr>
              <a:t> – сотрудники</a:t>
            </a:r>
            <a:r>
              <a:rPr lang="en-US" altLang="ru-RU" sz="2000" dirty="0">
                <a:solidFill>
                  <a:srgbClr val="0D0D11"/>
                </a:solidFill>
              </a:rPr>
              <a:t>: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tabno</a:t>
            </a:r>
            <a:r>
              <a:rPr lang="ru-RU" altLang="ru-RU" sz="2000" dirty="0">
                <a:solidFill>
                  <a:srgbClr val="0D0D11"/>
                </a:solidFill>
              </a:rPr>
              <a:t> – табельный номер сотрудника, первичный ключ;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name</a:t>
            </a:r>
            <a:r>
              <a:rPr lang="ru-RU" altLang="ru-RU" sz="2000" dirty="0">
                <a:solidFill>
                  <a:srgbClr val="0D0D11"/>
                </a:solidFill>
              </a:rPr>
              <a:t> – ФИО сотрудника, обязательное поле;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born</a:t>
            </a:r>
            <a:r>
              <a:rPr lang="ru-RU" altLang="ru-RU" sz="2000" dirty="0">
                <a:solidFill>
                  <a:srgbClr val="0D0D11"/>
                </a:solidFill>
              </a:rPr>
              <a:t> –</a:t>
            </a:r>
            <a:r>
              <a:rPr lang="ru-RU" altLang="ru-RU" sz="2000" dirty="0"/>
              <a:t> дата рождения </a:t>
            </a:r>
            <a:r>
              <a:rPr lang="ru-RU" altLang="ru-RU" sz="2000" dirty="0">
                <a:solidFill>
                  <a:srgbClr val="0D0D11"/>
                </a:solidFill>
              </a:rPr>
              <a:t>сотрудника, обязательное поле;</a:t>
            </a: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gender</a:t>
            </a:r>
            <a:r>
              <a:rPr lang="ru-RU" altLang="ru-RU" sz="2000" dirty="0">
                <a:solidFill>
                  <a:srgbClr val="0D0D11"/>
                </a:solidFill>
              </a:rPr>
              <a:t> – пол</a:t>
            </a:r>
            <a:r>
              <a:rPr lang="ru-RU" altLang="ru-RU" sz="2000" dirty="0"/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сотрудника, обязательное поле;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depno</a:t>
            </a:r>
            <a:r>
              <a:rPr lang="ru-RU" altLang="ru-RU" sz="2000" dirty="0">
                <a:solidFill>
                  <a:srgbClr val="0D0D11"/>
                </a:solidFill>
              </a:rPr>
              <a:t> –</a:t>
            </a:r>
            <a:r>
              <a:rPr lang="ru-RU" altLang="ru-RU" sz="2000" dirty="0"/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 номер отдела, обязательное поле, внешний ключ;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post</a:t>
            </a:r>
            <a:r>
              <a:rPr lang="ru-RU" altLang="ru-RU" sz="2000" dirty="0">
                <a:solidFill>
                  <a:srgbClr val="0D0D11"/>
                </a:solidFill>
              </a:rPr>
              <a:t> –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должность сотрудника;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salary</a:t>
            </a:r>
            <a:r>
              <a:rPr lang="ru-RU" altLang="ru-RU" sz="2000" dirty="0">
                <a:solidFill>
                  <a:srgbClr val="0D0D11"/>
                </a:solidFill>
              </a:rPr>
              <a:t> – оклад, больше МРОТ;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passport</a:t>
            </a:r>
            <a:r>
              <a:rPr lang="ru-RU" altLang="ru-RU" sz="2000" dirty="0">
                <a:solidFill>
                  <a:srgbClr val="0D0D11"/>
                </a:solidFill>
              </a:rPr>
              <a:t> – серия и номер паспорта, уникальный обязательный атрибут;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pass_date</a:t>
            </a:r>
            <a:r>
              <a:rPr lang="ru-RU" altLang="ru-RU" sz="2000" dirty="0">
                <a:solidFill>
                  <a:srgbClr val="0D0D11"/>
                </a:solidFill>
              </a:rPr>
              <a:t> – дата выдачи паспорта, обязательное поле;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pass_get</a:t>
            </a:r>
            <a:r>
              <a:rPr lang="ru-RU" altLang="ru-RU" sz="2000" dirty="0">
                <a:solidFill>
                  <a:srgbClr val="0D0D11"/>
                </a:solidFill>
              </a:rPr>
              <a:t> – кем выдан паспорт, обязательное поле;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born_seat</a:t>
            </a:r>
            <a:r>
              <a:rPr lang="ru-RU" altLang="ru-RU" sz="2000" b="1" dirty="0">
                <a:solidFill>
                  <a:srgbClr val="0D0D11"/>
                </a:solidFill>
              </a:rPr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– место рождения сотрудника;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edu</a:t>
            </a:r>
            <a:r>
              <a:rPr lang="ru-RU" altLang="ru-RU" sz="2000" dirty="0">
                <a:solidFill>
                  <a:srgbClr val="0D0D11"/>
                </a:solidFill>
              </a:rPr>
              <a:t> – образование сотрудника;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special</a:t>
            </a:r>
            <a:r>
              <a:rPr lang="ru-RU" altLang="ru-RU" sz="2000" dirty="0">
                <a:solidFill>
                  <a:srgbClr val="0D0D11"/>
                </a:solidFill>
              </a:rPr>
              <a:t> – специальность по образованию;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diplom</a:t>
            </a:r>
            <a:r>
              <a:rPr lang="ru-RU" altLang="ru-RU" sz="2000" dirty="0">
                <a:solidFill>
                  <a:srgbClr val="0D0D11"/>
                </a:solidFill>
              </a:rPr>
              <a:t> – номер диплома;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phone</a:t>
            </a:r>
            <a:r>
              <a:rPr lang="ru-RU" altLang="ru-RU" sz="2000" dirty="0">
                <a:solidFill>
                  <a:srgbClr val="0D0D11"/>
                </a:solidFill>
              </a:rPr>
              <a:t> – телефоны сотрудника;</a:t>
            </a:r>
          </a:p>
          <a:p>
            <a:pPr lvl="1" eaLnBrk="1" hangingPunct="1"/>
            <a:r>
              <a:rPr lang="ru-RU" altLang="ru-RU" sz="2000" b="1" dirty="0" err="1">
                <a:solidFill>
                  <a:srgbClr val="0D0D11"/>
                </a:solidFill>
              </a:rPr>
              <a:t>adr</a:t>
            </a:r>
            <a:r>
              <a:rPr lang="ru-RU" altLang="ru-RU" sz="2000" dirty="0">
                <a:solidFill>
                  <a:srgbClr val="0D0D11"/>
                </a:solidFill>
              </a:rPr>
              <a:t> – адрес сотрудника;</a:t>
            </a:r>
          </a:p>
          <a:p>
            <a:pPr lvl="1" eaLnBrk="1" hangingPunct="1"/>
            <a:r>
              <a:rPr lang="en-US" altLang="ru-RU" sz="2000" b="1" dirty="0" err="1">
                <a:solidFill>
                  <a:srgbClr val="0D0D11"/>
                </a:solidFill>
              </a:rPr>
              <a:t>edate</a:t>
            </a:r>
            <a:r>
              <a:rPr lang="en-US" altLang="ru-RU" sz="2000" dirty="0">
                <a:solidFill>
                  <a:srgbClr val="0D0D11"/>
                </a:solidFill>
              </a:rPr>
              <a:t> – </a:t>
            </a:r>
            <a:r>
              <a:rPr lang="ru-RU" altLang="ru-RU" sz="2000" dirty="0">
                <a:solidFill>
                  <a:srgbClr val="0D0D11"/>
                </a:solidFill>
              </a:rPr>
              <a:t>дата  вступления в должность, обязательное поле.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44624"/>
            <a:ext cx="7772400" cy="715963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Пример БД: проектная организация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250825" y="765175"/>
            <a:ext cx="8353425" cy="563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ru-RU" sz="2000" b="1" dirty="0">
                <a:solidFill>
                  <a:srgbClr val="0D0D11"/>
                </a:solidFill>
              </a:rPr>
              <a:t>Departs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– отделы:</a:t>
            </a: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         did</a:t>
            </a:r>
            <a:r>
              <a:rPr lang="en-US" altLang="ru-RU" sz="2000" dirty="0">
                <a:solidFill>
                  <a:srgbClr val="0D0D11"/>
                </a:solidFill>
              </a:rPr>
              <a:t> – </a:t>
            </a:r>
            <a:r>
              <a:rPr lang="ru-RU" altLang="ru-RU" sz="2000" dirty="0">
                <a:solidFill>
                  <a:srgbClr val="0D0D11"/>
                </a:solidFill>
              </a:rPr>
              <a:t>номер отдела, первичный ключ;</a:t>
            </a: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         name</a:t>
            </a:r>
            <a:r>
              <a:rPr lang="en-US" altLang="ru-RU" sz="2000" dirty="0">
                <a:solidFill>
                  <a:srgbClr val="0D0D11"/>
                </a:solidFill>
              </a:rPr>
              <a:t> – </a:t>
            </a:r>
            <a:r>
              <a:rPr lang="ru-RU" altLang="ru-RU" sz="2000" dirty="0">
                <a:solidFill>
                  <a:srgbClr val="0D0D11"/>
                </a:solidFill>
              </a:rPr>
              <a:t>название отдела, обязательное поле.</a:t>
            </a:r>
            <a:endParaRPr lang="en-US" altLang="ru-RU" sz="2000" dirty="0">
              <a:solidFill>
                <a:srgbClr val="0D0D1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ru-RU" sz="2000" b="1" dirty="0">
                <a:solidFill>
                  <a:srgbClr val="0D0D11"/>
                </a:solidFill>
              </a:rPr>
              <a:t>Project</a:t>
            </a:r>
            <a:r>
              <a:rPr lang="en-US" altLang="ru-RU" sz="2000" dirty="0">
                <a:solidFill>
                  <a:srgbClr val="0D0D11"/>
                </a:solidFill>
              </a:rPr>
              <a:t> –</a:t>
            </a:r>
            <a:r>
              <a:rPr lang="ru-RU" altLang="ru-RU" sz="2000" dirty="0">
                <a:solidFill>
                  <a:srgbClr val="0D0D11"/>
                </a:solidFill>
              </a:rPr>
              <a:t> проекты</a:t>
            </a:r>
            <a:r>
              <a:rPr lang="en-US" altLang="ru-RU" sz="2000" dirty="0">
                <a:solidFill>
                  <a:srgbClr val="0D0D11"/>
                </a:solidFill>
              </a:rPr>
              <a:t>:</a:t>
            </a:r>
            <a:endParaRPr lang="ru-RU" altLang="ru-RU" sz="2000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No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номер проекта, первичный ключ; 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title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название проекта, обязательное поле;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pro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краткое название проекта, обязательное уникальное поле;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client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заказчик, обязательное поле;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 err="1">
                <a:solidFill>
                  <a:srgbClr val="0D0D11"/>
                </a:solidFill>
              </a:rPr>
              <a:t>dbegin</a:t>
            </a:r>
            <a:r>
              <a:rPr lang="en-US" altLang="ru-RU" sz="2000" b="1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дата начала выполнения проекта, обязательное поле;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 err="1">
                <a:solidFill>
                  <a:srgbClr val="0D0D11"/>
                </a:solidFill>
              </a:rPr>
              <a:t>dend</a:t>
            </a:r>
            <a:r>
              <a:rPr lang="en-US" altLang="ru-RU" sz="2000" b="1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дата завершения проекта, обязательное поле;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cost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стоимость проекта, обязательное поле.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ru-RU" sz="2000" b="1" dirty="0">
                <a:solidFill>
                  <a:srgbClr val="0D0D11"/>
                </a:solidFill>
              </a:rPr>
              <a:t>Job</a:t>
            </a:r>
            <a:r>
              <a:rPr lang="en-US" altLang="ru-RU" sz="2000" dirty="0">
                <a:solidFill>
                  <a:srgbClr val="0D0D11"/>
                </a:solidFill>
              </a:rPr>
              <a:t> – </a:t>
            </a:r>
            <a:r>
              <a:rPr lang="ru-RU" altLang="ru-RU" sz="2000" dirty="0">
                <a:solidFill>
                  <a:srgbClr val="0D0D11"/>
                </a:solidFill>
              </a:rPr>
              <a:t>участие в проектах</a:t>
            </a:r>
            <a:r>
              <a:rPr lang="en-US" altLang="ru-RU" sz="2000" dirty="0">
                <a:solidFill>
                  <a:srgbClr val="0D0D11"/>
                </a:solidFill>
              </a:rPr>
              <a:t>:</a:t>
            </a:r>
            <a:endParaRPr lang="ru-RU" altLang="ru-RU" sz="2000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>
                <a:solidFill>
                  <a:srgbClr val="0D0D11"/>
                </a:solidFill>
              </a:rPr>
              <a:t>pro</a:t>
            </a:r>
            <a:r>
              <a:rPr lang="ru-RU" altLang="ru-RU" sz="2000" b="1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краткое название проекта, внешний ключ;</a:t>
            </a:r>
            <a:endParaRPr lang="en-US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 err="1">
                <a:solidFill>
                  <a:srgbClr val="0D0D11"/>
                </a:solidFill>
              </a:rPr>
              <a:t>tabNo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номер сотрудника, участвующего в проекте, внешний ключ;</a:t>
            </a:r>
            <a:endParaRPr lang="ru-RU" altLang="ru-RU" sz="2000" b="1" dirty="0">
              <a:solidFill>
                <a:srgbClr val="0D0D11"/>
              </a:solidFill>
            </a:endParaRPr>
          </a:p>
          <a:p>
            <a:pPr lvl="1" eaLnBrk="1" hangingPunct="1"/>
            <a:r>
              <a:rPr lang="en-US" altLang="ru-RU" sz="2000" b="1" dirty="0" err="1">
                <a:solidFill>
                  <a:srgbClr val="0D0D11"/>
                </a:solidFill>
              </a:rPr>
              <a:t>rel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–</a:t>
            </a:r>
            <a:r>
              <a:rPr lang="ru-RU" altLang="ru-RU" sz="2000" dirty="0">
                <a:solidFill>
                  <a:srgbClr val="0D0D11"/>
                </a:solidFill>
              </a:rPr>
              <a:t> роль сотрудника в проекте; может принимать одно из трех значений: 	</a:t>
            </a:r>
            <a:r>
              <a:rPr lang="en-US" altLang="ru-RU" sz="2000" dirty="0">
                <a:solidFill>
                  <a:srgbClr val="0D0D11"/>
                </a:solidFill>
              </a:rPr>
              <a:t>'</a:t>
            </a:r>
            <a:r>
              <a:rPr lang="en-US" altLang="ru-RU" sz="2000" dirty="0" err="1">
                <a:solidFill>
                  <a:srgbClr val="0D0D11"/>
                </a:solidFill>
              </a:rPr>
              <a:t>исполнитель</a:t>
            </a:r>
            <a:r>
              <a:rPr lang="en-US" altLang="ru-RU" sz="2000" dirty="0">
                <a:solidFill>
                  <a:srgbClr val="0D0D11"/>
                </a:solidFill>
              </a:rPr>
              <a:t>',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'</a:t>
            </a:r>
            <a:r>
              <a:rPr lang="en-US" altLang="ru-RU" sz="2000" dirty="0" err="1">
                <a:solidFill>
                  <a:srgbClr val="0D0D11"/>
                </a:solidFill>
              </a:rPr>
              <a:t>руководитель</a:t>
            </a:r>
            <a:r>
              <a:rPr lang="en-US" altLang="ru-RU" sz="2000" dirty="0">
                <a:solidFill>
                  <a:srgbClr val="0D0D11"/>
                </a:solidFill>
              </a:rPr>
              <a:t>',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'</a:t>
            </a:r>
            <a:r>
              <a:rPr lang="en-US" altLang="ru-RU" sz="2000" dirty="0" err="1">
                <a:solidFill>
                  <a:srgbClr val="0D0D11"/>
                </a:solidFill>
              </a:rPr>
              <a:t>консультант</a:t>
            </a:r>
            <a:r>
              <a:rPr lang="en-US" altLang="ru-RU" sz="2000" dirty="0">
                <a:solidFill>
                  <a:srgbClr val="0D0D11"/>
                </a:solidFill>
              </a:rPr>
              <a:t>'</a:t>
            </a:r>
            <a:r>
              <a:rPr lang="ru-RU" altLang="ru-RU" sz="2000" dirty="0">
                <a:solidFill>
                  <a:srgbClr val="0D0D11"/>
                </a:solidFill>
              </a:rPr>
              <a:t>.</a:t>
            </a:r>
          </a:p>
          <a:p>
            <a:pPr lvl="1" eaLnBrk="1" hangingPunct="1"/>
            <a:r>
              <a:rPr lang="ru-RU" altLang="ru-RU" sz="2000" dirty="0">
                <a:solidFill>
                  <a:srgbClr val="0D0D11"/>
                </a:solidFill>
              </a:rPr>
              <a:t>Первичный ключ – комбинация полей </a:t>
            </a:r>
            <a:r>
              <a:rPr lang="en-US" altLang="ru-RU" sz="2000" b="1" dirty="0">
                <a:solidFill>
                  <a:srgbClr val="0D0D11"/>
                </a:solidFill>
              </a:rPr>
              <a:t>pro</a:t>
            </a:r>
            <a:r>
              <a:rPr lang="ru-RU" altLang="ru-RU" sz="2000" b="1" dirty="0">
                <a:solidFill>
                  <a:srgbClr val="0D0D11"/>
                </a:solidFill>
              </a:rPr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и </a:t>
            </a:r>
            <a:r>
              <a:rPr lang="en-US" altLang="ru-RU" sz="2000" b="1" dirty="0" err="1">
                <a:solidFill>
                  <a:srgbClr val="0D0D11"/>
                </a:solidFill>
              </a:rPr>
              <a:t>tabNo</a:t>
            </a:r>
            <a:r>
              <a:rPr lang="ru-RU" altLang="ru-RU" sz="2000" dirty="0">
                <a:solidFill>
                  <a:srgbClr val="0D0D11"/>
                </a:solidFill>
              </a:rPr>
              <a:t>.</a:t>
            </a:r>
            <a:endParaRPr lang="en-US" altLang="ru-RU" sz="2000" dirty="0">
              <a:solidFill>
                <a:srgbClr val="0D0D1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99392"/>
            <a:ext cx="8135938" cy="644525"/>
          </a:xfrm>
        </p:spPr>
        <p:txBody>
          <a:bodyPr>
            <a:normAutofit fontScale="900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200" dirty="0">
                <a:latin typeface="Times New Roman" pitchFamily="18" charset="0"/>
              </a:rPr>
              <a:t>Создание таблиц БД проектной организации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179388" y="476250"/>
            <a:ext cx="8856662" cy="52562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1800" b="1" dirty="0">
                <a:solidFill>
                  <a:srgbClr val="0D0D11"/>
                </a:solidFill>
              </a:rPr>
              <a:t>Таблица «Отделы» (</a:t>
            </a:r>
            <a:r>
              <a:rPr lang="en-US" altLang="ru-RU" sz="1800" b="1" dirty="0">
                <a:solidFill>
                  <a:srgbClr val="0D0D11"/>
                </a:solidFill>
              </a:rPr>
              <a:t>Depart):</a:t>
            </a:r>
            <a:endParaRPr lang="ru-RU" altLang="ru-RU" sz="1800" b="1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1800" dirty="0" err="1">
                <a:solidFill>
                  <a:srgbClr val="0D0D11"/>
                </a:solidFill>
              </a:rPr>
              <a:t>create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table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depart</a:t>
            </a:r>
            <a:r>
              <a:rPr lang="ru-RU" altLang="ru-RU" sz="1800" dirty="0">
                <a:solidFill>
                  <a:srgbClr val="0D0D11"/>
                </a:solidFill>
              </a:rPr>
              <a:t> (</a:t>
            </a:r>
            <a:r>
              <a:rPr lang="ru-RU" altLang="ru-RU" sz="1800" dirty="0" err="1">
                <a:solidFill>
                  <a:srgbClr val="0D0D11"/>
                </a:solidFill>
              </a:rPr>
              <a:t>did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number</a:t>
            </a:r>
            <a:r>
              <a:rPr lang="ru-RU" altLang="ru-RU" sz="1800" dirty="0">
                <a:solidFill>
                  <a:srgbClr val="0D0D11"/>
                </a:solidFill>
              </a:rPr>
              <a:t>(4) </a:t>
            </a:r>
            <a:r>
              <a:rPr lang="en-US" altLang="ru-RU" sz="1800" dirty="0">
                <a:solidFill>
                  <a:srgbClr val="0D0D11"/>
                </a:solidFill>
              </a:rPr>
              <a:t>constraint </a:t>
            </a:r>
            <a:r>
              <a:rPr lang="en-US" altLang="ru-RU" sz="1800" dirty="0" err="1">
                <a:solidFill>
                  <a:srgbClr val="0D0D11"/>
                </a:solidFill>
              </a:rPr>
              <a:t>pk_depart</a:t>
            </a:r>
            <a:r>
              <a:rPr lang="en-US" altLang="ru-RU" sz="1800" dirty="0">
                <a:solidFill>
                  <a:srgbClr val="0D0D11"/>
                </a:solidFill>
              </a:rPr>
              <a:t>  </a:t>
            </a:r>
            <a:r>
              <a:rPr lang="ru-RU" altLang="ru-RU" sz="1800" b="1" dirty="0">
                <a:solidFill>
                  <a:srgbClr val="0D0D11"/>
                </a:solidFill>
              </a:rPr>
              <a:t>PRIMARY KEY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	</a:t>
            </a:r>
            <a:r>
              <a:rPr lang="ru-RU" altLang="ru-RU" sz="1800" dirty="0" err="1">
                <a:solidFill>
                  <a:srgbClr val="0D0D11"/>
                </a:solidFill>
              </a:rPr>
              <a:t>name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(100) </a:t>
            </a:r>
            <a:r>
              <a:rPr lang="ru-RU" altLang="ru-RU" sz="1800" dirty="0" err="1">
                <a:solidFill>
                  <a:srgbClr val="0D0D11"/>
                </a:solidFill>
              </a:rPr>
              <a:t>not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null</a:t>
            </a:r>
            <a:endParaRPr lang="ru-RU" altLang="ru-RU" sz="1800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1800" b="1" dirty="0">
                <a:solidFill>
                  <a:srgbClr val="0D0D11"/>
                </a:solidFill>
              </a:rPr>
              <a:t>Таблица «Сотрудники» (</a:t>
            </a:r>
            <a:r>
              <a:rPr lang="en-US" altLang="ru-RU" sz="1800" b="1" dirty="0" err="1">
                <a:solidFill>
                  <a:srgbClr val="0D0D11"/>
                </a:solidFill>
              </a:rPr>
              <a:t>Emp</a:t>
            </a:r>
            <a:r>
              <a:rPr lang="en-US" altLang="ru-RU" sz="1800" b="1" dirty="0">
                <a:solidFill>
                  <a:srgbClr val="0D0D11"/>
                </a:solidFill>
              </a:rPr>
              <a:t>):</a:t>
            </a:r>
            <a:endParaRPr lang="ru-RU" altLang="ru-RU" sz="1800" b="1" dirty="0">
              <a:solidFill>
                <a:srgbClr val="0D0D11"/>
              </a:solidFill>
            </a:endParaRP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 err="1">
                <a:solidFill>
                  <a:srgbClr val="0D0D11"/>
                </a:solidFill>
              </a:rPr>
              <a:t>create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table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emp</a:t>
            </a:r>
            <a:r>
              <a:rPr lang="ru-RU" altLang="ru-RU" sz="1800" dirty="0">
                <a:solidFill>
                  <a:srgbClr val="0D0D11"/>
                </a:solidFill>
              </a:rPr>
              <a:t> (</a:t>
            </a:r>
            <a:r>
              <a:rPr lang="ru-RU" altLang="ru-RU" sz="1800" dirty="0" err="1">
                <a:solidFill>
                  <a:srgbClr val="0D0D11"/>
                </a:solidFill>
              </a:rPr>
              <a:t>tabno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number</a:t>
            </a:r>
            <a:r>
              <a:rPr lang="ru-RU" altLang="ru-RU" sz="1800" dirty="0">
                <a:solidFill>
                  <a:srgbClr val="0D0D11"/>
                </a:solidFill>
              </a:rPr>
              <a:t>(6) </a:t>
            </a:r>
            <a:r>
              <a:rPr lang="en-US" altLang="ru-RU" sz="1800" dirty="0">
                <a:solidFill>
                  <a:srgbClr val="0D0D11"/>
                </a:solidFill>
              </a:rPr>
              <a:t>constraint </a:t>
            </a:r>
            <a:r>
              <a:rPr lang="en-US" altLang="ru-RU" sz="1800" dirty="0" err="1">
                <a:solidFill>
                  <a:srgbClr val="0D0D11"/>
                </a:solidFill>
              </a:rPr>
              <a:t>pk_emp</a:t>
            </a:r>
            <a:r>
              <a:rPr lang="en-US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b="1" dirty="0">
                <a:solidFill>
                  <a:srgbClr val="0D0D11"/>
                </a:solidFill>
              </a:rPr>
              <a:t>PRIMARY KEY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name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(100) </a:t>
            </a:r>
            <a:r>
              <a:rPr lang="ru-RU" altLang="ru-RU" sz="1800" dirty="0" err="1">
                <a:solidFill>
                  <a:srgbClr val="0D0D11"/>
                </a:solidFill>
              </a:rPr>
              <a:t>not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null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born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date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not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null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en-US" altLang="ru-RU" sz="1800" dirty="0">
                <a:solidFill>
                  <a:srgbClr val="0D0D11"/>
                </a:solidFill>
              </a:rPr>
              <a:t>gender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char</a:t>
            </a:r>
            <a:r>
              <a:rPr lang="en-US" altLang="ru-RU" sz="1800" dirty="0">
                <a:solidFill>
                  <a:srgbClr val="0D0D11"/>
                </a:solidFill>
              </a:rPr>
              <a:t>  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not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null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depno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number</a:t>
            </a:r>
            <a:r>
              <a:rPr lang="ru-RU" altLang="ru-RU" sz="1800" dirty="0">
                <a:solidFill>
                  <a:srgbClr val="0D0D11"/>
                </a:solidFill>
              </a:rPr>
              <a:t>(4) </a:t>
            </a:r>
            <a:r>
              <a:rPr lang="en-US" altLang="ru-RU" sz="1800" dirty="0">
                <a:solidFill>
                  <a:srgbClr val="0D0D11"/>
                </a:solidFill>
              </a:rPr>
              <a:t>not null constraint </a:t>
            </a:r>
            <a:r>
              <a:rPr lang="en-US" altLang="ru-RU" sz="1800" dirty="0" err="1">
                <a:solidFill>
                  <a:srgbClr val="0D0D11"/>
                </a:solidFill>
              </a:rPr>
              <a:t>fk_depart</a:t>
            </a:r>
            <a:r>
              <a:rPr lang="en-US" altLang="ru-RU" sz="1800" dirty="0">
                <a:solidFill>
                  <a:srgbClr val="0D0D11"/>
                </a:solidFill>
              </a:rPr>
              <a:t>  </a:t>
            </a:r>
            <a:r>
              <a:rPr lang="ru-RU" altLang="ru-RU" sz="1800" b="1" dirty="0">
                <a:solidFill>
                  <a:srgbClr val="0D0D11"/>
                </a:solidFill>
              </a:rPr>
              <a:t>REFERENCES </a:t>
            </a:r>
            <a:r>
              <a:rPr lang="ru-RU" altLang="ru-RU" sz="1800" b="1" dirty="0" err="1">
                <a:solidFill>
                  <a:srgbClr val="0D0D11"/>
                </a:solidFill>
              </a:rPr>
              <a:t>depart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post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(50)</a:t>
            </a:r>
            <a:r>
              <a:rPr lang="en-US" altLang="ru-RU" sz="1800" dirty="0">
                <a:solidFill>
                  <a:srgbClr val="0D0D11"/>
                </a:solidFill>
              </a:rPr>
              <a:t> not null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salary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number</a:t>
            </a:r>
            <a:r>
              <a:rPr lang="ru-RU" altLang="ru-RU" sz="1800" dirty="0">
                <a:solidFill>
                  <a:srgbClr val="0D0D11"/>
                </a:solidFill>
              </a:rPr>
              <a:t>(8,2)</a:t>
            </a:r>
            <a:r>
              <a:rPr lang="en-US" altLang="ru-RU" sz="1800" dirty="0">
                <a:solidFill>
                  <a:srgbClr val="0D0D11"/>
                </a:solidFill>
              </a:rPr>
              <a:t> not null constraint </a:t>
            </a:r>
            <a:r>
              <a:rPr lang="en-US" altLang="ru-RU" sz="1800" dirty="0" err="1">
                <a:solidFill>
                  <a:srgbClr val="0D0D11"/>
                </a:solidFill>
              </a:rPr>
              <a:t>check_sal</a:t>
            </a:r>
            <a:r>
              <a:rPr lang="en-US" altLang="ru-RU" sz="1800" dirty="0">
                <a:solidFill>
                  <a:srgbClr val="0D0D11"/>
                </a:solidFill>
              </a:rPr>
              <a:t>  check (salary &gt; 4630)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passport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char</a:t>
            </a:r>
            <a:r>
              <a:rPr lang="ru-RU" altLang="ru-RU" sz="1800" dirty="0">
                <a:solidFill>
                  <a:srgbClr val="0D0D11"/>
                </a:solidFill>
              </a:rPr>
              <a:t>(10)</a:t>
            </a:r>
            <a:r>
              <a:rPr lang="en-US" altLang="ru-RU" sz="1800" dirty="0">
                <a:solidFill>
                  <a:srgbClr val="0D0D11"/>
                </a:solidFill>
              </a:rPr>
              <a:t> not null constraint </a:t>
            </a:r>
            <a:r>
              <a:rPr lang="en-US" altLang="ru-RU" sz="1800" dirty="0" err="1">
                <a:solidFill>
                  <a:srgbClr val="0D0D11"/>
                </a:solidFill>
              </a:rPr>
              <a:t>passp_uniq</a:t>
            </a:r>
            <a:r>
              <a:rPr lang="en-US" altLang="ru-RU" sz="1800" dirty="0">
                <a:solidFill>
                  <a:srgbClr val="0D0D11"/>
                </a:solidFill>
              </a:rPr>
              <a:t>  </a:t>
            </a:r>
            <a:r>
              <a:rPr lang="en-US" altLang="ru-RU" sz="1800" b="1" dirty="0">
                <a:solidFill>
                  <a:srgbClr val="0D0D11"/>
                </a:solidFill>
              </a:rPr>
              <a:t>UNIQUE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pass_date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date</a:t>
            </a:r>
            <a:r>
              <a:rPr lang="en-US" altLang="ru-RU" sz="1800" dirty="0">
                <a:solidFill>
                  <a:srgbClr val="0D0D11"/>
                </a:solidFill>
              </a:rPr>
              <a:t> not null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  <a:r>
              <a:rPr lang="en-US" altLang="ru-RU" sz="1800" dirty="0">
                <a:solidFill>
                  <a:srgbClr val="0D0D11"/>
                </a:solidFill>
              </a:rPr>
              <a:t>	</a:t>
            </a:r>
            <a:r>
              <a:rPr lang="ru-RU" altLang="ru-RU" sz="1800" dirty="0" err="1">
                <a:solidFill>
                  <a:srgbClr val="0D0D11"/>
                </a:solidFill>
              </a:rPr>
              <a:t>pass_get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(100)</a:t>
            </a:r>
            <a:r>
              <a:rPr lang="en-US" altLang="ru-RU" sz="1800" dirty="0">
                <a:solidFill>
                  <a:srgbClr val="0D0D11"/>
                </a:solidFill>
              </a:rPr>
              <a:t> not null</a:t>
            </a:r>
            <a:r>
              <a:rPr lang="ru-RU" altLang="ru-RU" sz="18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born_seat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(100),</a:t>
            </a:r>
            <a:r>
              <a:rPr lang="en-US" altLang="ru-RU" sz="1800" dirty="0">
                <a:solidFill>
                  <a:srgbClr val="0D0D11"/>
                </a:solidFill>
              </a:rPr>
              <a:t>	</a:t>
            </a:r>
            <a:r>
              <a:rPr lang="ru-RU" altLang="ru-RU" sz="1800" dirty="0" err="1">
                <a:solidFill>
                  <a:srgbClr val="0D0D11"/>
                </a:solidFill>
              </a:rPr>
              <a:t>edu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(30),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special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(100),</a:t>
            </a:r>
            <a:r>
              <a:rPr lang="en-US" altLang="ru-RU" sz="1800" dirty="0">
                <a:solidFill>
                  <a:srgbClr val="0D0D11"/>
                </a:solidFill>
              </a:rPr>
              <a:t>	</a:t>
            </a:r>
            <a:r>
              <a:rPr lang="ru-RU" altLang="ru-RU" sz="1800" dirty="0" err="1">
                <a:solidFill>
                  <a:srgbClr val="0D0D11"/>
                </a:solidFill>
              </a:rPr>
              <a:t>diplom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(40),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ru-RU" altLang="ru-RU" sz="1800" dirty="0" err="1">
                <a:solidFill>
                  <a:srgbClr val="0D0D11"/>
                </a:solidFill>
              </a:rPr>
              <a:t>phone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(30),</a:t>
            </a:r>
            <a:r>
              <a:rPr lang="en-US" altLang="ru-RU" sz="1800" dirty="0">
                <a:solidFill>
                  <a:srgbClr val="0D0D11"/>
                </a:solidFill>
              </a:rPr>
              <a:t>	</a:t>
            </a:r>
            <a:r>
              <a:rPr lang="ru-RU" altLang="ru-RU" sz="1800" dirty="0" err="1">
                <a:solidFill>
                  <a:srgbClr val="0D0D11"/>
                </a:solidFill>
              </a:rPr>
              <a:t>adr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</a:rPr>
              <a:t>varchar</a:t>
            </a:r>
            <a:r>
              <a:rPr lang="ru-RU" altLang="ru-RU" sz="1800" dirty="0">
                <a:solidFill>
                  <a:srgbClr val="0D0D11"/>
                </a:solidFill>
              </a:rPr>
              <a:t>(80)</a:t>
            </a:r>
            <a:r>
              <a:rPr lang="en-US" altLang="ru-RU" sz="1800" dirty="0">
                <a:solidFill>
                  <a:srgbClr val="0D0D11"/>
                </a:solidFill>
              </a:rPr>
              <a:t>,</a:t>
            </a:r>
            <a:endParaRPr lang="ru-RU" altLang="ru-RU" sz="1800" dirty="0">
              <a:solidFill>
                <a:srgbClr val="0D0D11"/>
              </a:solidFill>
            </a:endParaRP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		</a:t>
            </a:r>
            <a:r>
              <a:rPr lang="en-US" altLang="ru-RU" sz="1800" dirty="0" err="1">
                <a:solidFill>
                  <a:srgbClr val="0D0D11"/>
                </a:solidFill>
              </a:rPr>
              <a:t>edate</a:t>
            </a:r>
            <a:r>
              <a:rPr lang="en-US" altLang="ru-RU" sz="1800" dirty="0">
                <a:solidFill>
                  <a:srgbClr val="0D0D11"/>
                </a:solidFill>
              </a:rPr>
              <a:t> date  not null</a:t>
            </a:r>
            <a:r>
              <a:rPr lang="ru-RU" altLang="ru-RU" sz="1800" dirty="0">
                <a:solidFill>
                  <a:srgbClr val="0D0D11"/>
                </a:solidFill>
              </a:rPr>
              <a:t>  </a:t>
            </a:r>
            <a:r>
              <a:rPr lang="en-US" altLang="ru-RU" sz="1800" b="1" dirty="0">
                <a:solidFill>
                  <a:srgbClr val="0D0D11"/>
                </a:solidFill>
              </a:rPr>
              <a:t>default</a:t>
            </a:r>
            <a:r>
              <a:rPr lang="en-US" altLang="ru-RU" sz="1800" dirty="0">
                <a:solidFill>
                  <a:srgbClr val="0D0D11"/>
                </a:solidFill>
              </a:rPr>
              <a:t>  </a:t>
            </a:r>
            <a:r>
              <a:rPr lang="en-US" altLang="ru-RU" sz="1800" dirty="0" err="1">
                <a:solidFill>
                  <a:srgbClr val="0D0D11"/>
                </a:solidFill>
              </a:rPr>
              <a:t>trunc</a:t>
            </a:r>
            <a:r>
              <a:rPr lang="en-US" altLang="ru-RU" sz="1800" dirty="0">
                <a:solidFill>
                  <a:srgbClr val="0D0D11"/>
                </a:solidFill>
              </a:rPr>
              <a:t>(</a:t>
            </a:r>
            <a:r>
              <a:rPr lang="en-US" altLang="ru-RU" sz="1800" dirty="0" err="1">
                <a:solidFill>
                  <a:srgbClr val="0D0D11"/>
                </a:solidFill>
              </a:rPr>
              <a:t>sysdate</a:t>
            </a:r>
            <a:r>
              <a:rPr lang="en-US" altLang="ru-RU" sz="1800" dirty="0">
                <a:solidFill>
                  <a:srgbClr val="0D0D11"/>
                </a:solidFill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1800" dirty="0">
                <a:solidFill>
                  <a:srgbClr val="0D0D11"/>
                </a:solidFill>
              </a:rPr>
              <a:t>		chief  number(6) </a:t>
            </a:r>
            <a:r>
              <a:rPr lang="ru-RU" altLang="ru-RU" sz="1800" dirty="0">
                <a:solidFill>
                  <a:srgbClr val="0D0D11"/>
                </a:solidFill>
              </a:rPr>
              <a:t> </a:t>
            </a:r>
            <a:r>
              <a:rPr lang="en-US" altLang="ru-RU" sz="1800" dirty="0">
                <a:solidFill>
                  <a:srgbClr val="0D0D11"/>
                </a:solidFill>
              </a:rPr>
              <a:t>constraint  </a:t>
            </a:r>
            <a:r>
              <a:rPr lang="en-US" altLang="ru-RU" sz="1800" dirty="0" err="1">
                <a:solidFill>
                  <a:srgbClr val="0D0D11"/>
                </a:solidFill>
              </a:rPr>
              <a:t>fk_emp</a:t>
            </a:r>
            <a:r>
              <a:rPr lang="en-US" altLang="ru-RU" sz="1800" dirty="0">
                <a:solidFill>
                  <a:srgbClr val="0D0D11"/>
                </a:solidFill>
              </a:rPr>
              <a:t>  </a:t>
            </a:r>
            <a:r>
              <a:rPr lang="ru-RU" altLang="ru-RU" sz="1800" b="1" dirty="0">
                <a:solidFill>
                  <a:srgbClr val="0D0D11"/>
                </a:solidFill>
              </a:rPr>
              <a:t>REFERENCES </a:t>
            </a:r>
            <a:r>
              <a:rPr lang="en-US" altLang="ru-RU" sz="1800" dirty="0">
                <a:solidFill>
                  <a:srgbClr val="0D0D11"/>
                </a:solidFill>
              </a:rPr>
              <a:t> </a:t>
            </a:r>
            <a:r>
              <a:rPr lang="en-US" altLang="ru-RU" sz="1800" b="1" dirty="0" err="1">
                <a:solidFill>
                  <a:srgbClr val="0D0D11"/>
                </a:solidFill>
              </a:rPr>
              <a:t>emp</a:t>
            </a:r>
            <a:endParaRPr lang="ru-RU" altLang="ru-RU" sz="1800" b="1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1800" dirty="0">
                <a:solidFill>
                  <a:srgbClr val="0D0D11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6632"/>
            <a:ext cx="8135938" cy="644525"/>
          </a:xfrm>
        </p:spPr>
        <p:txBody>
          <a:bodyPr>
            <a:normAutofit fontScale="900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200" dirty="0">
                <a:latin typeface="Times New Roman" pitchFamily="18" charset="0"/>
              </a:rPr>
              <a:t>Создание таблиц БД проектной организации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34925" y="836613"/>
            <a:ext cx="8493125" cy="45196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b="1" dirty="0">
                <a:solidFill>
                  <a:srgbClr val="0D0D11"/>
                </a:solidFill>
              </a:rPr>
              <a:t>Таблица «Проекты» (</a:t>
            </a:r>
            <a:r>
              <a:rPr lang="en-US" altLang="ru-RU" sz="2000" b="1" dirty="0">
                <a:solidFill>
                  <a:srgbClr val="0D0D11"/>
                </a:solidFill>
              </a:rPr>
              <a:t>Project):</a:t>
            </a:r>
            <a:endParaRPr lang="ru-RU" altLang="ru-RU" sz="2000" b="1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 err="1">
                <a:solidFill>
                  <a:srgbClr val="0D0D11"/>
                </a:solidFill>
              </a:rPr>
              <a:t>create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table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project</a:t>
            </a:r>
            <a:r>
              <a:rPr lang="ru-RU" altLang="ru-RU" sz="2000" dirty="0">
                <a:solidFill>
                  <a:srgbClr val="0D0D11"/>
                </a:solidFill>
              </a:rPr>
              <a:t> (</a:t>
            </a:r>
            <a:r>
              <a:rPr lang="ru-RU" altLang="ru-RU" sz="2000" dirty="0" err="1">
                <a:solidFill>
                  <a:srgbClr val="0D0D11"/>
                </a:solidFill>
              </a:rPr>
              <a:t>No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number</a:t>
            </a:r>
            <a:r>
              <a:rPr lang="ru-RU" altLang="ru-RU" sz="2000" dirty="0">
                <a:solidFill>
                  <a:srgbClr val="0D0D11"/>
                </a:solidFill>
              </a:rPr>
              <a:t>(5) </a:t>
            </a:r>
            <a:r>
              <a:rPr lang="en-US" altLang="ru-RU" sz="2000" dirty="0">
                <a:solidFill>
                  <a:srgbClr val="0D0D11"/>
                </a:solidFill>
              </a:rPr>
              <a:t>constraint </a:t>
            </a:r>
            <a:r>
              <a:rPr lang="en-US" altLang="ru-RU" sz="2000" dirty="0" err="1">
                <a:solidFill>
                  <a:srgbClr val="0D0D11"/>
                </a:solidFill>
              </a:rPr>
              <a:t>pk_project</a:t>
            </a:r>
            <a:r>
              <a:rPr lang="en-US" altLang="ru-RU" sz="2000" dirty="0">
                <a:solidFill>
                  <a:srgbClr val="0D0D11"/>
                </a:solidFill>
              </a:rPr>
              <a:t>  </a:t>
            </a:r>
            <a:r>
              <a:rPr lang="ru-RU" altLang="ru-RU" sz="2000" b="1" dirty="0" err="1">
                <a:solidFill>
                  <a:srgbClr val="0D0D11"/>
                </a:solidFill>
              </a:rPr>
              <a:t>primary</a:t>
            </a:r>
            <a:r>
              <a:rPr lang="ru-RU" altLang="ru-RU" sz="2000" b="1" dirty="0">
                <a:solidFill>
                  <a:srgbClr val="0D0D11"/>
                </a:solidFill>
              </a:rPr>
              <a:t> </a:t>
            </a:r>
            <a:r>
              <a:rPr lang="ru-RU" altLang="ru-RU" sz="2000" b="1" dirty="0" err="1">
                <a:solidFill>
                  <a:srgbClr val="0D0D11"/>
                </a:solidFill>
              </a:rPr>
              <a:t>key</a:t>
            </a:r>
            <a:r>
              <a:rPr lang="ru-RU" altLang="ru-RU" sz="20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	</a:t>
            </a:r>
            <a:r>
              <a:rPr lang="ru-RU" altLang="ru-RU" sz="2000" dirty="0" err="1">
                <a:solidFill>
                  <a:srgbClr val="0D0D11"/>
                </a:solidFill>
              </a:rPr>
              <a:t>title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varchar</a:t>
            </a:r>
            <a:r>
              <a:rPr lang="ru-RU" altLang="ru-RU" sz="2000" dirty="0">
                <a:solidFill>
                  <a:srgbClr val="0D0D11"/>
                </a:solidFill>
              </a:rPr>
              <a:t>(200) </a:t>
            </a:r>
            <a:r>
              <a:rPr lang="ru-RU" altLang="ru-RU" sz="2000" dirty="0" err="1">
                <a:solidFill>
                  <a:srgbClr val="0D0D11"/>
                </a:solidFill>
              </a:rPr>
              <a:t>not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null</a:t>
            </a:r>
            <a:r>
              <a:rPr lang="ru-RU" altLang="ru-RU" sz="2000" dirty="0">
                <a:solidFill>
                  <a:srgbClr val="0D0D11"/>
                </a:solidFill>
              </a:rPr>
              <a:t>,</a:t>
            </a:r>
            <a:endParaRPr lang="en-US" altLang="ru-RU" sz="2000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000" dirty="0">
                <a:solidFill>
                  <a:srgbClr val="0D0D11"/>
                </a:solidFill>
              </a:rPr>
              <a:t>			pro varchar(15) not null constraint  </a:t>
            </a:r>
            <a:r>
              <a:rPr lang="en-US" altLang="ru-RU" sz="2000" dirty="0" err="1">
                <a:solidFill>
                  <a:srgbClr val="0D0D11"/>
                </a:solidFill>
              </a:rPr>
              <a:t>pro_uniq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b="1" dirty="0">
                <a:solidFill>
                  <a:srgbClr val="0D0D11"/>
                </a:solidFill>
              </a:rPr>
              <a:t>unique</a:t>
            </a:r>
            <a:r>
              <a:rPr lang="en-US" altLang="ru-RU" sz="2000" dirty="0">
                <a:solidFill>
                  <a:srgbClr val="0D0D11"/>
                </a:solidFill>
              </a:rPr>
              <a:t>,</a:t>
            </a:r>
            <a:endParaRPr lang="ru-RU" altLang="ru-RU" sz="2000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	</a:t>
            </a:r>
            <a:r>
              <a:rPr lang="ru-RU" altLang="ru-RU" sz="2000" dirty="0" err="1">
                <a:solidFill>
                  <a:srgbClr val="0D0D11"/>
                </a:solidFill>
              </a:rPr>
              <a:t>client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varchar</a:t>
            </a:r>
            <a:r>
              <a:rPr lang="ru-RU" altLang="ru-RU" sz="2000" dirty="0">
                <a:solidFill>
                  <a:srgbClr val="0D0D11"/>
                </a:solidFill>
              </a:rPr>
              <a:t>(100) </a:t>
            </a:r>
            <a:r>
              <a:rPr lang="ru-RU" altLang="ru-RU" sz="2000" dirty="0" err="1">
                <a:solidFill>
                  <a:srgbClr val="0D0D11"/>
                </a:solidFill>
              </a:rPr>
              <a:t>not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null</a:t>
            </a:r>
            <a:r>
              <a:rPr lang="ru-RU" altLang="ru-RU" sz="20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	</a:t>
            </a:r>
            <a:r>
              <a:rPr lang="ru-RU" altLang="ru-RU" sz="2000" dirty="0" err="1">
                <a:solidFill>
                  <a:srgbClr val="0D0D11"/>
                </a:solidFill>
              </a:rPr>
              <a:t>dbegin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date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not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null</a:t>
            </a:r>
            <a:r>
              <a:rPr lang="ru-RU" altLang="ru-RU" sz="20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	</a:t>
            </a:r>
            <a:r>
              <a:rPr lang="ru-RU" altLang="ru-RU" sz="2000" dirty="0" err="1">
                <a:solidFill>
                  <a:srgbClr val="0D0D11"/>
                </a:solidFill>
              </a:rPr>
              <a:t>dend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date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not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null</a:t>
            </a:r>
            <a:r>
              <a:rPr lang="ru-RU" altLang="ru-RU" sz="20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	</a:t>
            </a:r>
            <a:r>
              <a:rPr lang="ru-RU" altLang="ru-RU" sz="2000" dirty="0" err="1">
                <a:solidFill>
                  <a:srgbClr val="0D0D11"/>
                </a:solidFill>
              </a:rPr>
              <a:t>cost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number</a:t>
            </a:r>
            <a:r>
              <a:rPr lang="ru-RU" altLang="ru-RU" sz="2000" dirty="0">
                <a:solidFill>
                  <a:srgbClr val="0D0D11"/>
                </a:solidFill>
              </a:rPr>
              <a:t>(9)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b="1" dirty="0">
                <a:solidFill>
                  <a:srgbClr val="0D0D11"/>
                </a:solidFill>
              </a:rPr>
              <a:t>Таблица «Участие в проектах» (</a:t>
            </a:r>
            <a:r>
              <a:rPr lang="en-US" altLang="ru-RU" sz="2000" b="1" dirty="0">
                <a:solidFill>
                  <a:srgbClr val="0D0D11"/>
                </a:solidFill>
              </a:rPr>
              <a:t>Job):</a:t>
            </a:r>
            <a:endParaRPr lang="ru-RU" altLang="ru-RU" sz="2000" b="1" dirty="0">
              <a:solidFill>
                <a:srgbClr val="0D0D1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 err="1">
                <a:solidFill>
                  <a:srgbClr val="0D0D11"/>
                </a:solidFill>
              </a:rPr>
              <a:t>create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table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job</a:t>
            </a:r>
            <a:r>
              <a:rPr lang="ru-RU" altLang="ru-RU" sz="2000" dirty="0">
                <a:solidFill>
                  <a:srgbClr val="0D0D11"/>
                </a:solidFill>
              </a:rPr>
              <a:t> (</a:t>
            </a:r>
            <a:r>
              <a:rPr lang="en-US" altLang="ru-RU" sz="2000" dirty="0">
                <a:solidFill>
                  <a:srgbClr val="0D0D11"/>
                </a:solidFill>
              </a:rPr>
              <a:t>pro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varchar(15)  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not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null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b="1" dirty="0" err="1">
                <a:solidFill>
                  <a:srgbClr val="0D0D11"/>
                </a:solidFill>
              </a:rPr>
              <a:t>references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project</a:t>
            </a:r>
            <a:r>
              <a:rPr lang="en-US" altLang="ru-RU" sz="2000" dirty="0">
                <a:solidFill>
                  <a:srgbClr val="0D0D11"/>
                </a:solidFill>
              </a:rPr>
              <a:t> (</a:t>
            </a:r>
            <a:r>
              <a:rPr lang="en-US" altLang="ru-RU" sz="2000" dirty="0" err="1">
                <a:solidFill>
                  <a:srgbClr val="0D0D11"/>
                </a:solidFill>
              </a:rPr>
              <a:t>abbr</a:t>
            </a:r>
            <a:r>
              <a:rPr lang="en-US" altLang="ru-RU" sz="2000" dirty="0">
                <a:solidFill>
                  <a:srgbClr val="0D0D11"/>
                </a:solidFill>
              </a:rPr>
              <a:t>)</a:t>
            </a:r>
            <a:r>
              <a:rPr lang="ru-RU" altLang="ru-RU" sz="20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	</a:t>
            </a:r>
            <a:r>
              <a:rPr lang="ru-RU" altLang="ru-RU" sz="2000" dirty="0" err="1">
                <a:solidFill>
                  <a:srgbClr val="0D0D11"/>
                </a:solidFill>
              </a:rPr>
              <a:t>tabNo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number</a:t>
            </a:r>
            <a:r>
              <a:rPr lang="ru-RU" altLang="ru-RU" sz="2000" dirty="0">
                <a:solidFill>
                  <a:srgbClr val="0D0D11"/>
                </a:solidFill>
              </a:rPr>
              <a:t>(</a:t>
            </a:r>
            <a:r>
              <a:rPr lang="en-US" altLang="ru-RU" sz="2000" dirty="0">
                <a:solidFill>
                  <a:srgbClr val="0D0D11"/>
                </a:solidFill>
              </a:rPr>
              <a:t>6</a:t>
            </a:r>
            <a:r>
              <a:rPr lang="ru-RU" altLang="ru-RU" sz="2000" dirty="0">
                <a:solidFill>
                  <a:srgbClr val="0D0D11"/>
                </a:solidFill>
              </a:rPr>
              <a:t>) </a:t>
            </a:r>
            <a:r>
              <a:rPr lang="ru-RU" altLang="ru-RU" sz="2000" dirty="0" err="1">
                <a:solidFill>
                  <a:srgbClr val="0D0D11"/>
                </a:solidFill>
              </a:rPr>
              <a:t>not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null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b="1" dirty="0" err="1">
                <a:solidFill>
                  <a:srgbClr val="0D0D11"/>
                </a:solidFill>
              </a:rPr>
              <a:t>references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emp</a:t>
            </a:r>
            <a:r>
              <a:rPr lang="ru-RU" altLang="ru-RU" sz="2000" dirty="0">
                <a:solidFill>
                  <a:srgbClr val="0D0D11"/>
                </a:solidFill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	</a:t>
            </a:r>
            <a:r>
              <a:rPr lang="ru-RU" altLang="ru-RU" sz="2000" dirty="0" err="1">
                <a:solidFill>
                  <a:srgbClr val="0D0D11"/>
                </a:solidFill>
              </a:rPr>
              <a:t>rel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varchar</a:t>
            </a:r>
            <a:r>
              <a:rPr lang="ru-RU" altLang="ru-RU" sz="2000" dirty="0">
                <a:solidFill>
                  <a:srgbClr val="0D0D11"/>
                </a:solidFill>
              </a:rPr>
              <a:t>(20)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  </a:t>
            </a:r>
            <a:r>
              <a:rPr lang="ru-RU" altLang="ru-RU" sz="2000" b="1" dirty="0" err="1">
                <a:solidFill>
                  <a:srgbClr val="0D0D11"/>
                </a:solidFill>
              </a:rPr>
              <a:t>default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>
                <a:solidFill>
                  <a:srgbClr val="0D0D11"/>
                </a:solidFill>
              </a:rPr>
              <a:t>'исполнитель',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</a:t>
            </a:r>
            <a:r>
              <a:rPr lang="ru-RU" altLang="ru-RU" sz="2000" b="1" dirty="0" err="1">
                <a:solidFill>
                  <a:srgbClr val="0D0D11"/>
                </a:solidFill>
              </a:rPr>
              <a:t>primary</a:t>
            </a:r>
            <a:r>
              <a:rPr lang="ru-RU" altLang="ru-RU" sz="2000" b="1" dirty="0">
                <a:solidFill>
                  <a:srgbClr val="0D0D11"/>
                </a:solidFill>
              </a:rPr>
              <a:t> </a:t>
            </a:r>
            <a:r>
              <a:rPr lang="ru-RU" altLang="ru-RU" sz="2000" b="1" dirty="0" err="1">
                <a:solidFill>
                  <a:srgbClr val="0D0D11"/>
                </a:solidFill>
              </a:rPr>
              <a:t>key</a:t>
            </a:r>
            <a:r>
              <a:rPr lang="ru-RU" altLang="ru-RU" sz="2000" dirty="0">
                <a:solidFill>
                  <a:srgbClr val="0D0D11"/>
                </a:solidFill>
              </a:rPr>
              <a:t> (</a:t>
            </a:r>
            <a:r>
              <a:rPr lang="ru-RU" altLang="ru-RU" sz="2000" dirty="0" err="1">
                <a:solidFill>
                  <a:srgbClr val="0D0D11"/>
                </a:solidFill>
              </a:rPr>
              <a:t>tabno</a:t>
            </a:r>
            <a:r>
              <a:rPr lang="ru-RU" altLang="ru-RU" sz="2000" dirty="0">
                <a:solidFill>
                  <a:srgbClr val="0D0D11"/>
                </a:solidFill>
              </a:rPr>
              <a:t>, </a:t>
            </a:r>
            <a:r>
              <a:rPr lang="en-US" altLang="ru-RU" sz="2000" dirty="0">
                <a:solidFill>
                  <a:srgbClr val="0D0D11"/>
                </a:solidFill>
              </a:rPr>
              <a:t>pro</a:t>
            </a:r>
            <a:r>
              <a:rPr lang="ru-RU" altLang="ru-RU" sz="2000" dirty="0">
                <a:solidFill>
                  <a:srgbClr val="0D0D11"/>
                </a:solidFill>
              </a:rPr>
              <a:t>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		</a:t>
            </a:r>
            <a:r>
              <a:rPr lang="ru-RU" altLang="ru-RU" sz="2000" b="1" dirty="0" err="1">
                <a:solidFill>
                  <a:srgbClr val="0D0D11"/>
                </a:solidFill>
              </a:rPr>
              <a:t>check</a:t>
            </a:r>
            <a:r>
              <a:rPr lang="ru-RU" altLang="ru-RU" sz="2000" dirty="0">
                <a:solidFill>
                  <a:srgbClr val="0D0D11"/>
                </a:solidFill>
              </a:rPr>
              <a:t> ( </a:t>
            </a:r>
            <a:r>
              <a:rPr lang="ru-RU" altLang="ru-RU" sz="2000" dirty="0" err="1">
                <a:solidFill>
                  <a:srgbClr val="0D0D11"/>
                </a:solidFill>
              </a:rPr>
              <a:t>rel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en-US" altLang="ru-RU" sz="2000" dirty="0">
                <a:solidFill>
                  <a:srgbClr val="0D0D11"/>
                </a:solidFill>
              </a:rPr>
              <a:t> IN </a:t>
            </a:r>
            <a:r>
              <a:rPr lang="ru-RU" altLang="ru-RU" sz="2000" dirty="0">
                <a:solidFill>
                  <a:srgbClr val="0D0D11"/>
                </a:solidFill>
              </a:rPr>
              <a:t> ('исполнитель', 'руководитель', 'консультант')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000" dirty="0">
                <a:solidFill>
                  <a:srgbClr val="0D0D11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-99392"/>
            <a:ext cx="7772400" cy="788988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Подмножество команд </a:t>
            </a:r>
            <a:r>
              <a:rPr lang="en-US" sz="3600" dirty="0">
                <a:latin typeface="Times New Roman" pitchFamily="18" charset="0"/>
              </a:rPr>
              <a:t>DML</a:t>
            </a:r>
            <a:endParaRPr lang="ru-RU" sz="3600" dirty="0">
              <a:latin typeface="Times New Roman" pitchFamily="18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107950" y="722313"/>
            <a:ext cx="8494713" cy="4403725"/>
          </a:xfrm>
        </p:spPr>
        <p:txBody>
          <a:bodyPr rtlCol="0">
            <a:noAutofit/>
          </a:bodyPr>
          <a:lstStyle/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sz="2000" b="1" dirty="0">
                <a:solidFill>
                  <a:srgbClr val="0D0D11"/>
                </a:solidFill>
              </a:rPr>
              <a:t>INSERT</a:t>
            </a:r>
            <a:r>
              <a:rPr lang="en-US" sz="2000" dirty="0">
                <a:solidFill>
                  <a:srgbClr val="0D0D11"/>
                </a:solidFill>
              </a:rPr>
              <a:t> </a:t>
            </a:r>
            <a:r>
              <a:rPr lang="ru-RU" sz="2000" dirty="0">
                <a:solidFill>
                  <a:srgbClr val="0D0D11"/>
                </a:solidFill>
              </a:rPr>
              <a:t>– добавление строк в таблицу.</a:t>
            </a: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Добавляет одну или несколько строк в указанную таблицу.</a:t>
            </a:r>
            <a:endParaRPr lang="en-US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dirty="0">
                <a:solidFill>
                  <a:srgbClr val="0D0D11"/>
                </a:solidFill>
              </a:rPr>
              <a:t>	</a:t>
            </a:r>
            <a:endParaRPr lang="en-US" sz="8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sz="2000" b="1" dirty="0">
                <a:solidFill>
                  <a:srgbClr val="0D0D11"/>
                </a:solidFill>
              </a:rPr>
              <a:t>UPDATE</a:t>
            </a:r>
            <a:r>
              <a:rPr lang="ru-RU" sz="2000" dirty="0">
                <a:solidFill>
                  <a:srgbClr val="0D0D11"/>
                </a:solidFill>
              </a:rPr>
              <a:t> – изменение данных. </a:t>
            </a: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Изменяет значения одного или нескольких полей в записях указанной таблицы.</a:t>
            </a:r>
            <a:endParaRPr lang="en-US" dirty="0">
              <a:solidFill>
                <a:srgbClr val="0D0D11"/>
              </a:solidFill>
            </a:endParaRP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Можно указать условие, по которому выбираются обновляемые строки.</a:t>
            </a:r>
            <a:endParaRPr lang="en-US" dirty="0">
              <a:solidFill>
                <a:srgbClr val="0D0D11"/>
              </a:solidFill>
            </a:endParaRP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Если условие не указано, обновляются все строки таблицы.</a:t>
            </a: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Если ни одна строка не удовлетворяет условию, ни одна строка не будет обновлена.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en-US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sz="2000" b="1" dirty="0">
                <a:solidFill>
                  <a:srgbClr val="0D0D11"/>
                </a:solidFill>
              </a:rPr>
              <a:t>DELETE</a:t>
            </a:r>
            <a:r>
              <a:rPr lang="ru-RU" sz="2000" dirty="0">
                <a:solidFill>
                  <a:srgbClr val="0D0D11"/>
                </a:solidFill>
              </a:rPr>
              <a:t> – удаление строк из таблицы.</a:t>
            </a: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Удаляет одну или несколько строк из таблицы. </a:t>
            </a: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Можно указать условие, по которому выбираются удаляемые строки. </a:t>
            </a: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Если условие не указано, удаляются все строки таблицы.</a:t>
            </a:r>
          </a:p>
          <a:p>
            <a:pPr marL="548640" lvl="1"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 typeface="Wingdings" pitchFamily="2" charset="2"/>
              <a:buChar char="ü"/>
              <a:defRPr/>
            </a:pPr>
            <a:r>
              <a:rPr lang="ru-RU" dirty="0">
                <a:solidFill>
                  <a:srgbClr val="0D0D11"/>
                </a:solidFill>
              </a:rPr>
              <a:t>Если ни одна строка не удовлетворяет условию, ни одна строка не будет удалена.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0078" y="13995"/>
            <a:ext cx="7772400" cy="788988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Добавление данных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631825" y="692150"/>
            <a:ext cx="7918450" cy="4464050"/>
          </a:xfrm>
        </p:spPr>
        <p:txBody>
          <a:bodyPr rtlCol="0">
            <a:noAutofit/>
          </a:bodyPr>
          <a:lstStyle/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b="1" dirty="0">
                <a:solidFill>
                  <a:srgbClr val="0D0D11"/>
                </a:solidFill>
              </a:rPr>
              <a:t>INSERT </a:t>
            </a:r>
            <a:r>
              <a:rPr lang="ru-RU" sz="2000" dirty="0">
                <a:solidFill>
                  <a:srgbClr val="0D0D11"/>
                </a:solidFill>
              </a:rPr>
              <a:t>– добавление строк в таблицу: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dirty="0">
                <a:solidFill>
                  <a:srgbClr val="0D0D11"/>
                </a:solidFill>
              </a:rPr>
              <a:t>	</a:t>
            </a:r>
            <a:r>
              <a:rPr lang="ru-RU" sz="2000" dirty="0">
                <a:solidFill>
                  <a:srgbClr val="0D0D11"/>
                </a:solidFill>
              </a:rPr>
              <a:t>INSERT INTO </a:t>
            </a:r>
            <a:r>
              <a:rPr lang="ru-RU" sz="2000" i="1" dirty="0" err="1">
                <a:solidFill>
                  <a:srgbClr val="0D0D11"/>
                </a:solidFill>
              </a:rPr>
              <a:t>имя_таблицы</a:t>
            </a:r>
            <a:r>
              <a:rPr lang="ru-RU" sz="2000" dirty="0">
                <a:solidFill>
                  <a:srgbClr val="0D0D11"/>
                </a:solidFill>
              </a:rPr>
              <a:t> [(</a:t>
            </a:r>
            <a:r>
              <a:rPr lang="ru-RU" sz="2000" i="1" dirty="0" err="1">
                <a:solidFill>
                  <a:srgbClr val="0D0D11"/>
                </a:solidFill>
              </a:rPr>
              <a:t>список_полей_таблицы</a:t>
            </a:r>
            <a:r>
              <a:rPr lang="ru-RU" sz="2000" dirty="0">
                <a:solidFill>
                  <a:srgbClr val="0D0D11"/>
                </a:solidFill>
              </a:rPr>
              <a:t>)]</a:t>
            </a:r>
            <a:r>
              <a:rPr lang="en-US" sz="2000" dirty="0">
                <a:solidFill>
                  <a:srgbClr val="0D0D11"/>
                </a:solidFill>
              </a:rPr>
              <a:t> 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dirty="0">
                <a:solidFill>
                  <a:srgbClr val="0D0D11"/>
                </a:solidFill>
              </a:rPr>
              <a:t>		{ </a:t>
            </a:r>
            <a:r>
              <a:rPr lang="ru-RU" sz="2000" dirty="0">
                <a:solidFill>
                  <a:srgbClr val="0D0D11"/>
                </a:solidFill>
              </a:rPr>
              <a:t>VALUES (</a:t>
            </a:r>
            <a:r>
              <a:rPr lang="ru-RU" sz="2000" i="1" dirty="0" err="1">
                <a:solidFill>
                  <a:srgbClr val="0D0D11"/>
                </a:solidFill>
              </a:rPr>
              <a:t>список_выражений</a:t>
            </a:r>
            <a:r>
              <a:rPr lang="ru-RU" sz="2000" dirty="0">
                <a:solidFill>
                  <a:srgbClr val="0D0D11"/>
                </a:solidFill>
              </a:rPr>
              <a:t>) | </a:t>
            </a:r>
            <a:r>
              <a:rPr lang="ru-RU" sz="2000" i="1" dirty="0">
                <a:solidFill>
                  <a:srgbClr val="0D0D11"/>
                </a:solidFill>
              </a:rPr>
              <a:t>запрос</a:t>
            </a:r>
            <a:r>
              <a:rPr lang="en-US" sz="2000" dirty="0">
                <a:solidFill>
                  <a:srgbClr val="0D0D11"/>
                </a:solidFill>
              </a:rPr>
              <a:t> }</a:t>
            </a:r>
            <a:r>
              <a:rPr lang="ru-RU" sz="2000" dirty="0">
                <a:solidFill>
                  <a:srgbClr val="0D0D11"/>
                </a:solidFill>
              </a:rPr>
              <a:t>;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Примеры: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-- </a:t>
            </a:r>
            <a:r>
              <a:rPr lang="ru-RU" sz="2000" dirty="0">
                <a:solidFill>
                  <a:srgbClr val="0D0D11"/>
                </a:solidFill>
              </a:rPr>
              <a:t>Добавить в таблицу "Отделы" новую запись (все поля):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  </a:t>
            </a:r>
            <a:r>
              <a:rPr lang="en-US" sz="2000" dirty="0">
                <a:solidFill>
                  <a:srgbClr val="0D0D11"/>
                </a:solidFill>
              </a:rPr>
              <a:t>insert into  </a:t>
            </a:r>
            <a:r>
              <a:rPr lang="en-US" sz="2000" b="1" dirty="0">
                <a:solidFill>
                  <a:srgbClr val="0D0D11"/>
                </a:solidFill>
              </a:rPr>
              <a:t>depart</a:t>
            </a:r>
            <a:r>
              <a:rPr lang="en-US" sz="2000" dirty="0">
                <a:solidFill>
                  <a:srgbClr val="0D0D11"/>
                </a:solidFill>
              </a:rPr>
              <a:t>  </a:t>
            </a:r>
            <a:endParaRPr lang="ru-RU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	</a:t>
            </a:r>
            <a:r>
              <a:rPr lang="en-US" sz="2000" dirty="0">
                <a:solidFill>
                  <a:srgbClr val="0D0D11"/>
                </a:solidFill>
              </a:rPr>
              <a:t>values(7, '</a:t>
            </a:r>
            <a:r>
              <a:rPr lang="ru-RU" sz="2000" dirty="0">
                <a:solidFill>
                  <a:srgbClr val="0D0D11"/>
                </a:solidFill>
              </a:rPr>
              <a:t>Договорной отдел</a:t>
            </a:r>
            <a:r>
              <a:rPr lang="en-US" sz="2000" dirty="0">
                <a:solidFill>
                  <a:srgbClr val="0D0D11"/>
                </a:solidFill>
              </a:rPr>
              <a:t>');</a:t>
            </a:r>
            <a:endParaRPr lang="ru-RU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ru-RU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-- Добавить в таблицу "Сотрудники" новую запись (не все поля):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  </a:t>
            </a:r>
            <a:r>
              <a:rPr lang="en-US" sz="2000" dirty="0">
                <a:solidFill>
                  <a:srgbClr val="0D0D11"/>
                </a:solidFill>
              </a:rPr>
              <a:t>insert into </a:t>
            </a:r>
            <a:r>
              <a:rPr lang="en-US" sz="2000" dirty="0" err="1">
                <a:solidFill>
                  <a:srgbClr val="0D0D11"/>
                </a:solidFill>
              </a:rPr>
              <a:t>emp</a:t>
            </a:r>
            <a:r>
              <a:rPr lang="en-US" sz="2000" dirty="0">
                <a:solidFill>
                  <a:srgbClr val="0D0D11"/>
                </a:solidFill>
              </a:rPr>
              <a:t> (</a:t>
            </a:r>
            <a:r>
              <a:rPr lang="en-US" sz="2000" dirty="0" err="1">
                <a:solidFill>
                  <a:srgbClr val="0D0D11"/>
                </a:solidFill>
              </a:rPr>
              <a:t>tabno</a:t>
            </a:r>
            <a:r>
              <a:rPr lang="en-US" sz="2000" dirty="0">
                <a:solidFill>
                  <a:srgbClr val="0D0D11"/>
                </a:solidFill>
              </a:rPr>
              <a:t>, name, born, gender, </a:t>
            </a:r>
            <a:r>
              <a:rPr lang="en-US" sz="2000" dirty="0" err="1">
                <a:solidFill>
                  <a:srgbClr val="0D0D11"/>
                </a:solidFill>
              </a:rPr>
              <a:t>depno</a:t>
            </a:r>
            <a:r>
              <a:rPr lang="en-US" sz="2000" dirty="0">
                <a:solidFill>
                  <a:srgbClr val="0D0D11"/>
                </a:solidFill>
              </a:rPr>
              <a:t>, passport, </a:t>
            </a:r>
            <a:r>
              <a:rPr lang="en-US" sz="2000" dirty="0" err="1">
                <a:solidFill>
                  <a:srgbClr val="0D0D11"/>
                </a:solidFill>
              </a:rPr>
              <a:t>pass_date_pass_get</a:t>
            </a:r>
            <a:r>
              <a:rPr lang="en-US" sz="2000" dirty="0">
                <a:solidFill>
                  <a:srgbClr val="0D0D11"/>
                </a:solidFill>
              </a:rPr>
              <a:t>, </a:t>
            </a:r>
            <a:endParaRPr lang="ru-RU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		</a:t>
            </a:r>
            <a:r>
              <a:rPr lang="en-US" sz="2000" dirty="0">
                <a:solidFill>
                  <a:srgbClr val="0D0D11"/>
                </a:solidFill>
              </a:rPr>
              <a:t>post, salary, phone)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	</a:t>
            </a:r>
            <a:r>
              <a:rPr lang="en-US" sz="2000" dirty="0">
                <a:solidFill>
                  <a:srgbClr val="0D0D11"/>
                </a:solidFill>
              </a:rPr>
              <a:t>values(</a:t>
            </a:r>
            <a:r>
              <a:rPr lang="ru-RU" sz="2000" dirty="0">
                <a:solidFill>
                  <a:srgbClr val="0D0D11"/>
                </a:solidFill>
              </a:rPr>
              <a:t> </a:t>
            </a:r>
            <a:r>
              <a:rPr lang="en-US" sz="2000" dirty="0">
                <a:solidFill>
                  <a:srgbClr val="0D0D11"/>
                </a:solidFill>
              </a:rPr>
              <a:t>301, '</a:t>
            </a:r>
            <a:r>
              <a:rPr lang="ru-RU" sz="2000" dirty="0">
                <a:solidFill>
                  <a:srgbClr val="0D0D11"/>
                </a:solidFill>
              </a:rPr>
              <a:t>САВИН</a:t>
            </a:r>
            <a:r>
              <a:rPr lang="en-US" sz="2000" dirty="0">
                <a:solidFill>
                  <a:srgbClr val="0D0D11"/>
                </a:solidFill>
              </a:rPr>
              <a:t> </a:t>
            </a:r>
            <a:r>
              <a:rPr lang="ru-RU" sz="2000" dirty="0">
                <a:solidFill>
                  <a:srgbClr val="0D0D11"/>
                </a:solidFill>
              </a:rPr>
              <a:t>АНДРЕЙ</a:t>
            </a:r>
            <a:r>
              <a:rPr lang="en-US" sz="2000" dirty="0">
                <a:solidFill>
                  <a:srgbClr val="0D0D11"/>
                </a:solidFill>
              </a:rPr>
              <a:t> </a:t>
            </a:r>
            <a:r>
              <a:rPr lang="ru-RU" sz="2000" dirty="0">
                <a:solidFill>
                  <a:srgbClr val="0D0D11"/>
                </a:solidFill>
              </a:rPr>
              <a:t>ПАВЛОВИЧ</a:t>
            </a:r>
            <a:r>
              <a:rPr lang="en-US" sz="2000" dirty="0">
                <a:solidFill>
                  <a:srgbClr val="0D0D11"/>
                </a:solidFill>
              </a:rPr>
              <a:t>',</a:t>
            </a:r>
            <a:r>
              <a:rPr lang="ru-RU" sz="2000" dirty="0">
                <a:solidFill>
                  <a:srgbClr val="0D0D11"/>
                </a:solidFill>
              </a:rPr>
              <a:t> </a:t>
            </a:r>
            <a:r>
              <a:rPr lang="en-US" sz="2000" dirty="0" err="1">
                <a:solidFill>
                  <a:srgbClr val="0D0D11"/>
                </a:solidFill>
              </a:rPr>
              <a:t>to_date</a:t>
            </a:r>
            <a:r>
              <a:rPr lang="en-US" sz="2000" dirty="0">
                <a:solidFill>
                  <a:srgbClr val="0D0D11"/>
                </a:solidFill>
              </a:rPr>
              <a:t>('11.07.1969',</a:t>
            </a:r>
            <a:r>
              <a:rPr lang="ru-RU" sz="2000" dirty="0">
                <a:solidFill>
                  <a:srgbClr val="0D0D11"/>
                </a:solidFill>
              </a:rPr>
              <a:t> </a:t>
            </a:r>
            <a:r>
              <a:rPr lang="en-US" sz="2000" dirty="0">
                <a:solidFill>
                  <a:srgbClr val="0D0D11"/>
                </a:solidFill>
              </a:rPr>
              <a:t>'</a:t>
            </a:r>
            <a:r>
              <a:rPr lang="en-US" sz="2000" dirty="0" err="1">
                <a:solidFill>
                  <a:srgbClr val="0D0D11"/>
                </a:solidFill>
              </a:rPr>
              <a:t>dd.mm.yyyy</a:t>
            </a:r>
            <a:r>
              <a:rPr lang="en-US" sz="2000" dirty="0">
                <a:solidFill>
                  <a:srgbClr val="0D0D11"/>
                </a:solidFill>
              </a:rPr>
              <a:t>'),</a:t>
            </a:r>
            <a:r>
              <a:rPr lang="ru-RU" sz="2000" dirty="0">
                <a:solidFill>
                  <a:srgbClr val="0D0D11"/>
                </a:solidFill>
              </a:rPr>
              <a:t>  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		</a:t>
            </a:r>
            <a:r>
              <a:rPr lang="en-US" sz="2000" dirty="0">
                <a:solidFill>
                  <a:srgbClr val="0D0D11"/>
                </a:solidFill>
              </a:rPr>
              <a:t>'</a:t>
            </a:r>
            <a:r>
              <a:rPr lang="ru-RU" sz="2000" dirty="0">
                <a:solidFill>
                  <a:srgbClr val="0D0D11"/>
                </a:solidFill>
              </a:rPr>
              <a:t>М</a:t>
            </a:r>
            <a:r>
              <a:rPr lang="en-US" sz="2000" dirty="0">
                <a:solidFill>
                  <a:srgbClr val="0D0D11"/>
                </a:solidFill>
              </a:rPr>
              <a:t>', 5, '4405092876', </a:t>
            </a:r>
            <a:r>
              <a:rPr lang="en-US" sz="2000" dirty="0" err="1">
                <a:solidFill>
                  <a:srgbClr val="0D0D11"/>
                </a:solidFill>
              </a:rPr>
              <a:t>to_date</a:t>
            </a:r>
            <a:r>
              <a:rPr lang="en-US" sz="2000" dirty="0">
                <a:solidFill>
                  <a:srgbClr val="0D0D11"/>
                </a:solidFill>
              </a:rPr>
              <a:t>('15.02.1999',</a:t>
            </a:r>
            <a:r>
              <a:rPr lang="ru-RU" sz="2000" dirty="0">
                <a:solidFill>
                  <a:srgbClr val="0D0D11"/>
                </a:solidFill>
              </a:rPr>
              <a:t> </a:t>
            </a:r>
            <a:r>
              <a:rPr lang="en-US" sz="2000" dirty="0">
                <a:solidFill>
                  <a:srgbClr val="0D0D11"/>
                </a:solidFill>
              </a:rPr>
              <a:t>'</a:t>
            </a:r>
            <a:r>
              <a:rPr lang="en-US" sz="2000" dirty="0" err="1">
                <a:solidFill>
                  <a:srgbClr val="0D0D11"/>
                </a:solidFill>
              </a:rPr>
              <a:t>dd.mm.yyyy</a:t>
            </a:r>
            <a:r>
              <a:rPr lang="en-US" sz="2000" dirty="0">
                <a:solidFill>
                  <a:srgbClr val="0D0D11"/>
                </a:solidFill>
              </a:rPr>
              <a:t>'), 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		</a:t>
            </a:r>
            <a:r>
              <a:rPr lang="en-US" sz="2000" dirty="0">
                <a:solidFill>
                  <a:srgbClr val="0D0D11"/>
                </a:solidFill>
              </a:rPr>
              <a:t>'</a:t>
            </a:r>
            <a:r>
              <a:rPr lang="ru-RU" sz="2000" dirty="0">
                <a:solidFill>
                  <a:srgbClr val="0D0D11"/>
                </a:solidFill>
              </a:rPr>
              <a:t>ОВД "Митино" </a:t>
            </a:r>
            <a:r>
              <a:rPr lang="ru-RU" sz="2000" dirty="0" err="1">
                <a:solidFill>
                  <a:srgbClr val="0D0D11"/>
                </a:solidFill>
              </a:rPr>
              <a:t>г.Москвы</a:t>
            </a:r>
            <a:r>
              <a:rPr lang="en-US" sz="2000" dirty="0">
                <a:solidFill>
                  <a:srgbClr val="0D0D11"/>
                </a:solidFill>
              </a:rPr>
              <a:t>',</a:t>
            </a:r>
            <a:r>
              <a:rPr lang="ru-RU" sz="2000" dirty="0">
                <a:solidFill>
                  <a:srgbClr val="0D0D11"/>
                </a:solidFill>
              </a:rPr>
              <a:t> </a:t>
            </a:r>
            <a:r>
              <a:rPr lang="en-US" sz="2000" dirty="0">
                <a:solidFill>
                  <a:srgbClr val="0D0D11"/>
                </a:solidFill>
              </a:rPr>
              <a:t>'</a:t>
            </a:r>
            <a:r>
              <a:rPr lang="ru-RU" sz="2000" dirty="0">
                <a:solidFill>
                  <a:srgbClr val="0D0D11"/>
                </a:solidFill>
              </a:rPr>
              <a:t>программист</a:t>
            </a:r>
            <a:r>
              <a:rPr lang="en-US" sz="2000" dirty="0">
                <a:solidFill>
                  <a:srgbClr val="0D0D11"/>
                </a:solidFill>
              </a:rPr>
              <a:t>', </a:t>
            </a:r>
            <a:r>
              <a:rPr lang="ru-RU" sz="2000" dirty="0">
                <a:solidFill>
                  <a:srgbClr val="0D0D11"/>
                </a:solidFill>
              </a:rPr>
              <a:t>3</a:t>
            </a:r>
            <a:r>
              <a:rPr lang="en-US" sz="2000" dirty="0">
                <a:solidFill>
                  <a:srgbClr val="0D0D11"/>
                </a:solidFill>
              </a:rPr>
              <a:t>8050, '121-34-11');</a:t>
            </a:r>
            <a:endParaRPr lang="ru-RU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spcBef>
                <a:spcPct val="50000"/>
              </a:spcBef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b="1" dirty="0">
                <a:solidFill>
                  <a:srgbClr val="0D0D11"/>
                </a:solidFill>
              </a:rPr>
              <a:t>Замечание:</a:t>
            </a:r>
            <a:r>
              <a:rPr lang="ru-RU" sz="2000" dirty="0">
                <a:solidFill>
                  <a:srgbClr val="0D0D11"/>
                </a:solidFill>
              </a:rPr>
              <a:t> значение по умолчанию используется только тогда, когда значение поля не вводится в явном виде.</a:t>
            </a:r>
            <a:endParaRPr lang="en-US" sz="2000" dirty="0">
              <a:solidFill>
                <a:srgbClr val="0D0D1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2"/>
            <a:ext cx="7772400" cy="788988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3600" dirty="0">
                <a:latin typeface="Times New Roman" pitchFamily="18" charset="0"/>
              </a:rPr>
              <a:t>Изменение данных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468313" y="904875"/>
            <a:ext cx="8278812" cy="4395788"/>
          </a:xfrm>
        </p:spPr>
        <p:txBody>
          <a:bodyPr rtlCol="0">
            <a:noAutofit/>
          </a:bodyPr>
          <a:lstStyle/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b="1" dirty="0">
                <a:solidFill>
                  <a:srgbClr val="0D0D11"/>
                </a:solidFill>
              </a:rPr>
              <a:t>UPDATE</a:t>
            </a:r>
            <a:r>
              <a:rPr lang="ru-RU" sz="2000" dirty="0">
                <a:solidFill>
                  <a:srgbClr val="0D0D11"/>
                </a:solidFill>
              </a:rPr>
              <a:t> – изменение данных: 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UPDATE </a:t>
            </a:r>
            <a:r>
              <a:rPr lang="ru-RU" sz="2000" i="1" dirty="0">
                <a:solidFill>
                  <a:srgbClr val="0D0D11"/>
                </a:solidFill>
              </a:rPr>
              <a:t>имя</a:t>
            </a:r>
            <a:r>
              <a:rPr lang="en-US" sz="2000" i="1" dirty="0">
                <a:solidFill>
                  <a:srgbClr val="0D0D11"/>
                </a:solidFill>
              </a:rPr>
              <a:t>_</a:t>
            </a:r>
            <a:r>
              <a:rPr lang="ru-RU" sz="2000" i="1" dirty="0">
                <a:solidFill>
                  <a:srgbClr val="0D0D11"/>
                </a:solidFill>
              </a:rPr>
              <a:t>таблицы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	SET </a:t>
            </a:r>
            <a:r>
              <a:rPr lang="ru-RU" sz="2000" i="1" dirty="0">
                <a:solidFill>
                  <a:srgbClr val="0D0D11"/>
                </a:solidFill>
              </a:rPr>
              <a:t>имя_поля1 = выражение1 </a:t>
            </a:r>
            <a:r>
              <a:rPr lang="ru-RU" sz="2000" dirty="0">
                <a:solidFill>
                  <a:srgbClr val="0D0D11"/>
                </a:solidFill>
              </a:rPr>
              <a:t>[, </a:t>
            </a:r>
            <a:r>
              <a:rPr lang="ru-RU" sz="2000" i="1" dirty="0">
                <a:solidFill>
                  <a:srgbClr val="0D0D11"/>
                </a:solidFill>
              </a:rPr>
              <a:t>имя_поля2 = выражение2</a:t>
            </a:r>
            <a:r>
              <a:rPr lang="ru-RU" sz="2000" dirty="0">
                <a:solidFill>
                  <a:srgbClr val="0D0D11"/>
                </a:solidFill>
              </a:rPr>
              <a:t>,…]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	[WHERE  </a:t>
            </a:r>
            <a:r>
              <a:rPr lang="ru-RU" sz="2000" i="1" dirty="0">
                <a:solidFill>
                  <a:srgbClr val="0D0D11"/>
                </a:solidFill>
              </a:rPr>
              <a:t>условие</a:t>
            </a:r>
            <a:r>
              <a:rPr lang="ru-RU" sz="2000" dirty="0">
                <a:solidFill>
                  <a:srgbClr val="0D0D11"/>
                </a:solidFill>
              </a:rPr>
              <a:t>];</a:t>
            </a:r>
            <a:endParaRPr lang="en-US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spcBef>
                <a:spcPct val="50000"/>
              </a:spcBef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Примеры: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-- Изменить статус сотрудника </a:t>
            </a:r>
            <a:r>
              <a:rPr lang="ru-RU" sz="2000" dirty="0" err="1">
                <a:solidFill>
                  <a:srgbClr val="0D0D11"/>
                </a:solidFill>
              </a:rPr>
              <a:t>Бобкова</a:t>
            </a:r>
            <a:r>
              <a:rPr lang="ru-RU" sz="2000" dirty="0">
                <a:solidFill>
                  <a:srgbClr val="0D0D11"/>
                </a:solidFill>
              </a:rPr>
              <a:t> Л.П., табельный номер 74, по отношению к проекту 30."Система автоматизированного управления предприятием":</a:t>
            </a:r>
            <a:endParaRPr lang="en-US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dirty="0">
                <a:solidFill>
                  <a:srgbClr val="0D0D11"/>
                </a:solidFill>
              </a:rPr>
              <a:t>	</a:t>
            </a:r>
            <a:r>
              <a:rPr lang="en-US" sz="2000" b="1" dirty="0">
                <a:solidFill>
                  <a:srgbClr val="0D0D11"/>
                </a:solidFill>
              </a:rPr>
              <a:t>update job 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b="1" dirty="0">
                <a:solidFill>
                  <a:srgbClr val="0D0D11"/>
                </a:solidFill>
              </a:rPr>
              <a:t>		set </a:t>
            </a:r>
            <a:r>
              <a:rPr lang="en-US" sz="2000" b="1" dirty="0" err="1">
                <a:solidFill>
                  <a:srgbClr val="0D0D11"/>
                </a:solidFill>
              </a:rPr>
              <a:t>rel</a:t>
            </a:r>
            <a:r>
              <a:rPr lang="en-US" sz="2000" b="1" dirty="0">
                <a:solidFill>
                  <a:srgbClr val="0D0D11"/>
                </a:solidFill>
              </a:rPr>
              <a:t> = '</a:t>
            </a:r>
            <a:r>
              <a:rPr lang="ru-RU" sz="2000" b="1" dirty="0">
                <a:solidFill>
                  <a:srgbClr val="0D0D11"/>
                </a:solidFill>
              </a:rPr>
              <a:t>консультант</a:t>
            </a:r>
            <a:r>
              <a:rPr lang="en-US" sz="2000" b="1" dirty="0">
                <a:solidFill>
                  <a:srgbClr val="0D0D11"/>
                </a:solidFill>
              </a:rPr>
              <a:t>'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b="1" dirty="0">
                <a:solidFill>
                  <a:srgbClr val="0D0D11"/>
                </a:solidFill>
              </a:rPr>
              <a:t>		where </a:t>
            </a:r>
            <a:r>
              <a:rPr lang="en-US" sz="2000" b="1" dirty="0" err="1">
                <a:solidFill>
                  <a:srgbClr val="0D0D11"/>
                </a:solidFill>
              </a:rPr>
              <a:t>tabno</a:t>
            </a:r>
            <a:r>
              <a:rPr lang="en-US" sz="2000" b="1" dirty="0">
                <a:solidFill>
                  <a:srgbClr val="0D0D11"/>
                </a:solidFill>
              </a:rPr>
              <a:t> = 74 and pro = 30;</a:t>
            </a:r>
            <a:endParaRPr lang="ru-RU" sz="20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spcBef>
                <a:spcPct val="50000"/>
              </a:spcBef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000" dirty="0">
                <a:solidFill>
                  <a:srgbClr val="0D0D11"/>
                </a:solidFill>
              </a:rPr>
              <a:t>-- Перевести сотрудника Жаринова А.В., табельный номер 68, на должность ведущего программиста и повысить оклад на три тысячи рублей:</a:t>
            </a:r>
            <a:endParaRPr lang="en-US" sz="20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dirty="0">
                <a:solidFill>
                  <a:srgbClr val="0D0D11"/>
                </a:solidFill>
              </a:rPr>
              <a:t>	</a:t>
            </a:r>
            <a:r>
              <a:rPr lang="en-US" sz="2000" b="1" dirty="0">
                <a:solidFill>
                  <a:srgbClr val="0D0D11"/>
                </a:solidFill>
              </a:rPr>
              <a:t>update </a:t>
            </a:r>
            <a:r>
              <a:rPr lang="en-US" sz="2000" b="1" dirty="0" err="1">
                <a:solidFill>
                  <a:srgbClr val="0D0D11"/>
                </a:solidFill>
              </a:rPr>
              <a:t>emp</a:t>
            </a:r>
            <a:endParaRPr lang="en-US" sz="20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b="1" dirty="0">
                <a:solidFill>
                  <a:srgbClr val="0D0D11"/>
                </a:solidFill>
              </a:rPr>
              <a:t>		set post = '</a:t>
            </a:r>
            <a:r>
              <a:rPr lang="ru-RU" sz="2000" b="1" dirty="0">
                <a:solidFill>
                  <a:srgbClr val="0D0D11"/>
                </a:solidFill>
              </a:rPr>
              <a:t>ведущий</a:t>
            </a:r>
            <a:r>
              <a:rPr lang="en-US" sz="2000" b="1" dirty="0">
                <a:solidFill>
                  <a:srgbClr val="0D0D11"/>
                </a:solidFill>
              </a:rPr>
              <a:t> </a:t>
            </a:r>
            <a:r>
              <a:rPr lang="ru-RU" sz="2000" b="1" dirty="0">
                <a:solidFill>
                  <a:srgbClr val="0D0D11"/>
                </a:solidFill>
              </a:rPr>
              <a:t>программист</a:t>
            </a:r>
            <a:r>
              <a:rPr lang="en-US" sz="2000" b="1" dirty="0">
                <a:solidFill>
                  <a:srgbClr val="0D0D11"/>
                </a:solidFill>
              </a:rPr>
              <a:t>', salary = salary+3000</a:t>
            </a:r>
            <a:endParaRPr lang="ru-RU" sz="20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000" b="1" dirty="0">
                <a:solidFill>
                  <a:srgbClr val="0D0D11"/>
                </a:solidFill>
              </a:rPr>
              <a:t>		</a:t>
            </a:r>
            <a:r>
              <a:rPr lang="ru-RU" sz="2000" b="1" dirty="0" err="1">
                <a:solidFill>
                  <a:srgbClr val="0D0D11"/>
                </a:solidFill>
              </a:rPr>
              <a:t>where</a:t>
            </a:r>
            <a:r>
              <a:rPr lang="ru-RU" sz="2000" b="1" dirty="0">
                <a:solidFill>
                  <a:srgbClr val="0D0D11"/>
                </a:solidFill>
              </a:rPr>
              <a:t> </a:t>
            </a:r>
            <a:r>
              <a:rPr lang="ru-RU" sz="2000" b="1" dirty="0" err="1">
                <a:solidFill>
                  <a:srgbClr val="0D0D11"/>
                </a:solidFill>
              </a:rPr>
              <a:t>tabno</a:t>
            </a:r>
            <a:r>
              <a:rPr lang="ru-RU" sz="2000" b="1" dirty="0">
                <a:solidFill>
                  <a:srgbClr val="0D0D11"/>
                </a:solidFill>
              </a:rPr>
              <a:t> = 68;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09938"/>
            <a:ext cx="7772400" cy="792163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Удаление данных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107950" y="1001713"/>
            <a:ext cx="8856663" cy="5164137"/>
          </a:xfrm>
        </p:spPr>
        <p:txBody>
          <a:bodyPr rtlCol="0">
            <a:noAutofit/>
          </a:bodyPr>
          <a:lstStyle/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en-US" sz="2400" b="1" dirty="0">
                <a:solidFill>
                  <a:srgbClr val="0D0D11"/>
                </a:solidFill>
              </a:rPr>
              <a:t>DELETE</a:t>
            </a:r>
            <a:r>
              <a:rPr lang="ru-RU" sz="2400" dirty="0">
                <a:solidFill>
                  <a:srgbClr val="0D0D11"/>
                </a:solidFill>
              </a:rPr>
              <a:t> – удаление строк из таблицы: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	</a:t>
            </a:r>
            <a:r>
              <a:rPr lang="en-US" sz="2400" dirty="0">
                <a:solidFill>
                  <a:srgbClr val="0D0D11"/>
                </a:solidFill>
              </a:rPr>
              <a:t>DELETE  FROM </a:t>
            </a:r>
            <a:r>
              <a:rPr lang="en-US" sz="2400" i="1" dirty="0">
                <a:solidFill>
                  <a:srgbClr val="0D0D11"/>
                </a:solidFill>
              </a:rPr>
              <a:t> </a:t>
            </a:r>
            <a:r>
              <a:rPr lang="ru-RU" sz="2400" i="1" dirty="0" err="1">
                <a:solidFill>
                  <a:srgbClr val="0D0D11"/>
                </a:solidFill>
              </a:rPr>
              <a:t>имя_таблицы</a:t>
            </a:r>
            <a:endParaRPr lang="ru-RU" sz="2400" i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		[ WHERE </a:t>
            </a:r>
            <a:r>
              <a:rPr lang="ru-RU" sz="2400" i="1" dirty="0">
                <a:solidFill>
                  <a:srgbClr val="0D0D11"/>
                </a:solidFill>
              </a:rPr>
              <a:t>условие</a:t>
            </a:r>
            <a:r>
              <a:rPr lang="ru-RU" sz="2400" dirty="0">
                <a:solidFill>
                  <a:srgbClr val="0D0D11"/>
                </a:solidFill>
              </a:rPr>
              <a:t> ];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b="1" dirty="0">
                <a:solidFill>
                  <a:srgbClr val="0D0D11"/>
                </a:solidFill>
              </a:rPr>
              <a:t>Примеры</a:t>
            </a:r>
            <a:r>
              <a:rPr lang="ru-RU" sz="2400" dirty="0">
                <a:solidFill>
                  <a:srgbClr val="0D0D11"/>
                </a:solidFill>
              </a:rPr>
              <a:t>.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-- Удалить сведения о том, что сотрудник Афанасьев В.Н., табельный номер 147, участвует в проектах:</a:t>
            </a:r>
            <a:endParaRPr lang="en-US" sz="24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	</a:t>
            </a:r>
            <a:r>
              <a:rPr lang="en-US" sz="2400" b="1" dirty="0">
                <a:solidFill>
                  <a:srgbClr val="0D0D11"/>
                </a:solidFill>
              </a:rPr>
              <a:t>delete from job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b="1" dirty="0">
                <a:solidFill>
                  <a:srgbClr val="0D0D11"/>
                </a:solidFill>
              </a:rPr>
              <a:t>		</a:t>
            </a:r>
            <a:r>
              <a:rPr lang="en-US" sz="2400" b="1" dirty="0">
                <a:solidFill>
                  <a:srgbClr val="0D0D11"/>
                </a:solidFill>
              </a:rPr>
              <a:t>where </a:t>
            </a:r>
            <a:r>
              <a:rPr lang="en-US" sz="2400" b="1" dirty="0" err="1">
                <a:solidFill>
                  <a:srgbClr val="0D0D11"/>
                </a:solidFill>
              </a:rPr>
              <a:t>tabno</a:t>
            </a:r>
            <a:r>
              <a:rPr lang="en-US" sz="2400" b="1" dirty="0">
                <a:solidFill>
                  <a:srgbClr val="0D0D11"/>
                </a:solidFill>
              </a:rPr>
              <a:t>=147;</a:t>
            </a:r>
            <a:endParaRPr lang="ru-RU" sz="24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-- Удалить сведения о </a:t>
            </a:r>
            <a:r>
              <a:rPr lang="ru-RU" sz="2400">
                <a:solidFill>
                  <a:srgbClr val="0D0D11"/>
                </a:solidFill>
              </a:rPr>
              <a:t>сотруднике Афанасьеве </a:t>
            </a:r>
            <a:r>
              <a:rPr lang="ru-RU" sz="2400" dirty="0">
                <a:solidFill>
                  <a:srgbClr val="0D0D11"/>
                </a:solidFill>
              </a:rPr>
              <a:t>В.Н., табельный номер 147:</a:t>
            </a:r>
            <a:endParaRPr lang="en-US" sz="24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	</a:t>
            </a:r>
            <a:r>
              <a:rPr lang="en-US" sz="2400" b="1" dirty="0">
                <a:solidFill>
                  <a:srgbClr val="0D0D11"/>
                </a:solidFill>
              </a:rPr>
              <a:t>delete from </a:t>
            </a:r>
            <a:r>
              <a:rPr lang="en-US" sz="2400" b="1" dirty="0" err="1">
                <a:solidFill>
                  <a:srgbClr val="0D0D11"/>
                </a:solidFill>
              </a:rPr>
              <a:t>emp</a:t>
            </a:r>
            <a:endParaRPr lang="en-US" sz="24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b="1" dirty="0">
                <a:solidFill>
                  <a:srgbClr val="0D0D11"/>
                </a:solidFill>
              </a:rPr>
              <a:t>		</a:t>
            </a:r>
            <a:r>
              <a:rPr lang="en-US" sz="2400" b="1" dirty="0">
                <a:solidFill>
                  <a:srgbClr val="0D0D11"/>
                </a:solidFill>
              </a:rPr>
              <a:t>where </a:t>
            </a:r>
            <a:r>
              <a:rPr lang="en-US" sz="2400" b="1" dirty="0" err="1">
                <a:solidFill>
                  <a:srgbClr val="0D0D11"/>
                </a:solidFill>
              </a:rPr>
              <a:t>tabno</a:t>
            </a:r>
            <a:r>
              <a:rPr lang="en-US" sz="2400" b="1" dirty="0">
                <a:solidFill>
                  <a:srgbClr val="0D0D11"/>
                </a:solidFill>
              </a:rPr>
              <a:t> = 147;</a:t>
            </a:r>
            <a:endParaRPr lang="ru-RU" sz="24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spcBef>
                <a:spcPct val="50000"/>
              </a:spcBef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b="1" dirty="0">
                <a:solidFill>
                  <a:srgbClr val="0D0D11"/>
                </a:solidFill>
              </a:rPr>
              <a:t>Замечание:</a:t>
            </a:r>
            <a:r>
              <a:rPr lang="ru-RU" sz="2400" dirty="0">
                <a:solidFill>
                  <a:srgbClr val="0D0D11"/>
                </a:solidFill>
              </a:rPr>
              <a:t> отменить удаление данных можно командой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	</a:t>
            </a:r>
            <a:r>
              <a:rPr lang="en-US" sz="2400" dirty="0">
                <a:solidFill>
                  <a:srgbClr val="0D0D11"/>
                </a:solidFill>
              </a:rPr>
              <a:t>ROLLBACK</a:t>
            </a:r>
            <a:r>
              <a:rPr lang="ru-RU" sz="2400" dirty="0">
                <a:solidFill>
                  <a:srgbClr val="0D0D11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09938"/>
            <a:ext cx="7772400" cy="792163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ru-RU" sz="3600" dirty="0">
                <a:latin typeface="Times New Roman" pitchFamily="18" charset="0"/>
              </a:rPr>
              <a:t>Изменение структуры таблицы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287337" y="1002101"/>
            <a:ext cx="7957071" cy="5164137"/>
          </a:xfrm>
        </p:spPr>
        <p:txBody>
          <a:bodyPr rtlCol="0">
            <a:noAutofit/>
          </a:bodyPr>
          <a:lstStyle/>
          <a:p>
            <a:pPr marL="0" lvl="0" indent="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altLang="ru-RU" sz="2400" dirty="0">
                <a:solidFill>
                  <a:srgbClr val="000000"/>
                </a:solidFill>
                <a:latin typeface="Verdana" panose="020B0604030504040204" pitchFamily="34" charset="0"/>
              </a:rPr>
              <a:t>Оператор </a:t>
            </a:r>
            <a:r>
              <a:rPr lang="ru-RU" altLang="ru-RU" sz="2400" b="1" dirty="0">
                <a:solidFill>
                  <a:srgbClr val="000000"/>
                </a:solidFill>
                <a:latin typeface="Arial Unicode MS" panose="020B0604020202020204" pitchFamily="34" charset="-128"/>
              </a:rPr>
              <a:t>ALTER TABLE</a:t>
            </a:r>
            <a:r>
              <a:rPr lang="en-US" altLang="ru-RU" sz="2400" b="1" dirty="0">
                <a:solidFill>
                  <a:srgbClr val="000000"/>
                </a:solidFill>
                <a:latin typeface="Arial Unicode MS" panose="020B0604020202020204" pitchFamily="34" charset="-128"/>
              </a:rPr>
              <a:t> </a:t>
            </a:r>
            <a:endParaRPr lang="ru-RU" altLang="ru-RU" sz="2400" b="1" dirty="0">
              <a:solidFill>
                <a:srgbClr val="000000"/>
              </a:solidFill>
              <a:latin typeface="Arial Unicode MS" panose="020B0604020202020204" pitchFamily="34" charset="-128"/>
            </a:endParaRPr>
          </a:p>
          <a:p>
            <a:pPr marL="0" lvl="0" indent="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ru-RU" sz="2400" dirty="0">
                <a:solidFill>
                  <a:schemeClr val="tx1"/>
                </a:solidFill>
              </a:rPr>
              <a:t>обеспечивает возможность изменять структуру существующей таблицы. Например, можно добавлять или удалять столбцы, создавать или уничтожать индексы или переименовывать столбцы либо саму таблицу. </a:t>
            </a:r>
            <a:endParaRPr lang="ru-RU" altLang="ru-RU" sz="5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ru-RU" sz="24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b="1" dirty="0">
                <a:solidFill>
                  <a:srgbClr val="0D0D11"/>
                </a:solidFill>
              </a:rPr>
              <a:t>Пример</a:t>
            </a:r>
            <a:r>
              <a:rPr lang="ru-RU" sz="2400" dirty="0">
                <a:solidFill>
                  <a:srgbClr val="0D0D11"/>
                </a:solidFill>
              </a:rPr>
              <a:t>.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-- В таблице </a:t>
            </a:r>
            <a:r>
              <a:rPr lang="en-US" sz="2400" b="1" dirty="0" err="1">
                <a:solidFill>
                  <a:srgbClr val="0D0D11"/>
                </a:solidFill>
              </a:rPr>
              <a:t>emp</a:t>
            </a:r>
            <a:r>
              <a:rPr lang="ru-RU" sz="2400" b="1" dirty="0">
                <a:solidFill>
                  <a:srgbClr val="0D0D11"/>
                </a:solidFill>
              </a:rPr>
              <a:t> </a:t>
            </a:r>
            <a:r>
              <a:rPr lang="ru-RU" sz="2400" dirty="0">
                <a:solidFill>
                  <a:srgbClr val="0D0D11"/>
                </a:solidFill>
              </a:rPr>
              <a:t>переименовать столбец </a:t>
            </a:r>
            <a:r>
              <a:rPr lang="en-US" sz="2400" b="1" dirty="0">
                <a:solidFill>
                  <a:srgbClr val="0D0D11"/>
                </a:solidFill>
              </a:rPr>
              <a:t>post</a:t>
            </a:r>
            <a:r>
              <a:rPr lang="ru-RU" sz="2400" dirty="0">
                <a:solidFill>
                  <a:srgbClr val="0D0D11"/>
                </a:solidFill>
              </a:rPr>
              <a:t> в </a:t>
            </a:r>
            <a:r>
              <a:rPr lang="en-US" sz="2400" b="1" dirty="0">
                <a:solidFill>
                  <a:srgbClr val="0D0D11"/>
                </a:solidFill>
              </a:rPr>
              <a:t>position</a:t>
            </a:r>
            <a:r>
              <a:rPr lang="ru-RU" sz="2400" dirty="0">
                <a:solidFill>
                  <a:srgbClr val="0D0D11"/>
                </a:solidFill>
              </a:rPr>
              <a:t>:</a:t>
            </a: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en-US" sz="2400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dirty="0">
                <a:solidFill>
                  <a:srgbClr val="0D0D11"/>
                </a:solidFill>
              </a:rPr>
              <a:t>	</a:t>
            </a:r>
            <a:r>
              <a:rPr lang="ru-RU" altLang="ru-RU" sz="2400" b="1" dirty="0">
                <a:solidFill>
                  <a:srgbClr val="0D0D11"/>
                </a:solidFill>
              </a:rPr>
              <a:t>ALTER TABLE</a:t>
            </a:r>
            <a:r>
              <a:rPr lang="en-US" altLang="ru-RU" sz="2400" b="1" dirty="0">
                <a:solidFill>
                  <a:srgbClr val="0D0D11"/>
                </a:solidFill>
              </a:rPr>
              <a:t> </a:t>
            </a:r>
            <a:r>
              <a:rPr lang="en-US" sz="2400" b="1" dirty="0" err="1">
                <a:solidFill>
                  <a:srgbClr val="0D0D11"/>
                </a:solidFill>
              </a:rPr>
              <a:t>emp</a:t>
            </a:r>
            <a:r>
              <a:rPr lang="ru-RU" sz="2400" b="1" dirty="0">
                <a:solidFill>
                  <a:srgbClr val="0D0D11"/>
                </a:solidFill>
              </a:rPr>
              <a:t> </a:t>
            </a:r>
            <a:r>
              <a:rPr lang="en-US" sz="2400" b="1" dirty="0">
                <a:solidFill>
                  <a:srgbClr val="0D0D11"/>
                </a:solidFill>
              </a:rPr>
              <a:t>CHANGE COLUMN post</a:t>
            </a:r>
            <a:r>
              <a:rPr lang="ru-RU" sz="2400" dirty="0">
                <a:solidFill>
                  <a:srgbClr val="0D0D11"/>
                </a:solidFill>
              </a:rPr>
              <a:t> </a:t>
            </a:r>
            <a:r>
              <a:rPr lang="en-US" sz="2400" b="1" dirty="0">
                <a:solidFill>
                  <a:srgbClr val="0D0D11"/>
                </a:solidFill>
              </a:rPr>
              <a:t>position</a:t>
            </a:r>
            <a:endParaRPr lang="ru-RU" sz="24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altLang="ru-RU" sz="2400" dirty="0" err="1">
                <a:solidFill>
                  <a:srgbClr val="0D0D11"/>
                </a:solidFill>
              </a:rPr>
              <a:t>varchar</a:t>
            </a:r>
            <a:r>
              <a:rPr lang="ru-RU" altLang="ru-RU" sz="2400" dirty="0">
                <a:solidFill>
                  <a:srgbClr val="0D0D11"/>
                </a:solidFill>
              </a:rPr>
              <a:t>(50)</a:t>
            </a:r>
            <a:r>
              <a:rPr lang="en-US" altLang="ru-RU" sz="2400" dirty="0">
                <a:solidFill>
                  <a:srgbClr val="0D0D11"/>
                </a:solidFill>
              </a:rPr>
              <a:t> not null</a:t>
            </a:r>
            <a:r>
              <a:rPr lang="ru-RU" altLang="ru-RU" sz="2400" dirty="0">
                <a:solidFill>
                  <a:srgbClr val="0D0D11"/>
                </a:solidFill>
              </a:rPr>
              <a:t>;</a:t>
            </a:r>
            <a:endParaRPr lang="en-US" sz="24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endParaRPr lang="en-US" sz="2400" b="1" dirty="0">
              <a:solidFill>
                <a:srgbClr val="0D0D11"/>
              </a:solidFill>
            </a:endParaRPr>
          </a:p>
          <a:p>
            <a:pPr indent="-182880" eaLnBrk="1" fontAlgn="auto" hangingPunct="1">
              <a:lnSpc>
                <a:spcPct val="80000"/>
              </a:lnSpc>
              <a:buClr>
                <a:schemeClr val="accent6">
                  <a:lumMod val="75000"/>
                </a:schemeClr>
              </a:buClr>
              <a:buFontTx/>
              <a:buNone/>
              <a:defRPr/>
            </a:pPr>
            <a:r>
              <a:rPr lang="ru-RU" sz="2400" b="1" dirty="0">
                <a:solidFill>
                  <a:srgbClr val="0D0D11"/>
                </a:solidFill>
              </a:rPr>
              <a:t>		</a:t>
            </a:r>
            <a:endParaRPr lang="ru-RU" sz="2400" dirty="0">
              <a:solidFill>
                <a:srgbClr val="0D0D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664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439652" y="2672916"/>
            <a:ext cx="7488832" cy="6955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defRPr/>
            </a:pPr>
            <a:r>
              <a:rPr kumimoji="0" lang="ru-RU" sz="4000" dirty="0">
                <a:solidFill>
                  <a:srgbClr val="808080">
                    <a:lumMod val="50000"/>
                    <a:lumOff val="50000"/>
                  </a:srgb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19944253"/>
      </p:ext>
    </p:extLst>
  </p:cSld>
  <p:clrMapOvr>
    <a:masterClrMapping/>
  </p:clrMapOvr>
  <p:transition spd="med">
    <p:strips dir="rd"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Контрастный">
  <a:themeElements>
    <a:clrScheme name="Контрастный 2">
      <a:dk1>
        <a:srgbClr val="4D4D4D"/>
      </a:dk1>
      <a:lt1>
        <a:srgbClr val="FFFFFF"/>
      </a:lt1>
      <a:dk2>
        <a:srgbClr val="4A1102"/>
      </a:dk2>
      <a:lt2>
        <a:srgbClr val="FFFFFF"/>
      </a:lt2>
      <a:accent1>
        <a:srgbClr val="CC3300"/>
      </a:accent1>
      <a:accent2>
        <a:srgbClr val="666699"/>
      </a:accent2>
      <a:accent3>
        <a:srgbClr val="B1AAAA"/>
      </a:accent3>
      <a:accent4>
        <a:srgbClr val="DADADA"/>
      </a:accent4>
      <a:accent5>
        <a:srgbClr val="E2ADAA"/>
      </a:accent5>
      <a:accent6>
        <a:srgbClr val="5C5C8A"/>
      </a:accent6>
      <a:hlink>
        <a:srgbClr val="FF9900"/>
      </a:hlink>
      <a:folHlink>
        <a:srgbClr val="FFFFFF"/>
      </a:folHlink>
    </a:clrScheme>
    <a:fontScheme name="Контрастный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Контрастный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онтрастный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онтрастный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онтрастный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онтрастный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онтрастный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онтрастный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Поток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Поток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1232</TotalTime>
  <Words>2233</Words>
  <Application>Microsoft Office PowerPoint</Application>
  <PresentationFormat>Экран (4:3)</PresentationFormat>
  <Paragraphs>504</Paragraphs>
  <Slides>52</Slides>
  <Notes>22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70" baseType="lpstr">
      <vt:lpstr>Arial Unicode MS</vt:lpstr>
      <vt:lpstr>Arial</vt:lpstr>
      <vt:lpstr>Broadway</vt:lpstr>
      <vt:lpstr>Calibri</vt:lpstr>
      <vt:lpstr>Comic Sans MS</vt:lpstr>
      <vt:lpstr>Constantia</vt:lpstr>
      <vt:lpstr>Courier New</vt:lpstr>
      <vt:lpstr>Georgia</vt:lpstr>
      <vt:lpstr>Tahoma</vt:lpstr>
      <vt:lpstr>Times New Roman</vt:lpstr>
      <vt:lpstr>Trebuchet MS</vt:lpstr>
      <vt:lpstr>Verdana</vt:lpstr>
      <vt:lpstr>Wingdings</vt:lpstr>
      <vt:lpstr>Wingdings 2</vt:lpstr>
      <vt:lpstr>Воздушный поток</vt:lpstr>
      <vt:lpstr>Поток</vt:lpstr>
      <vt:lpstr>Контрастный</vt:lpstr>
      <vt:lpstr>Рисунок</vt:lpstr>
      <vt:lpstr>Презентация PowerPoint</vt:lpstr>
      <vt:lpstr>План лекции</vt:lpstr>
      <vt:lpstr>SQL</vt:lpstr>
      <vt:lpstr>SQL – Structured Query Language</vt:lpstr>
      <vt:lpstr>Язык SQL</vt:lpstr>
      <vt:lpstr>Язык SQL- стандарты</vt:lpstr>
      <vt:lpstr>Язык SQL- Преимущества</vt:lpstr>
      <vt:lpstr>Язык SQL- Недостатки</vt:lpstr>
      <vt:lpstr>Подмножества языка SQL</vt:lpstr>
      <vt:lpstr>Презентация PowerPoint</vt:lpstr>
      <vt:lpstr>DDL – data definition language (язык определения данных)  </vt:lpstr>
      <vt:lpstr>Политики    ссылочной   целостности</vt:lpstr>
      <vt:lpstr>Declarative Referential Integrity  (декларативная ссылочная целостность)</vt:lpstr>
      <vt:lpstr>DML - data manipulation language (язык манипулирования данными)  </vt:lpstr>
      <vt:lpstr>DQL – data query language (язык запросов к данным) </vt:lpstr>
      <vt:lpstr>CCL – cursor control language (язык управления курсорами )</vt:lpstr>
      <vt:lpstr>TPL – transaction processing language (язык проведения транзакций)</vt:lpstr>
      <vt:lpstr>Уровни изолированности транзакций:</vt:lpstr>
      <vt:lpstr>DCL – data control language (язык управления данными)</vt:lpstr>
      <vt:lpstr>Виды запросов</vt:lpstr>
      <vt:lpstr>Поисковый запрос </vt:lpstr>
      <vt:lpstr>Презентация PowerPoint</vt:lpstr>
      <vt:lpstr>Презентация PowerPoint</vt:lpstr>
      <vt:lpstr>Презентация PowerPoint</vt:lpstr>
      <vt:lpstr>Использование трехзначной логики</vt:lpstr>
      <vt:lpstr>Стандарты SQL</vt:lpstr>
      <vt:lpstr>Стандарты SQL</vt:lpstr>
      <vt:lpstr>SQL-серверы </vt:lpstr>
      <vt:lpstr>Диалекты SQL</vt:lpstr>
      <vt:lpstr>Работа с SQL в СУБД Oracle, MySQL</vt:lpstr>
      <vt:lpstr>Команды DDL</vt:lpstr>
      <vt:lpstr>Создание таблиц</vt:lpstr>
      <vt:lpstr>Типы данных</vt:lpstr>
      <vt:lpstr>Ограничения целостности</vt:lpstr>
      <vt:lpstr>Типы данных MySQL</vt:lpstr>
      <vt:lpstr>Числовые типы данных MySQL</vt:lpstr>
      <vt:lpstr>Типы данных MySQL: дата и время</vt:lpstr>
      <vt:lpstr>Типы данных MySQL: время</vt:lpstr>
      <vt:lpstr>Ограничения целостности</vt:lpstr>
      <vt:lpstr>Пример БД: проектная организация</vt:lpstr>
      <vt:lpstr>Организация связей между таблицами</vt:lpstr>
      <vt:lpstr>Организация связей между таблицами</vt:lpstr>
      <vt:lpstr>Пример БД: проектная организация</vt:lpstr>
      <vt:lpstr>Пример БД: проектная организация</vt:lpstr>
      <vt:lpstr>Создание таблиц БД проектной организации</vt:lpstr>
      <vt:lpstr>Создание таблиц БД проектной организации</vt:lpstr>
      <vt:lpstr>Подмножество команд DML</vt:lpstr>
      <vt:lpstr>Добавление данных</vt:lpstr>
      <vt:lpstr>Изменение данных</vt:lpstr>
      <vt:lpstr>Удаление данных</vt:lpstr>
      <vt:lpstr>Изменение структуры таблицы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Базы данных</dc:title>
  <dc:creator>karpov</dc:creator>
  <cp:lastModifiedBy>User</cp:lastModifiedBy>
  <cp:revision>176</cp:revision>
  <dcterms:created xsi:type="dcterms:W3CDTF">2008-03-16T13:54:14Z</dcterms:created>
  <dcterms:modified xsi:type="dcterms:W3CDTF">2023-02-26T07:13:35Z</dcterms:modified>
</cp:coreProperties>
</file>